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22" r:id="rId4"/>
  </p:sldMasterIdLst>
  <p:notesMasterIdLst>
    <p:notesMasterId r:id="rId36"/>
  </p:notesMasterIdLst>
  <p:sldIdLst>
    <p:sldId id="337" r:id="rId5"/>
    <p:sldId id="257" r:id="rId6"/>
    <p:sldId id="259" r:id="rId7"/>
    <p:sldId id="260" r:id="rId8"/>
    <p:sldId id="261" r:id="rId9"/>
    <p:sldId id="262" r:id="rId10"/>
    <p:sldId id="318" r:id="rId11"/>
    <p:sldId id="352" r:id="rId12"/>
    <p:sldId id="268" r:id="rId13"/>
    <p:sldId id="264" r:id="rId14"/>
    <p:sldId id="334" r:id="rId15"/>
    <p:sldId id="335" r:id="rId16"/>
    <p:sldId id="265" r:id="rId17"/>
    <p:sldId id="311" r:id="rId18"/>
    <p:sldId id="307" r:id="rId19"/>
    <p:sldId id="312" r:id="rId20"/>
    <p:sldId id="313" r:id="rId21"/>
    <p:sldId id="315" r:id="rId22"/>
    <p:sldId id="310" r:id="rId23"/>
    <p:sldId id="327" r:id="rId24"/>
    <p:sldId id="324" r:id="rId25"/>
    <p:sldId id="258" r:id="rId26"/>
    <p:sldId id="325" r:id="rId27"/>
    <p:sldId id="326" r:id="rId28"/>
    <p:sldId id="336" r:id="rId29"/>
    <p:sldId id="267" r:id="rId30"/>
    <p:sldId id="329" r:id="rId31"/>
    <p:sldId id="330" r:id="rId32"/>
    <p:sldId id="331" r:id="rId33"/>
    <p:sldId id="332" r:id="rId34"/>
    <p:sldId id="33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058" autoAdjust="0"/>
  </p:normalViewPr>
  <p:slideViewPr>
    <p:cSldViewPr snapToGrid="0">
      <p:cViewPr varScale="1">
        <p:scale>
          <a:sx n="105" d="100"/>
          <a:sy n="105" d="100"/>
        </p:scale>
        <p:origin x="9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1CD8F8-6C37-4463-894E-767933B81E4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165506E-B492-4043-B20B-9F1D76649C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Spinning</a:t>
          </a:r>
          <a:endParaRPr lang="en-US" dirty="0"/>
        </a:p>
      </dgm:t>
    </dgm:pt>
    <dgm:pt modelId="{5F84CA0D-EFFE-48E4-BCF6-18C8D1B40131}" type="parTrans" cxnId="{CBA789F0-CB40-4C22-8DEA-1DFB9516BA91}">
      <dgm:prSet/>
      <dgm:spPr/>
      <dgm:t>
        <a:bodyPr/>
        <a:lstStyle/>
        <a:p>
          <a:endParaRPr lang="en-US"/>
        </a:p>
      </dgm:t>
    </dgm:pt>
    <dgm:pt modelId="{AA2E2B19-9535-4CB5-9F6B-2C19AB351C75}" type="sibTrans" cxnId="{CBA789F0-CB40-4C22-8DEA-1DFB9516BA91}">
      <dgm:prSet/>
      <dgm:spPr/>
      <dgm:t>
        <a:bodyPr/>
        <a:lstStyle/>
        <a:p>
          <a:endParaRPr lang="en-US"/>
        </a:p>
      </dgm:t>
    </dgm:pt>
    <dgm:pt modelId="{DEAE45CC-E1B9-4C9D-85EE-621B53083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Knitting</a:t>
          </a:r>
          <a:endParaRPr lang="en-US" dirty="0"/>
        </a:p>
      </dgm:t>
    </dgm:pt>
    <dgm:pt modelId="{D46AB2C8-FD2F-48F5-85F4-ADB833F5D3BE}" type="parTrans" cxnId="{C94305AD-53A5-4AFC-A156-BDBC6558CC27}">
      <dgm:prSet/>
      <dgm:spPr/>
      <dgm:t>
        <a:bodyPr/>
        <a:lstStyle/>
        <a:p>
          <a:endParaRPr lang="en-US"/>
        </a:p>
      </dgm:t>
    </dgm:pt>
    <dgm:pt modelId="{189CB596-A60B-405C-9A62-B331F38DEFB9}" type="sibTrans" cxnId="{C94305AD-53A5-4AFC-A156-BDBC6558CC27}">
      <dgm:prSet/>
      <dgm:spPr/>
      <dgm:t>
        <a:bodyPr/>
        <a:lstStyle/>
        <a:p>
          <a:endParaRPr lang="en-US"/>
        </a:p>
      </dgm:t>
    </dgm:pt>
    <dgm:pt modelId="{A7C991FE-EDAE-4E97-89CC-87C8978949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Dyeing</a:t>
          </a:r>
          <a:endParaRPr lang="en-US"/>
        </a:p>
      </dgm:t>
    </dgm:pt>
    <dgm:pt modelId="{95065F96-B7C6-4D6E-82D0-0A98898B1EE3}" type="parTrans" cxnId="{E3ABF23C-A1DB-45BF-A34A-53ED53EA2E2F}">
      <dgm:prSet/>
      <dgm:spPr/>
      <dgm:t>
        <a:bodyPr/>
        <a:lstStyle/>
        <a:p>
          <a:endParaRPr lang="en-US"/>
        </a:p>
      </dgm:t>
    </dgm:pt>
    <dgm:pt modelId="{B8C66DF6-67E4-4EF6-B539-098FC8DE18B6}" type="sibTrans" cxnId="{E3ABF23C-A1DB-45BF-A34A-53ED53EA2E2F}">
      <dgm:prSet/>
      <dgm:spPr/>
      <dgm:t>
        <a:bodyPr/>
        <a:lstStyle/>
        <a:p>
          <a:endParaRPr lang="en-US"/>
        </a:p>
      </dgm:t>
    </dgm:pt>
    <dgm:pt modelId="{319143AD-0D01-4239-B068-9CB97F4710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Cutting</a:t>
          </a:r>
          <a:endParaRPr lang="en-US"/>
        </a:p>
      </dgm:t>
    </dgm:pt>
    <dgm:pt modelId="{CDA3F2D7-A244-4EB0-ACB6-B618E4A1A148}" type="parTrans" cxnId="{ED39902E-77EB-4EEE-91C7-3F1C5E035324}">
      <dgm:prSet/>
      <dgm:spPr/>
      <dgm:t>
        <a:bodyPr/>
        <a:lstStyle/>
        <a:p>
          <a:endParaRPr lang="en-US"/>
        </a:p>
      </dgm:t>
    </dgm:pt>
    <dgm:pt modelId="{F1BB4574-AECA-490A-BC6E-98DBD2905936}" type="sibTrans" cxnId="{ED39902E-77EB-4EEE-91C7-3F1C5E035324}">
      <dgm:prSet/>
      <dgm:spPr/>
      <dgm:t>
        <a:bodyPr/>
        <a:lstStyle/>
        <a:p>
          <a:endParaRPr lang="en-US"/>
        </a:p>
      </dgm:t>
    </dgm:pt>
    <dgm:pt modelId="{F17D04C1-F84E-4F85-B005-D6E91C13AD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Sewing</a:t>
          </a:r>
          <a:endParaRPr lang="en-US"/>
        </a:p>
      </dgm:t>
    </dgm:pt>
    <dgm:pt modelId="{1AC2FA75-71ED-42EA-A346-C2AF48556EAC}" type="parTrans" cxnId="{0CF635C9-E5BE-4419-B61D-A093A393707B}">
      <dgm:prSet/>
      <dgm:spPr/>
      <dgm:t>
        <a:bodyPr/>
        <a:lstStyle/>
        <a:p>
          <a:endParaRPr lang="en-US"/>
        </a:p>
      </dgm:t>
    </dgm:pt>
    <dgm:pt modelId="{5352CB1B-9C35-4FC7-8B4A-E5AD8E6C9AC6}" type="sibTrans" cxnId="{0CF635C9-E5BE-4419-B61D-A093A393707B}">
      <dgm:prSet/>
      <dgm:spPr/>
      <dgm:t>
        <a:bodyPr/>
        <a:lstStyle/>
        <a:p>
          <a:endParaRPr lang="en-US"/>
        </a:p>
      </dgm:t>
    </dgm:pt>
    <dgm:pt modelId="{2BEB3BE2-7F3E-499A-A159-FBF0FBAA8D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Finishing</a:t>
          </a:r>
          <a:endParaRPr lang="en-US"/>
        </a:p>
      </dgm:t>
    </dgm:pt>
    <dgm:pt modelId="{2E5F5BE0-ED9B-4E36-B36B-BF346A6E4CC7}" type="parTrans" cxnId="{E99B64C1-3241-4A83-813E-0315054BF539}">
      <dgm:prSet/>
      <dgm:spPr/>
      <dgm:t>
        <a:bodyPr/>
        <a:lstStyle/>
        <a:p>
          <a:endParaRPr lang="en-US"/>
        </a:p>
      </dgm:t>
    </dgm:pt>
    <dgm:pt modelId="{60ED4C03-6687-4096-B75F-7E3584FFCDB8}" type="sibTrans" cxnId="{E99B64C1-3241-4A83-813E-0315054BF539}">
      <dgm:prSet/>
      <dgm:spPr/>
      <dgm:t>
        <a:bodyPr/>
        <a:lstStyle/>
        <a:p>
          <a:endParaRPr lang="en-US"/>
        </a:p>
      </dgm:t>
    </dgm:pt>
    <dgm:pt modelId="{19846C80-8C59-4CB3-9A3D-D643D7EACD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Packaging</a:t>
          </a:r>
          <a:endParaRPr lang="en-US"/>
        </a:p>
      </dgm:t>
    </dgm:pt>
    <dgm:pt modelId="{C4D31467-80C9-4F67-A1F6-2286DC638646}" type="parTrans" cxnId="{354D991E-5ED5-40F9-8F5A-A55024BEA063}">
      <dgm:prSet/>
      <dgm:spPr/>
      <dgm:t>
        <a:bodyPr/>
        <a:lstStyle/>
        <a:p>
          <a:endParaRPr lang="en-US"/>
        </a:p>
      </dgm:t>
    </dgm:pt>
    <dgm:pt modelId="{3E728F69-63B6-4329-A3A6-E7E30BAA2092}" type="sibTrans" cxnId="{354D991E-5ED5-40F9-8F5A-A55024BEA063}">
      <dgm:prSet/>
      <dgm:spPr/>
      <dgm:t>
        <a:bodyPr/>
        <a:lstStyle/>
        <a:p>
          <a:endParaRPr lang="en-US"/>
        </a:p>
      </dgm:t>
    </dgm:pt>
    <dgm:pt modelId="{70877F09-49FA-4023-ACE6-D091DA6E1583}" type="pres">
      <dgm:prSet presAssocID="{F01CD8F8-6C37-4463-894E-767933B81E4C}" presName="Name0" presStyleCnt="0">
        <dgm:presLayoutVars>
          <dgm:dir/>
          <dgm:resizeHandles val="exact"/>
        </dgm:presLayoutVars>
      </dgm:prSet>
      <dgm:spPr/>
    </dgm:pt>
    <dgm:pt modelId="{571A0A48-95F8-45A4-9963-F0E542689475}" type="pres">
      <dgm:prSet presAssocID="{1165506E-B492-4043-B20B-9F1D76649CD1}" presName="node" presStyleLbl="node1" presStyleIdx="0" presStyleCnt="7">
        <dgm:presLayoutVars>
          <dgm:bulletEnabled val="1"/>
        </dgm:presLayoutVars>
      </dgm:prSet>
      <dgm:spPr/>
    </dgm:pt>
    <dgm:pt modelId="{44E5C505-170C-4230-BE27-71AF1136D001}" type="pres">
      <dgm:prSet presAssocID="{AA2E2B19-9535-4CB5-9F6B-2C19AB351C75}" presName="sibTrans" presStyleLbl="sibTrans1D1" presStyleIdx="0" presStyleCnt="6"/>
      <dgm:spPr/>
    </dgm:pt>
    <dgm:pt modelId="{F76DCDDD-5403-4F4C-B9B7-09312F77B402}" type="pres">
      <dgm:prSet presAssocID="{AA2E2B19-9535-4CB5-9F6B-2C19AB351C75}" presName="connectorText" presStyleLbl="sibTrans1D1" presStyleIdx="0" presStyleCnt="6"/>
      <dgm:spPr/>
    </dgm:pt>
    <dgm:pt modelId="{4C6EFC33-B451-4F56-B574-C052476FD7B0}" type="pres">
      <dgm:prSet presAssocID="{DEAE45CC-E1B9-4C9D-85EE-621B5308324A}" presName="node" presStyleLbl="node1" presStyleIdx="1" presStyleCnt="7">
        <dgm:presLayoutVars>
          <dgm:bulletEnabled val="1"/>
        </dgm:presLayoutVars>
      </dgm:prSet>
      <dgm:spPr/>
    </dgm:pt>
    <dgm:pt modelId="{A042B80E-7098-4102-B069-8557BC7B2E57}" type="pres">
      <dgm:prSet presAssocID="{189CB596-A60B-405C-9A62-B331F38DEFB9}" presName="sibTrans" presStyleLbl="sibTrans1D1" presStyleIdx="1" presStyleCnt="6"/>
      <dgm:spPr/>
    </dgm:pt>
    <dgm:pt modelId="{92F5B437-F00D-458A-BE81-F30A2EDF76A4}" type="pres">
      <dgm:prSet presAssocID="{189CB596-A60B-405C-9A62-B331F38DEFB9}" presName="connectorText" presStyleLbl="sibTrans1D1" presStyleIdx="1" presStyleCnt="6"/>
      <dgm:spPr/>
    </dgm:pt>
    <dgm:pt modelId="{F015AA1C-1DB2-4ABD-B16D-5503E2358084}" type="pres">
      <dgm:prSet presAssocID="{A7C991FE-EDAE-4E97-89CC-87C8978949CF}" presName="node" presStyleLbl="node1" presStyleIdx="2" presStyleCnt="7">
        <dgm:presLayoutVars>
          <dgm:bulletEnabled val="1"/>
        </dgm:presLayoutVars>
      </dgm:prSet>
      <dgm:spPr/>
    </dgm:pt>
    <dgm:pt modelId="{285BAD85-C6CC-49DB-8A5F-D9C52CC9DB0F}" type="pres">
      <dgm:prSet presAssocID="{B8C66DF6-67E4-4EF6-B539-098FC8DE18B6}" presName="sibTrans" presStyleLbl="sibTrans1D1" presStyleIdx="2" presStyleCnt="6"/>
      <dgm:spPr/>
    </dgm:pt>
    <dgm:pt modelId="{CC1F3B6E-1F52-4C7C-AD2D-3B6A17582AA1}" type="pres">
      <dgm:prSet presAssocID="{B8C66DF6-67E4-4EF6-B539-098FC8DE18B6}" presName="connectorText" presStyleLbl="sibTrans1D1" presStyleIdx="2" presStyleCnt="6"/>
      <dgm:spPr/>
    </dgm:pt>
    <dgm:pt modelId="{41276216-B27B-4AFC-8F82-F4C73005D417}" type="pres">
      <dgm:prSet presAssocID="{319143AD-0D01-4239-B068-9CB97F4710D6}" presName="node" presStyleLbl="node1" presStyleIdx="3" presStyleCnt="7">
        <dgm:presLayoutVars>
          <dgm:bulletEnabled val="1"/>
        </dgm:presLayoutVars>
      </dgm:prSet>
      <dgm:spPr/>
    </dgm:pt>
    <dgm:pt modelId="{A04758FA-6D56-40B2-8F60-CACDED2B110D}" type="pres">
      <dgm:prSet presAssocID="{F1BB4574-AECA-490A-BC6E-98DBD2905936}" presName="sibTrans" presStyleLbl="sibTrans1D1" presStyleIdx="3" presStyleCnt="6"/>
      <dgm:spPr/>
    </dgm:pt>
    <dgm:pt modelId="{1688A40E-DB26-4B0B-B474-F80EAD6093B0}" type="pres">
      <dgm:prSet presAssocID="{F1BB4574-AECA-490A-BC6E-98DBD2905936}" presName="connectorText" presStyleLbl="sibTrans1D1" presStyleIdx="3" presStyleCnt="6"/>
      <dgm:spPr/>
    </dgm:pt>
    <dgm:pt modelId="{84506FAC-A0D6-4DA0-8086-02C1DDFC0BC3}" type="pres">
      <dgm:prSet presAssocID="{F17D04C1-F84E-4F85-B005-D6E91C13AD02}" presName="node" presStyleLbl="node1" presStyleIdx="4" presStyleCnt="7">
        <dgm:presLayoutVars>
          <dgm:bulletEnabled val="1"/>
        </dgm:presLayoutVars>
      </dgm:prSet>
      <dgm:spPr/>
    </dgm:pt>
    <dgm:pt modelId="{935AE043-684D-4F22-A99D-F8120D20D1C2}" type="pres">
      <dgm:prSet presAssocID="{5352CB1B-9C35-4FC7-8B4A-E5AD8E6C9AC6}" presName="sibTrans" presStyleLbl="sibTrans1D1" presStyleIdx="4" presStyleCnt="6"/>
      <dgm:spPr/>
    </dgm:pt>
    <dgm:pt modelId="{A6C85534-4656-426D-AAF9-40CE508F3FC0}" type="pres">
      <dgm:prSet presAssocID="{5352CB1B-9C35-4FC7-8B4A-E5AD8E6C9AC6}" presName="connectorText" presStyleLbl="sibTrans1D1" presStyleIdx="4" presStyleCnt="6"/>
      <dgm:spPr/>
    </dgm:pt>
    <dgm:pt modelId="{EA597E9D-3A6F-4905-915B-5FAB73B9B82D}" type="pres">
      <dgm:prSet presAssocID="{2BEB3BE2-7F3E-499A-A159-FBF0FBAA8D77}" presName="node" presStyleLbl="node1" presStyleIdx="5" presStyleCnt="7">
        <dgm:presLayoutVars>
          <dgm:bulletEnabled val="1"/>
        </dgm:presLayoutVars>
      </dgm:prSet>
      <dgm:spPr/>
    </dgm:pt>
    <dgm:pt modelId="{B733E585-4CFF-44E7-861F-4CC915939061}" type="pres">
      <dgm:prSet presAssocID="{60ED4C03-6687-4096-B75F-7E3584FFCDB8}" presName="sibTrans" presStyleLbl="sibTrans1D1" presStyleIdx="5" presStyleCnt="6"/>
      <dgm:spPr/>
    </dgm:pt>
    <dgm:pt modelId="{B6FD96E1-8D5A-4111-9732-34E413A5725B}" type="pres">
      <dgm:prSet presAssocID="{60ED4C03-6687-4096-B75F-7E3584FFCDB8}" presName="connectorText" presStyleLbl="sibTrans1D1" presStyleIdx="5" presStyleCnt="6"/>
      <dgm:spPr/>
    </dgm:pt>
    <dgm:pt modelId="{591E42E0-7F12-4D93-8033-1578494428E7}" type="pres">
      <dgm:prSet presAssocID="{19846C80-8C59-4CB3-9A3D-D643D7EACD02}" presName="node" presStyleLbl="node1" presStyleIdx="6" presStyleCnt="7">
        <dgm:presLayoutVars>
          <dgm:bulletEnabled val="1"/>
        </dgm:presLayoutVars>
      </dgm:prSet>
      <dgm:spPr/>
    </dgm:pt>
  </dgm:ptLst>
  <dgm:cxnLst>
    <dgm:cxn modelId="{2FA06F09-A022-4A59-B575-C2B711D92BD6}" type="presOf" srcId="{B8C66DF6-67E4-4EF6-B539-098FC8DE18B6}" destId="{CC1F3B6E-1F52-4C7C-AD2D-3B6A17582AA1}" srcOrd="1" destOrd="0" presId="urn:microsoft.com/office/officeart/2016/7/layout/RepeatingBendingProcessNew"/>
    <dgm:cxn modelId="{9766DB0C-7993-4305-9FBA-C6940827004E}" type="presOf" srcId="{60ED4C03-6687-4096-B75F-7E3584FFCDB8}" destId="{B733E585-4CFF-44E7-861F-4CC915939061}" srcOrd="0" destOrd="0" presId="urn:microsoft.com/office/officeart/2016/7/layout/RepeatingBendingProcessNew"/>
    <dgm:cxn modelId="{A37AEA14-B695-40CE-BF48-19A57B5A9979}" type="presOf" srcId="{319143AD-0D01-4239-B068-9CB97F4710D6}" destId="{41276216-B27B-4AFC-8F82-F4C73005D417}" srcOrd="0" destOrd="0" presId="urn:microsoft.com/office/officeart/2016/7/layout/RepeatingBendingProcessNew"/>
    <dgm:cxn modelId="{F8BFD31B-5B08-4A37-88E5-8686B56373B4}" type="presOf" srcId="{189CB596-A60B-405C-9A62-B331F38DEFB9}" destId="{A042B80E-7098-4102-B069-8557BC7B2E57}" srcOrd="0" destOrd="0" presId="urn:microsoft.com/office/officeart/2016/7/layout/RepeatingBendingProcessNew"/>
    <dgm:cxn modelId="{354D991E-5ED5-40F9-8F5A-A55024BEA063}" srcId="{F01CD8F8-6C37-4463-894E-767933B81E4C}" destId="{19846C80-8C59-4CB3-9A3D-D643D7EACD02}" srcOrd="6" destOrd="0" parTransId="{C4D31467-80C9-4F67-A1F6-2286DC638646}" sibTransId="{3E728F69-63B6-4329-A3A6-E7E30BAA2092}"/>
    <dgm:cxn modelId="{9237D02C-2C3A-4A4A-93CA-3759C1AF95C2}" type="presOf" srcId="{1165506E-B492-4043-B20B-9F1D76649CD1}" destId="{571A0A48-95F8-45A4-9963-F0E542689475}" srcOrd="0" destOrd="0" presId="urn:microsoft.com/office/officeart/2016/7/layout/RepeatingBendingProcessNew"/>
    <dgm:cxn modelId="{ED39902E-77EB-4EEE-91C7-3F1C5E035324}" srcId="{F01CD8F8-6C37-4463-894E-767933B81E4C}" destId="{319143AD-0D01-4239-B068-9CB97F4710D6}" srcOrd="3" destOrd="0" parTransId="{CDA3F2D7-A244-4EB0-ACB6-B618E4A1A148}" sibTransId="{F1BB4574-AECA-490A-BC6E-98DBD2905936}"/>
    <dgm:cxn modelId="{3BC18833-11B6-4BC9-B91F-4940F7FBB88A}" type="presOf" srcId="{60ED4C03-6687-4096-B75F-7E3584FFCDB8}" destId="{B6FD96E1-8D5A-4111-9732-34E413A5725B}" srcOrd="1" destOrd="0" presId="urn:microsoft.com/office/officeart/2016/7/layout/RepeatingBendingProcessNew"/>
    <dgm:cxn modelId="{B8783A35-8E6D-4071-8AB6-D271FDA6EB4B}" type="presOf" srcId="{B8C66DF6-67E4-4EF6-B539-098FC8DE18B6}" destId="{285BAD85-C6CC-49DB-8A5F-D9C52CC9DB0F}" srcOrd="0" destOrd="0" presId="urn:microsoft.com/office/officeart/2016/7/layout/RepeatingBendingProcessNew"/>
    <dgm:cxn modelId="{B4B53238-DCFC-4D5C-994C-12C0AEE5E5BC}" type="presOf" srcId="{AA2E2B19-9535-4CB5-9F6B-2C19AB351C75}" destId="{F76DCDDD-5403-4F4C-B9B7-09312F77B402}" srcOrd="1" destOrd="0" presId="urn:microsoft.com/office/officeart/2016/7/layout/RepeatingBendingProcessNew"/>
    <dgm:cxn modelId="{E3ABF23C-A1DB-45BF-A34A-53ED53EA2E2F}" srcId="{F01CD8F8-6C37-4463-894E-767933B81E4C}" destId="{A7C991FE-EDAE-4E97-89CC-87C8978949CF}" srcOrd="2" destOrd="0" parTransId="{95065F96-B7C6-4D6E-82D0-0A98898B1EE3}" sibTransId="{B8C66DF6-67E4-4EF6-B539-098FC8DE18B6}"/>
    <dgm:cxn modelId="{115E0F3D-5B62-433B-87BD-3CE3E4152179}" type="presOf" srcId="{F1BB4574-AECA-490A-BC6E-98DBD2905936}" destId="{A04758FA-6D56-40B2-8F60-CACDED2B110D}" srcOrd="0" destOrd="0" presId="urn:microsoft.com/office/officeart/2016/7/layout/RepeatingBendingProcessNew"/>
    <dgm:cxn modelId="{C02D2778-82E5-416D-B26B-1D98E79AA4AA}" type="presOf" srcId="{5352CB1B-9C35-4FC7-8B4A-E5AD8E6C9AC6}" destId="{935AE043-684D-4F22-A99D-F8120D20D1C2}" srcOrd="0" destOrd="0" presId="urn:microsoft.com/office/officeart/2016/7/layout/RepeatingBendingProcessNew"/>
    <dgm:cxn modelId="{9E301D8A-0F6A-41C8-B5F0-1CC64B37AD0F}" type="presOf" srcId="{F01CD8F8-6C37-4463-894E-767933B81E4C}" destId="{70877F09-49FA-4023-ACE6-D091DA6E1583}" srcOrd="0" destOrd="0" presId="urn:microsoft.com/office/officeart/2016/7/layout/RepeatingBendingProcessNew"/>
    <dgm:cxn modelId="{0FBCED8D-4C67-4ABB-93DE-69FB189F4650}" type="presOf" srcId="{2BEB3BE2-7F3E-499A-A159-FBF0FBAA8D77}" destId="{EA597E9D-3A6F-4905-915B-5FAB73B9B82D}" srcOrd="0" destOrd="0" presId="urn:microsoft.com/office/officeart/2016/7/layout/RepeatingBendingProcessNew"/>
    <dgm:cxn modelId="{D724E193-C468-4DED-8A4A-66E2E0D1B828}" type="presOf" srcId="{5352CB1B-9C35-4FC7-8B4A-E5AD8E6C9AC6}" destId="{A6C85534-4656-426D-AAF9-40CE508F3FC0}" srcOrd="1" destOrd="0" presId="urn:microsoft.com/office/officeart/2016/7/layout/RepeatingBendingProcessNew"/>
    <dgm:cxn modelId="{E4064999-5D60-4A70-BC41-6D436EB86366}" type="presOf" srcId="{A7C991FE-EDAE-4E97-89CC-87C8978949CF}" destId="{F015AA1C-1DB2-4ABD-B16D-5503E2358084}" srcOrd="0" destOrd="0" presId="urn:microsoft.com/office/officeart/2016/7/layout/RepeatingBendingProcessNew"/>
    <dgm:cxn modelId="{3550D39B-D17E-47DD-A4A6-0B044960B2FA}" type="presOf" srcId="{DEAE45CC-E1B9-4C9D-85EE-621B5308324A}" destId="{4C6EFC33-B451-4F56-B574-C052476FD7B0}" srcOrd="0" destOrd="0" presId="urn:microsoft.com/office/officeart/2016/7/layout/RepeatingBendingProcessNew"/>
    <dgm:cxn modelId="{93A16A9F-2BE6-43AF-B2DC-E41A7CFA76D9}" type="presOf" srcId="{AA2E2B19-9535-4CB5-9F6B-2C19AB351C75}" destId="{44E5C505-170C-4230-BE27-71AF1136D001}" srcOrd="0" destOrd="0" presId="urn:microsoft.com/office/officeart/2016/7/layout/RepeatingBendingProcessNew"/>
    <dgm:cxn modelId="{5F98CFA5-A63A-40BB-9425-F2B2B19B28C9}" type="presOf" srcId="{F17D04C1-F84E-4F85-B005-D6E91C13AD02}" destId="{84506FAC-A0D6-4DA0-8086-02C1DDFC0BC3}" srcOrd="0" destOrd="0" presId="urn:microsoft.com/office/officeart/2016/7/layout/RepeatingBendingProcessNew"/>
    <dgm:cxn modelId="{C94305AD-53A5-4AFC-A156-BDBC6558CC27}" srcId="{F01CD8F8-6C37-4463-894E-767933B81E4C}" destId="{DEAE45CC-E1B9-4C9D-85EE-621B5308324A}" srcOrd="1" destOrd="0" parTransId="{D46AB2C8-FD2F-48F5-85F4-ADB833F5D3BE}" sibTransId="{189CB596-A60B-405C-9A62-B331F38DEFB9}"/>
    <dgm:cxn modelId="{E99B64C1-3241-4A83-813E-0315054BF539}" srcId="{F01CD8F8-6C37-4463-894E-767933B81E4C}" destId="{2BEB3BE2-7F3E-499A-A159-FBF0FBAA8D77}" srcOrd="5" destOrd="0" parTransId="{2E5F5BE0-ED9B-4E36-B36B-BF346A6E4CC7}" sibTransId="{60ED4C03-6687-4096-B75F-7E3584FFCDB8}"/>
    <dgm:cxn modelId="{0CF635C9-E5BE-4419-B61D-A093A393707B}" srcId="{F01CD8F8-6C37-4463-894E-767933B81E4C}" destId="{F17D04C1-F84E-4F85-B005-D6E91C13AD02}" srcOrd="4" destOrd="0" parTransId="{1AC2FA75-71ED-42EA-A346-C2AF48556EAC}" sibTransId="{5352CB1B-9C35-4FC7-8B4A-E5AD8E6C9AC6}"/>
    <dgm:cxn modelId="{9080B5E6-BA18-4DC4-86CA-EC29988E0441}" type="presOf" srcId="{F1BB4574-AECA-490A-BC6E-98DBD2905936}" destId="{1688A40E-DB26-4B0B-B474-F80EAD6093B0}" srcOrd="1" destOrd="0" presId="urn:microsoft.com/office/officeart/2016/7/layout/RepeatingBendingProcessNew"/>
    <dgm:cxn modelId="{1E83F7E7-6DAC-40BC-BE64-CD2679F7C395}" type="presOf" srcId="{189CB596-A60B-405C-9A62-B331F38DEFB9}" destId="{92F5B437-F00D-458A-BE81-F30A2EDF76A4}" srcOrd="1" destOrd="0" presId="urn:microsoft.com/office/officeart/2016/7/layout/RepeatingBendingProcessNew"/>
    <dgm:cxn modelId="{8B61EFEC-3AFD-41CD-AFA7-DAC030D22888}" type="presOf" srcId="{19846C80-8C59-4CB3-9A3D-D643D7EACD02}" destId="{591E42E0-7F12-4D93-8033-1578494428E7}" srcOrd="0" destOrd="0" presId="urn:microsoft.com/office/officeart/2016/7/layout/RepeatingBendingProcessNew"/>
    <dgm:cxn modelId="{CBA789F0-CB40-4C22-8DEA-1DFB9516BA91}" srcId="{F01CD8F8-6C37-4463-894E-767933B81E4C}" destId="{1165506E-B492-4043-B20B-9F1D76649CD1}" srcOrd="0" destOrd="0" parTransId="{5F84CA0D-EFFE-48E4-BCF6-18C8D1B40131}" sibTransId="{AA2E2B19-9535-4CB5-9F6B-2C19AB351C75}"/>
    <dgm:cxn modelId="{3AB308F5-B420-472B-89C7-32FE984EFA2E}" type="presParOf" srcId="{70877F09-49FA-4023-ACE6-D091DA6E1583}" destId="{571A0A48-95F8-45A4-9963-F0E542689475}" srcOrd="0" destOrd="0" presId="urn:microsoft.com/office/officeart/2016/7/layout/RepeatingBendingProcessNew"/>
    <dgm:cxn modelId="{A9396F52-ECFA-423E-8EF7-48BFC74FD783}" type="presParOf" srcId="{70877F09-49FA-4023-ACE6-D091DA6E1583}" destId="{44E5C505-170C-4230-BE27-71AF1136D001}" srcOrd="1" destOrd="0" presId="urn:microsoft.com/office/officeart/2016/7/layout/RepeatingBendingProcessNew"/>
    <dgm:cxn modelId="{01FA5144-4743-4CC2-807F-EBCD729DD601}" type="presParOf" srcId="{44E5C505-170C-4230-BE27-71AF1136D001}" destId="{F76DCDDD-5403-4F4C-B9B7-09312F77B402}" srcOrd="0" destOrd="0" presId="urn:microsoft.com/office/officeart/2016/7/layout/RepeatingBendingProcessNew"/>
    <dgm:cxn modelId="{80D1D850-E72F-44A6-904D-E49FB06532F7}" type="presParOf" srcId="{70877F09-49FA-4023-ACE6-D091DA6E1583}" destId="{4C6EFC33-B451-4F56-B574-C052476FD7B0}" srcOrd="2" destOrd="0" presId="urn:microsoft.com/office/officeart/2016/7/layout/RepeatingBendingProcessNew"/>
    <dgm:cxn modelId="{7A30FB9D-4369-45FD-B9BD-F87292A3E1EE}" type="presParOf" srcId="{70877F09-49FA-4023-ACE6-D091DA6E1583}" destId="{A042B80E-7098-4102-B069-8557BC7B2E57}" srcOrd="3" destOrd="0" presId="urn:microsoft.com/office/officeart/2016/7/layout/RepeatingBendingProcessNew"/>
    <dgm:cxn modelId="{A08BB282-9935-406E-9DF3-EAED1FEDAF16}" type="presParOf" srcId="{A042B80E-7098-4102-B069-8557BC7B2E57}" destId="{92F5B437-F00D-458A-BE81-F30A2EDF76A4}" srcOrd="0" destOrd="0" presId="urn:microsoft.com/office/officeart/2016/7/layout/RepeatingBendingProcessNew"/>
    <dgm:cxn modelId="{7CEC86C4-93AC-4702-AE26-AC2507BE5B79}" type="presParOf" srcId="{70877F09-49FA-4023-ACE6-D091DA6E1583}" destId="{F015AA1C-1DB2-4ABD-B16D-5503E2358084}" srcOrd="4" destOrd="0" presId="urn:microsoft.com/office/officeart/2016/7/layout/RepeatingBendingProcessNew"/>
    <dgm:cxn modelId="{E77D36C5-55D6-4644-84EC-689CDEB2E1B2}" type="presParOf" srcId="{70877F09-49FA-4023-ACE6-D091DA6E1583}" destId="{285BAD85-C6CC-49DB-8A5F-D9C52CC9DB0F}" srcOrd="5" destOrd="0" presId="urn:microsoft.com/office/officeart/2016/7/layout/RepeatingBendingProcessNew"/>
    <dgm:cxn modelId="{E8597144-176F-4DCA-92BC-4313EA8B958B}" type="presParOf" srcId="{285BAD85-C6CC-49DB-8A5F-D9C52CC9DB0F}" destId="{CC1F3B6E-1F52-4C7C-AD2D-3B6A17582AA1}" srcOrd="0" destOrd="0" presId="urn:microsoft.com/office/officeart/2016/7/layout/RepeatingBendingProcessNew"/>
    <dgm:cxn modelId="{4F44E1D8-9DCD-443C-8A6B-AD81DD769D6F}" type="presParOf" srcId="{70877F09-49FA-4023-ACE6-D091DA6E1583}" destId="{41276216-B27B-4AFC-8F82-F4C73005D417}" srcOrd="6" destOrd="0" presId="urn:microsoft.com/office/officeart/2016/7/layout/RepeatingBendingProcessNew"/>
    <dgm:cxn modelId="{8B137A21-5651-400C-A9E0-4835EC4F6B5E}" type="presParOf" srcId="{70877F09-49FA-4023-ACE6-D091DA6E1583}" destId="{A04758FA-6D56-40B2-8F60-CACDED2B110D}" srcOrd="7" destOrd="0" presId="urn:microsoft.com/office/officeart/2016/7/layout/RepeatingBendingProcessNew"/>
    <dgm:cxn modelId="{DE9F7B08-CA50-43E2-9EE8-B93CCF4D7846}" type="presParOf" srcId="{A04758FA-6D56-40B2-8F60-CACDED2B110D}" destId="{1688A40E-DB26-4B0B-B474-F80EAD6093B0}" srcOrd="0" destOrd="0" presId="urn:microsoft.com/office/officeart/2016/7/layout/RepeatingBendingProcessNew"/>
    <dgm:cxn modelId="{308B2AAB-4914-49BF-872C-4FC52B946441}" type="presParOf" srcId="{70877F09-49FA-4023-ACE6-D091DA6E1583}" destId="{84506FAC-A0D6-4DA0-8086-02C1DDFC0BC3}" srcOrd="8" destOrd="0" presId="urn:microsoft.com/office/officeart/2016/7/layout/RepeatingBendingProcessNew"/>
    <dgm:cxn modelId="{D29BF2CA-E7F2-494E-AECF-253008F011B0}" type="presParOf" srcId="{70877F09-49FA-4023-ACE6-D091DA6E1583}" destId="{935AE043-684D-4F22-A99D-F8120D20D1C2}" srcOrd="9" destOrd="0" presId="urn:microsoft.com/office/officeart/2016/7/layout/RepeatingBendingProcessNew"/>
    <dgm:cxn modelId="{23FB8168-51F4-46BE-A601-69CA09955A54}" type="presParOf" srcId="{935AE043-684D-4F22-A99D-F8120D20D1C2}" destId="{A6C85534-4656-426D-AAF9-40CE508F3FC0}" srcOrd="0" destOrd="0" presId="urn:microsoft.com/office/officeart/2016/7/layout/RepeatingBendingProcessNew"/>
    <dgm:cxn modelId="{9842D738-3C7F-4403-B832-10789EE15124}" type="presParOf" srcId="{70877F09-49FA-4023-ACE6-D091DA6E1583}" destId="{EA597E9D-3A6F-4905-915B-5FAB73B9B82D}" srcOrd="10" destOrd="0" presId="urn:microsoft.com/office/officeart/2016/7/layout/RepeatingBendingProcessNew"/>
    <dgm:cxn modelId="{C323E842-F175-415A-8C7D-6042485EFCD0}" type="presParOf" srcId="{70877F09-49FA-4023-ACE6-D091DA6E1583}" destId="{B733E585-4CFF-44E7-861F-4CC915939061}" srcOrd="11" destOrd="0" presId="urn:microsoft.com/office/officeart/2016/7/layout/RepeatingBendingProcessNew"/>
    <dgm:cxn modelId="{2058F982-79AF-4774-8602-4477380D65E1}" type="presParOf" srcId="{B733E585-4CFF-44E7-861F-4CC915939061}" destId="{B6FD96E1-8D5A-4111-9732-34E413A5725B}" srcOrd="0" destOrd="0" presId="urn:microsoft.com/office/officeart/2016/7/layout/RepeatingBendingProcessNew"/>
    <dgm:cxn modelId="{8FA7820A-5D90-4CB6-A18C-CDDA02DA9921}" type="presParOf" srcId="{70877F09-49FA-4023-ACE6-D091DA6E1583}" destId="{591E42E0-7F12-4D93-8033-1578494428E7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4762AF-90A1-4837-95F6-3AF41AC921F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CA73ED2-38FB-4B56-B835-151BDCCB8E5D}">
      <dgm:prSet custT="1"/>
      <dgm:spPr/>
      <dgm:t>
        <a:bodyPr/>
        <a:lstStyle/>
        <a:p>
          <a:r>
            <a:rPr lang="en-US" sz="2800" dirty="0"/>
            <a:t>Gained comprehensive understanding of RMG sector operations</a:t>
          </a:r>
          <a:r>
            <a:rPr lang="en-US" sz="3100" dirty="0"/>
            <a:t>.</a:t>
          </a:r>
        </a:p>
      </dgm:t>
    </dgm:pt>
    <dgm:pt modelId="{A7446D61-740C-4717-AB67-4C563D903675}" type="parTrans" cxnId="{0B46850C-CF5C-498D-A381-115A0C0FB17C}">
      <dgm:prSet/>
      <dgm:spPr/>
      <dgm:t>
        <a:bodyPr/>
        <a:lstStyle/>
        <a:p>
          <a:endParaRPr lang="en-US"/>
        </a:p>
      </dgm:t>
    </dgm:pt>
    <dgm:pt modelId="{83891E0E-7E3B-4DCC-8602-2138675C5A02}" type="sibTrans" cxnId="{0B46850C-CF5C-498D-A381-115A0C0FB17C}">
      <dgm:prSet/>
      <dgm:spPr/>
      <dgm:t>
        <a:bodyPr/>
        <a:lstStyle/>
        <a:p>
          <a:endParaRPr lang="en-US"/>
        </a:p>
      </dgm:t>
    </dgm:pt>
    <dgm:pt modelId="{084191C6-3551-4A52-8EE3-4CCF8FEAD7D0}">
      <dgm:prSet custT="1"/>
      <dgm:spPr/>
      <dgm:t>
        <a:bodyPr/>
        <a:lstStyle/>
        <a:p>
          <a:r>
            <a:rPr lang="en-US" sz="2800" dirty="0"/>
            <a:t>Developed communication, teamwork, and leadership skills.</a:t>
          </a:r>
        </a:p>
      </dgm:t>
    </dgm:pt>
    <dgm:pt modelId="{F75D80CF-578A-417A-9A64-A29AEB2DA6DB}" type="parTrans" cxnId="{3DBC98C2-D3D2-4EEF-B429-290DDD8A1E14}">
      <dgm:prSet/>
      <dgm:spPr/>
      <dgm:t>
        <a:bodyPr/>
        <a:lstStyle/>
        <a:p>
          <a:endParaRPr lang="en-US"/>
        </a:p>
      </dgm:t>
    </dgm:pt>
    <dgm:pt modelId="{BDAD85A7-A5D9-4D1F-97D9-062689094C85}" type="sibTrans" cxnId="{3DBC98C2-D3D2-4EEF-B429-290DDD8A1E14}">
      <dgm:prSet/>
      <dgm:spPr/>
      <dgm:t>
        <a:bodyPr/>
        <a:lstStyle/>
        <a:p>
          <a:endParaRPr lang="en-US"/>
        </a:p>
      </dgm:t>
    </dgm:pt>
    <dgm:pt modelId="{6AFFE023-A068-4FE2-B0FA-4032AB324488}">
      <dgm:prSet custT="1"/>
      <dgm:spPr/>
      <dgm:t>
        <a:bodyPr/>
        <a:lstStyle/>
        <a:p>
          <a:r>
            <a:rPr lang="en-US" sz="2800" dirty="0"/>
            <a:t>Applied theoretical knowledge in real-world production scenarios.</a:t>
          </a:r>
        </a:p>
      </dgm:t>
    </dgm:pt>
    <dgm:pt modelId="{122FB22C-CFA1-4669-9A6A-ECEAE8570C45}" type="parTrans" cxnId="{B6B1285D-A62C-4E14-A19F-59748202EE87}">
      <dgm:prSet/>
      <dgm:spPr/>
      <dgm:t>
        <a:bodyPr/>
        <a:lstStyle/>
        <a:p>
          <a:endParaRPr lang="en-US"/>
        </a:p>
      </dgm:t>
    </dgm:pt>
    <dgm:pt modelId="{7CFEC538-CB38-41A1-8C39-89856C2EBD33}" type="sibTrans" cxnId="{B6B1285D-A62C-4E14-A19F-59748202EE87}">
      <dgm:prSet/>
      <dgm:spPr/>
      <dgm:t>
        <a:bodyPr/>
        <a:lstStyle/>
        <a:p>
          <a:endParaRPr lang="en-US"/>
        </a:p>
      </dgm:t>
    </dgm:pt>
    <dgm:pt modelId="{3BB58CF4-0109-4730-9FB8-6D86B6E7594A}">
      <dgm:prSet custT="1"/>
      <dgm:spPr/>
      <dgm:t>
        <a:bodyPr/>
        <a:lstStyle/>
        <a:p>
          <a:r>
            <a:rPr lang="en-US" sz="2800" dirty="0"/>
            <a:t>Grateful to BUET and Knit Asia Ltd. for invaluable experience.</a:t>
          </a:r>
        </a:p>
      </dgm:t>
    </dgm:pt>
    <dgm:pt modelId="{A0A7A43A-4983-401D-8615-DF1D97CD84EF}" type="parTrans" cxnId="{7F4E3260-5510-45D6-AA26-3D9C024FD8A6}">
      <dgm:prSet/>
      <dgm:spPr/>
      <dgm:t>
        <a:bodyPr/>
        <a:lstStyle/>
        <a:p>
          <a:endParaRPr lang="en-US"/>
        </a:p>
      </dgm:t>
    </dgm:pt>
    <dgm:pt modelId="{567A38DF-8C18-4E42-8787-16E7AE9F8D23}" type="sibTrans" cxnId="{7F4E3260-5510-45D6-AA26-3D9C024FD8A6}">
      <dgm:prSet/>
      <dgm:spPr/>
      <dgm:t>
        <a:bodyPr/>
        <a:lstStyle/>
        <a:p>
          <a:endParaRPr lang="en-US"/>
        </a:p>
      </dgm:t>
    </dgm:pt>
    <dgm:pt modelId="{B07B84F6-0B1C-4E0C-852B-6960A909305C}" type="pres">
      <dgm:prSet presAssocID="{F94762AF-90A1-4837-95F6-3AF41AC921F0}" presName="vert0" presStyleCnt="0">
        <dgm:presLayoutVars>
          <dgm:dir/>
          <dgm:animOne val="branch"/>
          <dgm:animLvl val="lvl"/>
        </dgm:presLayoutVars>
      </dgm:prSet>
      <dgm:spPr/>
    </dgm:pt>
    <dgm:pt modelId="{5EC36E71-8187-4330-A7B0-DADC82D9A5BD}" type="pres">
      <dgm:prSet presAssocID="{4CA73ED2-38FB-4B56-B835-151BDCCB8E5D}" presName="thickLine" presStyleLbl="alignNode1" presStyleIdx="0" presStyleCnt="4"/>
      <dgm:spPr/>
    </dgm:pt>
    <dgm:pt modelId="{CACA0E03-416F-4DE3-99A5-AD1BDC93017F}" type="pres">
      <dgm:prSet presAssocID="{4CA73ED2-38FB-4B56-B835-151BDCCB8E5D}" presName="horz1" presStyleCnt="0"/>
      <dgm:spPr/>
    </dgm:pt>
    <dgm:pt modelId="{0C0C6034-D12F-4914-9A76-BFFFADD7BBC1}" type="pres">
      <dgm:prSet presAssocID="{4CA73ED2-38FB-4B56-B835-151BDCCB8E5D}" presName="tx1" presStyleLbl="revTx" presStyleIdx="0" presStyleCnt="4"/>
      <dgm:spPr/>
    </dgm:pt>
    <dgm:pt modelId="{BB30B60D-9CEC-452F-92D4-2C6F6EB1E40A}" type="pres">
      <dgm:prSet presAssocID="{4CA73ED2-38FB-4B56-B835-151BDCCB8E5D}" presName="vert1" presStyleCnt="0"/>
      <dgm:spPr/>
    </dgm:pt>
    <dgm:pt modelId="{A62B9FC8-A8CE-4DF8-ADDA-5FD30BB593C2}" type="pres">
      <dgm:prSet presAssocID="{084191C6-3551-4A52-8EE3-4CCF8FEAD7D0}" presName="thickLine" presStyleLbl="alignNode1" presStyleIdx="1" presStyleCnt="4"/>
      <dgm:spPr/>
    </dgm:pt>
    <dgm:pt modelId="{E4457F7E-869A-41A1-A1D4-B96CF5D46268}" type="pres">
      <dgm:prSet presAssocID="{084191C6-3551-4A52-8EE3-4CCF8FEAD7D0}" presName="horz1" presStyleCnt="0"/>
      <dgm:spPr/>
    </dgm:pt>
    <dgm:pt modelId="{F5C1CA81-AC40-4E5D-BF1C-D0B3621B7678}" type="pres">
      <dgm:prSet presAssocID="{084191C6-3551-4A52-8EE3-4CCF8FEAD7D0}" presName="tx1" presStyleLbl="revTx" presStyleIdx="1" presStyleCnt="4"/>
      <dgm:spPr/>
    </dgm:pt>
    <dgm:pt modelId="{3292B6FD-843E-4A0E-9529-68217AEA3408}" type="pres">
      <dgm:prSet presAssocID="{084191C6-3551-4A52-8EE3-4CCF8FEAD7D0}" presName="vert1" presStyleCnt="0"/>
      <dgm:spPr/>
    </dgm:pt>
    <dgm:pt modelId="{FFB291E2-57DD-41B3-9E25-F5DFF096B879}" type="pres">
      <dgm:prSet presAssocID="{6AFFE023-A068-4FE2-B0FA-4032AB324488}" presName="thickLine" presStyleLbl="alignNode1" presStyleIdx="2" presStyleCnt="4"/>
      <dgm:spPr/>
    </dgm:pt>
    <dgm:pt modelId="{BA41A303-A11F-43A5-B33A-E376EC2D1BD2}" type="pres">
      <dgm:prSet presAssocID="{6AFFE023-A068-4FE2-B0FA-4032AB324488}" presName="horz1" presStyleCnt="0"/>
      <dgm:spPr/>
    </dgm:pt>
    <dgm:pt modelId="{54AFAA87-6B75-45F6-8D77-5A1FCBC2656B}" type="pres">
      <dgm:prSet presAssocID="{6AFFE023-A068-4FE2-B0FA-4032AB324488}" presName="tx1" presStyleLbl="revTx" presStyleIdx="2" presStyleCnt="4"/>
      <dgm:spPr/>
    </dgm:pt>
    <dgm:pt modelId="{4CFC83FE-D63E-4B2B-A807-308B2379AB74}" type="pres">
      <dgm:prSet presAssocID="{6AFFE023-A068-4FE2-B0FA-4032AB324488}" presName="vert1" presStyleCnt="0"/>
      <dgm:spPr/>
    </dgm:pt>
    <dgm:pt modelId="{63C88163-B7AB-4C8A-BE74-67A073DFC731}" type="pres">
      <dgm:prSet presAssocID="{3BB58CF4-0109-4730-9FB8-6D86B6E7594A}" presName="thickLine" presStyleLbl="alignNode1" presStyleIdx="3" presStyleCnt="4"/>
      <dgm:spPr/>
    </dgm:pt>
    <dgm:pt modelId="{DF29C8EC-DB24-4F51-BB96-26882B9B6FCA}" type="pres">
      <dgm:prSet presAssocID="{3BB58CF4-0109-4730-9FB8-6D86B6E7594A}" presName="horz1" presStyleCnt="0"/>
      <dgm:spPr/>
    </dgm:pt>
    <dgm:pt modelId="{47AFB996-D0F7-4F05-A8D9-465AF8137055}" type="pres">
      <dgm:prSet presAssocID="{3BB58CF4-0109-4730-9FB8-6D86B6E7594A}" presName="tx1" presStyleLbl="revTx" presStyleIdx="3" presStyleCnt="4"/>
      <dgm:spPr/>
    </dgm:pt>
    <dgm:pt modelId="{FA8E9C90-345C-497C-A97E-1B4E0FED2ED3}" type="pres">
      <dgm:prSet presAssocID="{3BB58CF4-0109-4730-9FB8-6D86B6E7594A}" presName="vert1" presStyleCnt="0"/>
      <dgm:spPr/>
    </dgm:pt>
  </dgm:ptLst>
  <dgm:cxnLst>
    <dgm:cxn modelId="{0B46850C-CF5C-498D-A381-115A0C0FB17C}" srcId="{F94762AF-90A1-4837-95F6-3AF41AC921F0}" destId="{4CA73ED2-38FB-4B56-B835-151BDCCB8E5D}" srcOrd="0" destOrd="0" parTransId="{A7446D61-740C-4717-AB67-4C563D903675}" sibTransId="{83891E0E-7E3B-4DCC-8602-2138675C5A02}"/>
    <dgm:cxn modelId="{B6B1285D-A62C-4E14-A19F-59748202EE87}" srcId="{F94762AF-90A1-4837-95F6-3AF41AC921F0}" destId="{6AFFE023-A068-4FE2-B0FA-4032AB324488}" srcOrd="2" destOrd="0" parTransId="{122FB22C-CFA1-4669-9A6A-ECEAE8570C45}" sibTransId="{7CFEC538-CB38-41A1-8C39-89856C2EBD33}"/>
    <dgm:cxn modelId="{7F4E3260-5510-45D6-AA26-3D9C024FD8A6}" srcId="{F94762AF-90A1-4837-95F6-3AF41AC921F0}" destId="{3BB58CF4-0109-4730-9FB8-6D86B6E7594A}" srcOrd="3" destOrd="0" parTransId="{A0A7A43A-4983-401D-8615-DF1D97CD84EF}" sibTransId="{567A38DF-8C18-4E42-8787-16E7AE9F8D23}"/>
    <dgm:cxn modelId="{593C49A6-88E5-4576-B3ED-7F1445EF28CD}" type="presOf" srcId="{4CA73ED2-38FB-4B56-B835-151BDCCB8E5D}" destId="{0C0C6034-D12F-4914-9A76-BFFFADD7BBC1}" srcOrd="0" destOrd="0" presId="urn:microsoft.com/office/officeart/2008/layout/LinedList"/>
    <dgm:cxn modelId="{7558AFA9-2D20-465D-90C4-F82A75E5FB7D}" type="presOf" srcId="{6AFFE023-A068-4FE2-B0FA-4032AB324488}" destId="{54AFAA87-6B75-45F6-8D77-5A1FCBC2656B}" srcOrd="0" destOrd="0" presId="urn:microsoft.com/office/officeart/2008/layout/LinedList"/>
    <dgm:cxn modelId="{7475B3AE-6208-4A82-B2A9-CFB23490F1C5}" type="presOf" srcId="{084191C6-3551-4A52-8EE3-4CCF8FEAD7D0}" destId="{F5C1CA81-AC40-4E5D-BF1C-D0B3621B7678}" srcOrd="0" destOrd="0" presId="urn:microsoft.com/office/officeart/2008/layout/LinedList"/>
    <dgm:cxn modelId="{B901C5B4-0562-4976-A9C1-F7DA598920D5}" type="presOf" srcId="{3BB58CF4-0109-4730-9FB8-6D86B6E7594A}" destId="{47AFB996-D0F7-4F05-A8D9-465AF8137055}" srcOrd="0" destOrd="0" presId="urn:microsoft.com/office/officeart/2008/layout/LinedList"/>
    <dgm:cxn modelId="{3DBC98C2-D3D2-4EEF-B429-290DDD8A1E14}" srcId="{F94762AF-90A1-4837-95F6-3AF41AC921F0}" destId="{084191C6-3551-4A52-8EE3-4CCF8FEAD7D0}" srcOrd="1" destOrd="0" parTransId="{F75D80CF-578A-417A-9A64-A29AEB2DA6DB}" sibTransId="{BDAD85A7-A5D9-4D1F-97D9-062689094C85}"/>
    <dgm:cxn modelId="{B1BF1FE8-D253-4DD1-A929-D5838E72EFAB}" type="presOf" srcId="{F94762AF-90A1-4837-95F6-3AF41AC921F0}" destId="{B07B84F6-0B1C-4E0C-852B-6960A909305C}" srcOrd="0" destOrd="0" presId="urn:microsoft.com/office/officeart/2008/layout/LinedList"/>
    <dgm:cxn modelId="{714752E3-7F3E-4168-A692-B21425EC61DA}" type="presParOf" srcId="{B07B84F6-0B1C-4E0C-852B-6960A909305C}" destId="{5EC36E71-8187-4330-A7B0-DADC82D9A5BD}" srcOrd="0" destOrd="0" presId="urn:microsoft.com/office/officeart/2008/layout/LinedList"/>
    <dgm:cxn modelId="{BE8F8148-0891-4B20-882E-7708C0D7EA5E}" type="presParOf" srcId="{B07B84F6-0B1C-4E0C-852B-6960A909305C}" destId="{CACA0E03-416F-4DE3-99A5-AD1BDC93017F}" srcOrd="1" destOrd="0" presId="urn:microsoft.com/office/officeart/2008/layout/LinedList"/>
    <dgm:cxn modelId="{7FD36F03-FECE-47C1-962E-0F1DBAB8B555}" type="presParOf" srcId="{CACA0E03-416F-4DE3-99A5-AD1BDC93017F}" destId="{0C0C6034-D12F-4914-9A76-BFFFADD7BBC1}" srcOrd="0" destOrd="0" presId="urn:microsoft.com/office/officeart/2008/layout/LinedList"/>
    <dgm:cxn modelId="{9AAA0756-1403-4357-BEE7-B9F4F6E1A90F}" type="presParOf" srcId="{CACA0E03-416F-4DE3-99A5-AD1BDC93017F}" destId="{BB30B60D-9CEC-452F-92D4-2C6F6EB1E40A}" srcOrd="1" destOrd="0" presId="urn:microsoft.com/office/officeart/2008/layout/LinedList"/>
    <dgm:cxn modelId="{0C635ECB-0481-49C8-B186-8CE0D3CEDDC8}" type="presParOf" srcId="{B07B84F6-0B1C-4E0C-852B-6960A909305C}" destId="{A62B9FC8-A8CE-4DF8-ADDA-5FD30BB593C2}" srcOrd="2" destOrd="0" presId="urn:microsoft.com/office/officeart/2008/layout/LinedList"/>
    <dgm:cxn modelId="{FDE31FF0-7CE0-4D10-B027-CF998EC1133B}" type="presParOf" srcId="{B07B84F6-0B1C-4E0C-852B-6960A909305C}" destId="{E4457F7E-869A-41A1-A1D4-B96CF5D46268}" srcOrd="3" destOrd="0" presId="urn:microsoft.com/office/officeart/2008/layout/LinedList"/>
    <dgm:cxn modelId="{0CD14C68-E287-4B3F-A383-3312B0961FDF}" type="presParOf" srcId="{E4457F7E-869A-41A1-A1D4-B96CF5D46268}" destId="{F5C1CA81-AC40-4E5D-BF1C-D0B3621B7678}" srcOrd="0" destOrd="0" presId="urn:microsoft.com/office/officeart/2008/layout/LinedList"/>
    <dgm:cxn modelId="{B157AF0F-4414-4C92-B243-98897103E89C}" type="presParOf" srcId="{E4457F7E-869A-41A1-A1D4-B96CF5D46268}" destId="{3292B6FD-843E-4A0E-9529-68217AEA3408}" srcOrd="1" destOrd="0" presId="urn:microsoft.com/office/officeart/2008/layout/LinedList"/>
    <dgm:cxn modelId="{A7B681F8-68EE-4E7F-A338-23D528F61D5B}" type="presParOf" srcId="{B07B84F6-0B1C-4E0C-852B-6960A909305C}" destId="{FFB291E2-57DD-41B3-9E25-F5DFF096B879}" srcOrd="4" destOrd="0" presId="urn:microsoft.com/office/officeart/2008/layout/LinedList"/>
    <dgm:cxn modelId="{2B32C8BA-D71B-4683-B322-8E6E7E961982}" type="presParOf" srcId="{B07B84F6-0B1C-4E0C-852B-6960A909305C}" destId="{BA41A303-A11F-43A5-B33A-E376EC2D1BD2}" srcOrd="5" destOrd="0" presId="urn:microsoft.com/office/officeart/2008/layout/LinedList"/>
    <dgm:cxn modelId="{588C06CC-4C18-43DE-85FE-A90C99E55CF1}" type="presParOf" srcId="{BA41A303-A11F-43A5-B33A-E376EC2D1BD2}" destId="{54AFAA87-6B75-45F6-8D77-5A1FCBC2656B}" srcOrd="0" destOrd="0" presId="urn:microsoft.com/office/officeart/2008/layout/LinedList"/>
    <dgm:cxn modelId="{BDDA7C72-11CD-47C7-8D59-FB0EB2DD157B}" type="presParOf" srcId="{BA41A303-A11F-43A5-B33A-E376EC2D1BD2}" destId="{4CFC83FE-D63E-4B2B-A807-308B2379AB74}" srcOrd="1" destOrd="0" presId="urn:microsoft.com/office/officeart/2008/layout/LinedList"/>
    <dgm:cxn modelId="{F78B044A-34F1-486F-9724-E034B41AD27A}" type="presParOf" srcId="{B07B84F6-0B1C-4E0C-852B-6960A909305C}" destId="{63C88163-B7AB-4C8A-BE74-67A073DFC731}" srcOrd="6" destOrd="0" presId="urn:microsoft.com/office/officeart/2008/layout/LinedList"/>
    <dgm:cxn modelId="{ABEF9200-DA1F-4CD1-A0AF-D27695966DAC}" type="presParOf" srcId="{B07B84F6-0B1C-4E0C-852B-6960A909305C}" destId="{DF29C8EC-DB24-4F51-BB96-26882B9B6FCA}" srcOrd="7" destOrd="0" presId="urn:microsoft.com/office/officeart/2008/layout/LinedList"/>
    <dgm:cxn modelId="{1CDE90D0-BE8C-4E1E-B9E2-85328587C202}" type="presParOf" srcId="{DF29C8EC-DB24-4F51-BB96-26882B9B6FCA}" destId="{47AFB996-D0F7-4F05-A8D9-465AF8137055}" srcOrd="0" destOrd="0" presId="urn:microsoft.com/office/officeart/2008/layout/LinedList"/>
    <dgm:cxn modelId="{A3F66441-E04A-4FF6-ACD7-AD4438ED241A}" type="presParOf" srcId="{DF29C8EC-DB24-4F51-BB96-26882B9B6FCA}" destId="{FA8E9C90-345C-497C-A97E-1B4E0FED2E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5C505-170C-4230-BE27-71AF1136D001}">
      <dsp:nvSpPr>
        <dsp:cNvPr id="0" name=""/>
        <dsp:cNvSpPr/>
      </dsp:nvSpPr>
      <dsp:spPr>
        <a:xfrm>
          <a:off x="2241532" y="99860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041745"/>
        <a:ext cx="25774" cy="5154"/>
      </dsp:txXfrm>
    </dsp:sp>
    <dsp:sp modelId="{571A0A48-95F8-45A4-9963-F0E542689475}">
      <dsp:nvSpPr>
        <dsp:cNvPr id="0" name=""/>
        <dsp:cNvSpPr/>
      </dsp:nvSpPr>
      <dsp:spPr>
        <a:xfrm>
          <a:off x="2092" y="371951"/>
          <a:ext cx="2241239" cy="13447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Spinning</a:t>
          </a:r>
          <a:endParaRPr lang="en-US" sz="3400" kern="1200" dirty="0"/>
        </a:p>
      </dsp:txBody>
      <dsp:txXfrm>
        <a:off x="2092" y="371951"/>
        <a:ext cx="2241239" cy="1344743"/>
      </dsp:txXfrm>
    </dsp:sp>
    <dsp:sp modelId="{A042B80E-7098-4102-B069-8557BC7B2E57}">
      <dsp:nvSpPr>
        <dsp:cNvPr id="0" name=""/>
        <dsp:cNvSpPr/>
      </dsp:nvSpPr>
      <dsp:spPr>
        <a:xfrm>
          <a:off x="4998257" y="99860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041745"/>
        <a:ext cx="25774" cy="5154"/>
      </dsp:txXfrm>
    </dsp:sp>
    <dsp:sp modelId="{4C6EFC33-B451-4F56-B574-C052476FD7B0}">
      <dsp:nvSpPr>
        <dsp:cNvPr id="0" name=""/>
        <dsp:cNvSpPr/>
      </dsp:nvSpPr>
      <dsp:spPr>
        <a:xfrm>
          <a:off x="2758817" y="371951"/>
          <a:ext cx="2241239" cy="13447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Knitting</a:t>
          </a:r>
          <a:endParaRPr lang="en-US" sz="3400" kern="1200" dirty="0"/>
        </a:p>
      </dsp:txBody>
      <dsp:txXfrm>
        <a:off x="2758817" y="371951"/>
        <a:ext cx="2241239" cy="1344743"/>
      </dsp:txXfrm>
    </dsp:sp>
    <dsp:sp modelId="{285BAD85-C6CC-49DB-8A5F-D9C52CC9DB0F}">
      <dsp:nvSpPr>
        <dsp:cNvPr id="0" name=""/>
        <dsp:cNvSpPr/>
      </dsp:nvSpPr>
      <dsp:spPr>
        <a:xfrm>
          <a:off x="7754982" y="99860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041745"/>
        <a:ext cx="25774" cy="5154"/>
      </dsp:txXfrm>
    </dsp:sp>
    <dsp:sp modelId="{F015AA1C-1DB2-4ABD-B16D-5503E2358084}">
      <dsp:nvSpPr>
        <dsp:cNvPr id="0" name=""/>
        <dsp:cNvSpPr/>
      </dsp:nvSpPr>
      <dsp:spPr>
        <a:xfrm>
          <a:off x="5515542" y="371951"/>
          <a:ext cx="2241239" cy="13447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Dyeing</a:t>
          </a:r>
          <a:endParaRPr lang="en-US" sz="3400" kern="1200"/>
        </a:p>
      </dsp:txBody>
      <dsp:txXfrm>
        <a:off x="5515542" y="371951"/>
        <a:ext cx="2241239" cy="1344743"/>
      </dsp:txXfrm>
    </dsp:sp>
    <dsp:sp modelId="{A04758FA-6D56-40B2-8F60-CACDED2B110D}">
      <dsp:nvSpPr>
        <dsp:cNvPr id="0" name=""/>
        <dsp:cNvSpPr/>
      </dsp:nvSpPr>
      <dsp:spPr>
        <a:xfrm>
          <a:off x="1122712" y="1714895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1954760"/>
        <a:ext cx="414311" cy="5154"/>
      </dsp:txXfrm>
    </dsp:sp>
    <dsp:sp modelId="{41276216-B27B-4AFC-8F82-F4C73005D417}">
      <dsp:nvSpPr>
        <dsp:cNvPr id="0" name=""/>
        <dsp:cNvSpPr/>
      </dsp:nvSpPr>
      <dsp:spPr>
        <a:xfrm>
          <a:off x="8272267" y="371951"/>
          <a:ext cx="2241239" cy="13447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Cutting</a:t>
          </a:r>
          <a:endParaRPr lang="en-US" sz="3400" kern="1200"/>
        </a:p>
      </dsp:txBody>
      <dsp:txXfrm>
        <a:off x="8272267" y="371951"/>
        <a:ext cx="2241239" cy="1344743"/>
      </dsp:txXfrm>
    </dsp:sp>
    <dsp:sp modelId="{935AE043-684D-4F22-A99D-F8120D20D1C2}">
      <dsp:nvSpPr>
        <dsp:cNvPr id="0" name=""/>
        <dsp:cNvSpPr/>
      </dsp:nvSpPr>
      <dsp:spPr>
        <a:xfrm>
          <a:off x="2241532" y="2858832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2901975"/>
        <a:ext cx="25774" cy="5154"/>
      </dsp:txXfrm>
    </dsp:sp>
    <dsp:sp modelId="{84506FAC-A0D6-4DA0-8086-02C1DDFC0BC3}">
      <dsp:nvSpPr>
        <dsp:cNvPr id="0" name=""/>
        <dsp:cNvSpPr/>
      </dsp:nvSpPr>
      <dsp:spPr>
        <a:xfrm>
          <a:off x="2092" y="2232180"/>
          <a:ext cx="2241239" cy="13447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Sewing</a:t>
          </a:r>
          <a:endParaRPr lang="en-US" sz="3400" kern="1200"/>
        </a:p>
      </dsp:txBody>
      <dsp:txXfrm>
        <a:off x="2092" y="2232180"/>
        <a:ext cx="2241239" cy="1344743"/>
      </dsp:txXfrm>
    </dsp:sp>
    <dsp:sp modelId="{B733E585-4CFF-44E7-861F-4CC915939061}">
      <dsp:nvSpPr>
        <dsp:cNvPr id="0" name=""/>
        <dsp:cNvSpPr/>
      </dsp:nvSpPr>
      <dsp:spPr>
        <a:xfrm>
          <a:off x="4998257" y="2858832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2901975"/>
        <a:ext cx="25774" cy="5154"/>
      </dsp:txXfrm>
    </dsp:sp>
    <dsp:sp modelId="{EA597E9D-3A6F-4905-915B-5FAB73B9B82D}">
      <dsp:nvSpPr>
        <dsp:cNvPr id="0" name=""/>
        <dsp:cNvSpPr/>
      </dsp:nvSpPr>
      <dsp:spPr>
        <a:xfrm>
          <a:off x="2758817" y="2232180"/>
          <a:ext cx="2241239" cy="13447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Finishing</a:t>
          </a:r>
          <a:endParaRPr lang="en-US" sz="3400" kern="1200"/>
        </a:p>
      </dsp:txBody>
      <dsp:txXfrm>
        <a:off x="2758817" y="2232180"/>
        <a:ext cx="2241239" cy="1344743"/>
      </dsp:txXfrm>
    </dsp:sp>
    <dsp:sp modelId="{591E42E0-7F12-4D93-8033-1578494428E7}">
      <dsp:nvSpPr>
        <dsp:cNvPr id="0" name=""/>
        <dsp:cNvSpPr/>
      </dsp:nvSpPr>
      <dsp:spPr>
        <a:xfrm>
          <a:off x="5515542" y="2232180"/>
          <a:ext cx="2241239" cy="13447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Packaging</a:t>
          </a:r>
          <a:endParaRPr lang="en-US" sz="3400" kern="1200"/>
        </a:p>
      </dsp:txBody>
      <dsp:txXfrm>
        <a:off x="5515542" y="2232180"/>
        <a:ext cx="2241239" cy="1344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36E71-8187-4330-A7B0-DADC82D9A5BD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C6034-D12F-4914-9A76-BFFFADD7BBC1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Gained comprehensive understanding of RMG sector operations</a:t>
          </a:r>
          <a:r>
            <a:rPr lang="en-US" sz="3100" kern="1200" dirty="0"/>
            <a:t>.</a:t>
          </a:r>
        </a:p>
      </dsp:txBody>
      <dsp:txXfrm>
        <a:off x="0" y="0"/>
        <a:ext cx="6900512" cy="1384035"/>
      </dsp:txXfrm>
    </dsp:sp>
    <dsp:sp modelId="{A62B9FC8-A8CE-4DF8-ADDA-5FD30BB593C2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1CA81-AC40-4E5D-BF1C-D0B3621B7678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Developed communication, teamwork, and leadership skills.</a:t>
          </a:r>
        </a:p>
      </dsp:txBody>
      <dsp:txXfrm>
        <a:off x="0" y="1384035"/>
        <a:ext cx="6900512" cy="1384035"/>
      </dsp:txXfrm>
    </dsp:sp>
    <dsp:sp modelId="{FFB291E2-57DD-41B3-9E25-F5DFF096B879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FAA87-6B75-45F6-8D77-5A1FCBC2656B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Applied theoretical knowledge in real-world production scenarios.</a:t>
          </a:r>
        </a:p>
      </dsp:txBody>
      <dsp:txXfrm>
        <a:off x="0" y="2768070"/>
        <a:ext cx="6900512" cy="1384035"/>
      </dsp:txXfrm>
    </dsp:sp>
    <dsp:sp modelId="{63C88163-B7AB-4C8A-BE74-67A073DFC731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FB996-D0F7-4F05-A8D9-465AF8137055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Grateful to BUET and Knit Asia Ltd. for invaluable experience.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1789F-CD29-4000-A955-B938031C8273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12FC4-8173-47C4-84F0-E2A7BEA8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0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12FC4-8173-47C4-84F0-E2A7BEA82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24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12FC4-8173-47C4-84F0-E2A7BEA82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65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0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2C2-9F0B-453C-9E31-6F8B3A7FB984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7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F441-474D-4E0A-AF78-A1F0CA801A84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8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25BAC-1A71-47DF-B97D-B68292CB17B4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22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3770B-D0E8-41CE-932F-8958CE919455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21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A2D13-8F58-4280-8CBB-CF7FCB2FD277}" type="datetime1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1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601A-8252-4026-8531-8C3C25D8A3F9}" type="datetime1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1106" y="6356350"/>
            <a:ext cx="2743200" cy="365125"/>
          </a:xfrm>
        </p:spPr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A0A64-51A4-40FF-AD25-2E6B94ABFEBC}" type="datetime1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90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0A87-A07C-4177-A6A7-44E086342510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57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F50-8C5A-4519-846A-42BAB30CA5BC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3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D745-254D-4B20-8DBE-BB221442DC69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39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74A0-A0D7-45BE-B05B-3C3A1B1908EC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11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3949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35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FFD4D-7733-459B-A1FE-A89673A63888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29076-5DA0-4D87-9559-3ED440919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3" r:id="rId1"/>
    <p:sldLayoutId id="2147484424" r:id="rId2"/>
    <p:sldLayoutId id="2147484425" r:id="rId3"/>
    <p:sldLayoutId id="2147484426" r:id="rId4"/>
    <p:sldLayoutId id="2147484427" r:id="rId5"/>
    <p:sldLayoutId id="2147484428" r:id="rId6"/>
    <p:sldLayoutId id="2147484429" r:id="rId7"/>
    <p:sldLayoutId id="2147484430" r:id="rId8"/>
    <p:sldLayoutId id="2147484431" r:id="rId9"/>
    <p:sldLayoutId id="2147484432" r:id="rId10"/>
    <p:sldLayoutId id="2147484433" r:id="rId11"/>
    <p:sldLayoutId id="2147484434" r:id="rId12"/>
    <p:sldLayoutId id="2147484435" r:id="rId13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vgsilh.com/image/3286948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dirty-equipment-industrial-plant-industry-416423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C05AD4-DBE0-9730-AFE0-807A2B41EEF1}"/>
              </a:ext>
            </a:extLst>
          </p:cNvPr>
          <p:cNvSpPr txBox="1"/>
          <p:nvPr/>
        </p:nvSpPr>
        <p:spPr>
          <a:xfrm>
            <a:off x="5098387" y="434123"/>
            <a:ext cx="1995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IPE 300</a:t>
            </a:r>
          </a:p>
          <a:p>
            <a:pPr algn="ctr"/>
            <a:r>
              <a:rPr lang="en-US" dirty="0"/>
              <a:t>Industrial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6866D-0FDD-603D-337A-76818FB346E5}"/>
              </a:ext>
            </a:extLst>
          </p:cNvPr>
          <p:cNvSpPr txBox="1"/>
          <p:nvPr/>
        </p:nvSpPr>
        <p:spPr>
          <a:xfrm>
            <a:off x="4887560" y="1696659"/>
            <a:ext cx="2416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 presentation 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29A25-DEDC-F35D-68B1-F80AB8CA095F}"/>
              </a:ext>
            </a:extLst>
          </p:cNvPr>
          <p:cNvSpPr txBox="1"/>
          <p:nvPr/>
        </p:nvSpPr>
        <p:spPr>
          <a:xfrm>
            <a:off x="7093612" y="3295650"/>
            <a:ext cx="4254092" cy="22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1908021 - Abrar Hamim Masih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1908029 - </a:t>
            </a:r>
            <a:r>
              <a:rPr lang="en-US" dirty="0" err="1"/>
              <a:t>Narayon</a:t>
            </a:r>
            <a:r>
              <a:rPr lang="en-US" dirty="0"/>
              <a:t> Dey Noyon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1908047 - An-Nur Taiweb Rahman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1908050 - Muhammad Shadab </a:t>
            </a:r>
            <a:r>
              <a:rPr lang="en-US" dirty="0" err="1"/>
              <a:t>Sakib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E863BE-A262-7BF8-049B-1027DAC8DF8D}"/>
              </a:ext>
            </a:extLst>
          </p:cNvPr>
          <p:cNvSpPr txBox="1"/>
          <p:nvPr/>
        </p:nvSpPr>
        <p:spPr>
          <a:xfrm>
            <a:off x="1552572" y="3295650"/>
            <a:ext cx="45434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To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Dr. Nikhil Ranjan Dhar </a:t>
            </a:r>
          </a:p>
          <a:p>
            <a:r>
              <a:rPr lang="en-US" dirty="0"/>
              <a:t>      Professor, Department of IPE, BUET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Rashik</a:t>
            </a:r>
            <a:r>
              <a:rPr lang="en-US" sz="2000" b="1" dirty="0"/>
              <a:t> </a:t>
            </a:r>
            <a:r>
              <a:rPr lang="en-US" sz="2000" b="1" dirty="0" err="1"/>
              <a:t>Ahnaf</a:t>
            </a:r>
            <a:r>
              <a:rPr lang="en-US" sz="2000" b="1" dirty="0"/>
              <a:t> </a:t>
            </a:r>
          </a:p>
          <a:p>
            <a:r>
              <a:rPr lang="en-US" dirty="0"/>
              <a:t>      Lecturer, Department of IPE, BUET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Md. Tariqul Islam </a:t>
            </a:r>
          </a:p>
          <a:p>
            <a:r>
              <a:rPr lang="en-US" dirty="0"/>
              <a:t>      DGM, HR, Knit Asia Ltd.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C37A8-5417-BFCD-CC00-F269507B499F}"/>
              </a:ext>
            </a:extLst>
          </p:cNvPr>
          <p:cNvSpPr txBox="1"/>
          <p:nvPr/>
        </p:nvSpPr>
        <p:spPr>
          <a:xfrm>
            <a:off x="576072" y="1940130"/>
            <a:ext cx="11055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Industrial Attachment at Knit Asia Ltd </a:t>
            </a:r>
          </a:p>
        </p:txBody>
      </p:sp>
    </p:spTree>
    <p:extLst>
      <p:ext uri="{BB962C8B-B14F-4D97-AF65-F5344CB8AC3E}">
        <p14:creationId xmlns:p14="http://schemas.microsoft.com/office/powerpoint/2010/main" val="1909502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801A5-BF9D-E4E1-07F6-8B3025EDBB57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Knit Asia Ltd </a:t>
            </a:r>
          </a:p>
        </p:txBody>
      </p:sp>
      <p:sp>
        <p:nvSpPr>
          <p:cNvPr id="4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894DA-E215-34C1-1F96-8E8E2E4A4066}"/>
              </a:ext>
            </a:extLst>
          </p:cNvPr>
          <p:cNvSpPr txBox="1"/>
          <p:nvPr/>
        </p:nvSpPr>
        <p:spPr>
          <a:xfrm>
            <a:off x="489332" y="2748235"/>
            <a:ext cx="4892293" cy="3320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Founded in 1999, leading garment manufacturer in Bangladesh.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LEED-certified green factory, uses 50% solar power.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Supplies brands like Zara, Decathlon, and American Eagle; 200,000 garments/day.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Certified by WRAP, OEKO-TEX, and GOTS for sustainability.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Uses advanced 3D design tools like CLO and </a:t>
            </a:r>
            <a:r>
              <a:rPr lang="en-US" sz="2000" dirty="0" err="1"/>
              <a:t>Optitex</a:t>
            </a:r>
            <a:r>
              <a:rPr lang="en-US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5FB99-5557-9FDE-3409-FBB83A9B0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" b="15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CFD7-D450-B2B1-790A-2C6835F0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55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2178F-2B0B-F070-E793-FAF91CD1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Departmental Overview: Knit Asia Ltd.</a:t>
            </a:r>
          </a:p>
        </p:txBody>
      </p:sp>
      <p:sp>
        <p:nvSpPr>
          <p:cNvPr id="1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267A8D3-93CA-26CA-8F87-F88B69F740EB}"/>
              </a:ext>
            </a:extLst>
          </p:cNvPr>
          <p:cNvSpPr txBox="1"/>
          <p:nvPr/>
        </p:nvSpPr>
        <p:spPr>
          <a:xfrm>
            <a:off x="838200" y="3314112"/>
            <a:ext cx="10515600" cy="2867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Manages office logistics and supplies.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Coordinates communication and workflow between departments.</a:t>
            </a:r>
            <a:endParaRPr lang="en-US" sz="2800" b="1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Implements and oversees company policies.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Organizes meetings and internal events.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Maintains office infrastructure and equipment.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1425D3F-4878-4A48-BB06-63A627ACA97C}"/>
              </a:ext>
            </a:extLst>
          </p:cNvPr>
          <p:cNvSpPr txBox="1"/>
          <p:nvPr/>
        </p:nvSpPr>
        <p:spPr>
          <a:xfrm>
            <a:off x="4327556" y="2308634"/>
            <a:ext cx="4110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Administration</a:t>
            </a: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80241-C31A-2424-D03F-345FF7D5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03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2178F-2B0B-F070-E793-FAF91CD1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2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Departmental Overview: Knit Asia Ltd.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7AD3A-65AC-1FA1-97D5-A5A2D44175BE}"/>
              </a:ext>
            </a:extLst>
          </p:cNvPr>
          <p:cNvSpPr txBox="1"/>
          <p:nvPr/>
        </p:nvSpPr>
        <p:spPr>
          <a:xfrm>
            <a:off x="838200" y="3386349"/>
            <a:ext cx="10515600" cy="279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Maintains and updates employee records and databases.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Ensures adherence to labor laws and regulations.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Manages employee wages, benefits, and compensation.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Facilitates training and development programs.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Handles employee grievances and disciplinary actions.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CC71E-B5E8-9DD0-D3DF-94F6E32AD4F6}"/>
              </a:ext>
            </a:extLst>
          </p:cNvPr>
          <p:cNvSpPr txBox="1"/>
          <p:nvPr/>
        </p:nvSpPr>
        <p:spPr>
          <a:xfrm>
            <a:off x="2264859" y="2312069"/>
            <a:ext cx="7659233" cy="594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3600" b="1" dirty="0"/>
              <a:t>Human Resource and Compliance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6E81DF-BDCB-54EC-1FE9-3FCA5D0E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84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2178F-2B0B-F070-E793-FAF91CD1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Departmental Overview: Knit Asia Ltd.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BBD06E-AAE7-FADB-D740-D962CCF38DA7}"/>
              </a:ext>
            </a:extLst>
          </p:cNvPr>
          <p:cNvSpPr txBox="1"/>
          <p:nvPr/>
        </p:nvSpPr>
        <p:spPr>
          <a:xfrm>
            <a:off x="838200" y="3429000"/>
            <a:ext cx="10515600" cy="2752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Liaises with buyers and clients to showcase company capabilities and products.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Develops and implements pricing strategies.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Manages sample testing and product quality assessments.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Negotiates and finalizes order agreements.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Develops marketing materials and promotional strategies.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13B5A-863E-E8C1-9D58-DD086745E41B}"/>
              </a:ext>
            </a:extLst>
          </p:cNvPr>
          <p:cNvSpPr txBox="1"/>
          <p:nvPr/>
        </p:nvSpPr>
        <p:spPr>
          <a:xfrm>
            <a:off x="1929882" y="2408799"/>
            <a:ext cx="8329188" cy="594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3600" b="1" dirty="0"/>
              <a:t>Marketing and Merchandising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24902-2E9C-C03B-47C0-8850B0F8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243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2519E-03FB-B2D7-FBD3-AD59572B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Production Process Flowchart: Knit Asia Ltd.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TextBox 11">
            <a:extLst>
              <a:ext uri="{FF2B5EF4-FFF2-40B4-BE49-F238E27FC236}">
                <a16:creationId xmlns:a16="http://schemas.microsoft.com/office/drawing/2014/main" id="{AEA836A3-F24D-00B4-0880-8560B20A97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15794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4CB00-EE4A-D30E-1FD9-14144472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86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AC71F-02BA-4AD9-ADCA-3A7F9A421E4B}"/>
              </a:ext>
            </a:extLst>
          </p:cNvPr>
          <p:cNvSpPr txBox="1"/>
          <p:nvPr/>
        </p:nvSpPr>
        <p:spPr>
          <a:xfrm>
            <a:off x="4971310" y="961839"/>
            <a:ext cx="6811115" cy="3174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cap="all" spc="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insights from workers survey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Flowchart: Delay 1">
            <a:extLst>
              <a:ext uri="{FF2B5EF4-FFF2-40B4-BE49-F238E27FC236}">
                <a16:creationId xmlns:a16="http://schemas.microsoft.com/office/drawing/2014/main" id="{EB940172-CCDE-F80E-D782-F620ABB58F5D}"/>
              </a:ext>
            </a:extLst>
          </p:cNvPr>
          <p:cNvSpPr/>
          <p:nvPr/>
        </p:nvSpPr>
        <p:spPr>
          <a:xfrm>
            <a:off x="-1556657" y="-729345"/>
            <a:ext cx="7754983" cy="8358053"/>
          </a:xfrm>
          <a:prstGeom prst="flowChartDelay">
            <a:avLst/>
          </a:prstGeom>
          <a:blipFill dpi="0" rotWithShape="1">
            <a:blip r:embed="rId2">
              <a:alphaModFix amt="36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chemeClr val="accent3">
                <a:lumMod val="60000"/>
                <a:lumOff val="40000"/>
                <a:alpha val="5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059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34FE66F-373B-C5B2-13AC-7FA6273A14D8}"/>
              </a:ext>
            </a:extLst>
          </p:cNvPr>
          <p:cNvGrpSpPr/>
          <p:nvPr/>
        </p:nvGrpSpPr>
        <p:grpSpPr>
          <a:xfrm>
            <a:off x="6043252" y="1354224"/>
            <a:ext cx="304587" cy="4940660"/>
            <a:chOff x="5759311" y="1474755"/>
            <a:chExt cx="406116" cy="483115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D6A4F58-7822-ACEE-0105-576245835B28}"/>
                </a:ext>
              </a:extLst>
            </p:cNvPr>
            <p:cNvSpPr/>
            <p:nvPr/>
          </p:nvSpPr>
          <p:spPr>
            <a:xfrm>
              <a:off x="5759311" y="1474755"/>
              <a:ext cx="406116" cy="4831156"/>
            </a:xfrm>
            <a:custGeom>
              <a:avLst/>
              <a:gdLst>
                <a:gd name="connsiteX0" fmla="*/ 21478 w 406116"/>
                <a:gd name="connsiteY0" fmla="*/ 0 h 4831156"/>
                <a:gd name="connsiteX1" fmla="*/ 250471 w 406116"/>
                <a:gd name="connsiteY1" fmla="*/ 0 h 4831156"/>
                <a:gd name="connsiteX2" fmla="*/ 406116 w 406116"/>
                <a:gd name="connsiteY2" fmla="*/ 4831156 h 4831156"/>
                <a:gd name="connsiteX3" fmla="*/ 0 w 406116"/>
                <a:gd name="connsiteY3" fmla="*/ 4831156 h 483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116" h="4831156">
                  <a:moveTo>
                    <a:pt x="21478" y="0"/>
                  </a:moveTo>
                  <a:lnTo>
                    <a:pt x="250471" y="0"/>
                  </a:lnTo>
                  <a:lnTo>
                    <a:pt x="406116" y="4831156"/>
                  </a:lnTo>
                  <a:lnTo>
                    <a:pt x="0" y="4831156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651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35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A8F3102-965D-5824-48F7-F098EB7A795E}"/>
                </a:ext>
              </a:extLst>
            </p:cNvPr>
            <p:cNvSpPr/>
            <p:nvPr/>
          </p:nvSpPr>
          <p:spPr>
            <a:xfrm>
              <a:off x="5759311" y="1474755"/>
              <a:ext cx="125233" cy="4831156"/>
            </a:xfrm>
            <a:custGeom>
              <a:avLst/>
              <a:gdLst>
                <a:gd name="connsiteX0" fmla="*/ 21478 w 125233"/>
                <a:gd name="connsiteY0" fmla="*/ 0 h 4831156"/>
                <a:gd name="connsiteX1" fmla="*/ 125233 w 125233"/>
                <a:gd name="connsiteY1" fmla="*/ 0 h 4831156"/>
                <a:gd name="connsiteX2" fmla="*/ 125233 w 125233"/>
                <a:gd name="connsiteY2" fmla="*/ 4831156 h 4831156"/>
                <a:gd name="connsiteX3" fmla="*/ 0 w 125233"/>
                <a:gd name="connsiteY3" fmla="*/ 4831156 h 483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233" h="4831156">
                  <a:moveTo>
                    <a:pt x="21478" y="0"/>
                  </a:moveTo>
                  <a:lnTo>
                    <a:pt x="125233" y="0"/>
                  </a:lnTo>
                  <a:lnTo>
                    <a:pt x="125233" y="4831156"/>
                  </a:lnTo>
                  <a:lnTo>
                    <a:pt x="0" y="4831156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3174"/>
          </a:xfrm>
        </p:spPr>
        <p:txBody>
          <a:bodyPr>
            <a:noAutofit/>
          </a:bodyPr>
          <a:lstStyle/>
          <a:p>
            <a:r>
              <a:rPr lang="en-US" dirty="0"/>
              <a:t>Positive &amp; Negative Aspects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CC3DDE-8231-41E1-96A6-A58A45A9E356}"/>
              </a:ext>
            </a:extLst>
          </p:cNvPr>
          <p:cNvGrpSpPr/>
          <p:nvPr/>
        </p:nvGrpSpPr>
        <p:grpSpPr>
          <a:xfrm>
            <a:off x="5060207" y="1611148"/>
            <a:ext cx="2575262" cy="1083639"/>
            <a:chOff x="4686292" y="1551946"/>
            <a:chExt cx="2963099" cy="124683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8C3613-13AA-CDEB-1938-31E75B01F485}"/>
                </a:ext>
              </a:extLst>
            </p:cNvPr>
            <p:cNvGrpSpPr/>
            <p:nvPr/>
          </p:nvGrpSpPr>
          <p:grpSpPr>
            <a:xfrm>
              <a:off x="4686292" y="1551946"/>
              <a:ext cx="2963099" cy="1246835"/>
              <a:chOff x="4686292" y="1551946"/>
              <a:chExt cx="2963099" cy="1246835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D033AF-E4BF-36C7-175F-692EF92D10BC}"/>
                  </a:ext>
                </a:extLst>
              </p:cNvPr>
              <p:cNvSpPr/>
              <p:nvPr/>
            </p:nvSpPr>
            <p:spPr>
              <a:xfrm>
                <a:off x="4686302" y="2581071"/>
                <a:ext cx="2495239" cy="217710"/>
              </a:xfrm>
              <a:custGeom>
                <a:avLst/>
                <a:gdLst>
                  <a:gd name="connsiteX0" fmla="*/ 0 w 1264362"/>
                  <a:gd name="connsiteY0" fmla="*/ 0 h 39114"/>
                  <a:gd name="connsiteX1" fmla="*/ 1264362 w 1264362"/>
                  <a:gd name="connsiteY1" fmla="*/ 0 h 39114"/>
                  <a:gd name="connsiteX2" fmla="*/ 1264362 w 1264362"/>
                  <a:gd name="connsiteY2" fmla="*/ 39114 h 39114"/>
                  <a:gd name="connsiteX3" fmla="*/ 0 w 1264362"/>
                  <a:gd name="connsiteY3" fmla="*/ 39114 h 39114"/>
                  <a:gd name="connsiteX0" fmla="*/ 0 w 1264362"/>
                  <a:gd name="connsiteY0" fmla="*/ 0 h 39114"/>
                  <a:gd name="connsiteX1" fmla="*/ 645300 w 1264362"/>
                  <a:gd name="connsiteY1" fmla="*/ 1092 h 39114"/>
                  <a:gd name="connsiteX2" fmla="*/ 1264362 w 1264362"/>
                  <a:gd name="connsiteY2" fmla="*/ 0 h 39114"/>
                  <a:gd name="connsiteX3" fmla="*/ 1264362 w 1264362"/>
                  <a:gd name="connsiteY3" fmla="*/ 39114 h 39114"/>
                  <a:gd name="connsiteX4" fmla="*/ 0 w 1264362"/>
                  <a:gd name="connsiteY4" fmla="*/ 39114 h 39114"/>
                  <a:gd name="connsiteX5" fmla="*/ 0 w 1264362"/>
                  <a:gd name="connsiteY5" fmla="*/ 0 h 39114"/>
                  <a:gd name="connsiteX0" fmla="*/ 0 w 1264362"/>
                  <a:gd name="connsiteY0" fmla="*/ 71202 h 110316"/>
                  <a:gd name="connsiteX1" fmla="*/ 651872 w 1264362"/>
                  <a:gd name="connsiteY1" fmla="*/ 0 h 110316"/>
                  <a:gd name="connsiteX2" fmla="*/ 1264362 w 1264362"/>
                  <a:gd name="connsiteY2" fmla="*/ 71202 h 110316"/>
                  <a:gd name="connsiteX3" fmla="*/ 1264362 w 1264362"/>
                  <a:gd name="connsiteY3" fmla="*/ 110316 h 110316"/>
                  <a:gd name="connsiteX4" fmla="*/ 0 w 1264362"/>
                  <a:gd name="connsiteY4" fmla="*/ 110316 h 110316"/>
                  <a:gd name="connsiteX5" fmla="*/ 0 w 1264362"/>
                  <a:gd name="connsiteY5" fmla="*/ 71202 h 110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4362" h="110316">
                    <a:moveTo>
                      <a:pt x="0" y="71202"/>
                    </a:moveTo>
                    <a:lnTo>
                      <a:pt x="651872" y="0"/>
                    </a:lnTo>
                    <a:lnTo>
                      <a:pt x="1264362" y="71202"/>
                    </a:lnTo>
                    <a:lnTo>
                      <a:pt x="1264362" y="110316"/>
                    </a:lnTo>
                    <a:lnTo>
                      <a:pt x="0" y="110316"/>
                    </a:lnTo>
                    <a:lnTo>
                      <a:pt x="0" y="71202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651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EB47D31-5EE4-428B-BDB8-C01BE1FC73D8}"/>
                  </a:ext>
                </a:extLst>
              </p:cNvPr>
              <p:cNvSpPr/>
              <p:nvPr/>
            </p:nvSpPr>
            <p:spPr>
              <a:xfrm>
                <a:off x="7181541" y="2071785"/>
                <a:ext cx="467850" cy="726996"/>
              </a:xfrm>
              <a:custGeom>
                <a:avLst/>
                <a:gdLst>
                  <a:gd name="connsiteX0" fmla="*/ 0 w 237063"/>
                  <a:gd name="connsiteY0" fmla="*/ 329262 h 368376"/>
                  <a:gd name="connsiteX1" fmla="*/ 237064 w 237063"/>
                  <a:gd name="connsiteY1" fmla="*/ 0 h 368376"/>
                  <a:gd name="connsiteX2" fmla="*/ 237064 w 237063"/>
                  <a:gd name="connsiteY2" fmla="*/ 39114 h 368376"/>
                  <a:gd name="connsiteX3" fmla="*/ 0 w 237063"/>
                  <a:gd name="connsiteY3" fmla="*/ 368376 h 368376"/>
                  <a:gd name="connsiteX0" fmla="*/ 0 w 237064"/>
                  <a:gd name="connsiteY0" fmla="*/ 329262 h 368376"/>
                  <a:gd name="connsiteX1" fmla="*/ 103873 w 237064"/>
                  <a:gd name="connsiteY1" fmla="*/ 172623 h 368376"/>
                  <a:gd name="connsiteX2" fmla="*/ 237064 w 237064"/>
                  <a:gd name="connsiteY2" fmla="*/ 0 h 368376"/>
                  <a:gd name="connsiteX3" fmla="*/ 237064 w 237064"/>
                  <a:gd name="connsiteY3" fmla="*/ 39114 h 368376"/>
                  <a:gd name="connsiteX4" fmla="*/ 0 w 237064"/>
                  <a:gd name="connsiteY4" fmla="*/ 368376 h 368376"/>
                  <a:gd name="connsiteX5" fmla="*/ 0 w 237064"/>
                  <a:gd name="connsiteY5" fmla="*/ 329262 h 368376"/>
                  <a:gd name="connsiteX0" fmla="*/ 0 w 237064"/>
                  <a:gd name="connsiteY0" fmla="*/ 329262 h 368376"/>
                  <a:gd name="connsiteX1" fmla="*/ 64440 w 237064"/>
                  <a:gd name="connsiteY1" fmla="*/ 149621 h 368376"/>
                  <a:gd name="connsiteX2" fmla="*/ 237064 w 237064"/>
                  <a:gd name="connsiteY2" fmla="*/ 0 h 368376"/>
                  <a:gd name="connsiteX3" fmla="*/ 237064 w 237064"/>
                  <a:gd name="connsiteY3" fmla="*/ 39114 h 368376"/>
                  <a:gd name="connsiteX4" fmla="*/ 0 w 237064"/>
                  <a:gd name="connsiteY4" fmla="*/ 368376 h 368376"/>
                  <a:gd name="connsiteX5" fmla="*/ 0 w 237064"/>
                  <a:gd name="connsiteY5" fmla="*/ 329262 h 368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7064" h="368376">
                    <a:moveTo>
                      <a:pt x="0" y="329262"/>
                    </a:moveTo>
                    <a:lnTo>
                      <a:pt x="64440" y="149621"/>
                    </a:lnTo>
                    <a:lnTo>
                      <a:pt x="237064" y="0"/>
                    </a:lnTo>
                    <a:lnTo>
                      <a:pt x="237064" y="39114"/>
                    </a:lnTo>
                    <a:lnTo>
                      <a:pt x="0" y="368376"/>
                    </a:lnTo>
                    <a:lnTo>
                      <a:pt x="0" y="329262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651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75BDEE6-AE96-3608-EBA1-3C02089D7B98}"/>
                  </a:ext>
                </a:extLst>
              </p:cNvPr>
              <p:cNvSpPr/>
              <p:nvPr/>
            </p:nvSpPr>
            <p:spPr>
              <a:xfrm>
                <a:off x="4686292" y="1551946"/>
                <a:ext cx="2963089" cy="1169643"/>
              </a:xfrm>
              <a:custGeom>
                <a:avLst/>
                <a:gdLst>
                  <a:gd name="connsiteX0" fmla="*/ 39512 w 1501425"/>
                  <a:gd name="connsiteY0" fmla="*/ 158047 h 592669"/>
                  <a:gd name="connsiteX1" fmla="*/ 0 w 1501425"/>
                  <a:gd name="connsiteY1" fmla="*/ 592669 h 592669"/>
                  <a:gd name="connsiteX2" fmla="*/ 1264362 w 1501425"/>
                  <a:gd name="connsiteY2" fmla="*/ 592669 h 592669"/>
                  <a:gd name="connsiteX3" fmla="*/ 1501426 w 1501425"/>
                  <a:gd name="connsiteY3" fmla="*/ 263407 h 592669"/>
                  <a:gd name="connsiteX4" fmla="*/ 1501426 w 1501425"/>
                  <a:gd name="connsiteY4" fmla="*/ 263407 h 592669"/>
                  <a:gd name="connsiteX5" fmla="*/ 1145827 w 1501425"/>
                  <a:gd name="connsiteY5" fmla="*/ 0 h 592669"/>
                  <a:gd name="connsiteX0" fmla="*/ 39512 w 1501426"/>
                  <a:gd name="connsiteY0" fmla="*/ 158047 h 592669"/>
                  <a:gd name="connsiteX1" fmla="*/ 0 w 1501426"/>
                  <a:gd name="connsiteY1" fmla="*/ 592669 h 592669"/>
                  <a:gd name="connsiteX2" fmla="*/ 1264362 w 1501426"/>
                  <a:gd name="connsiteY2" fmla="*/ 592669 h 592669"/>
                  <a:gd name="connsiteX3" fmla="*/ 1501426 w 1501426"/>
                  <a:gd name="connsiteY3" fmla="*/ 263407 h 592669"/>
                  <a:gd name="connsiteX4" fmla="*/ 1479995 w 1501426"/>
                  <a:gd name="connsiteY4" fmla="*/ 303888 h 592669"/>
                  <a:gd name="connsiteX5" fmla="*/ 1145827 w 1501426"/>
                  <a:gd name="connsiteY5" fmla="*/ 0 h 592669"/>
                  <a:gd name="connsiteX6" fmla="*/ 39512 w 1501426"/>
                  <a:gd name="connsiteY6" fmla="*/ 158047 h 592669"/>
                  <a:gd name="connsiteX0" fmla="*/ 39512 w 1506189"/>
                  <a:gd name="connsiteY0" fmla="*/ 158047 h 592669"/>
                  <a:gd name="connsiteX1" fmla="*/ 0 w 1506189"/>
                  <a:gd name="connsiteY1" fmla="*/ 592669 h 592669"/>
                  <a:gd name="connsiteX2" fmla="*/ 1264362 w 1506189"/>
                  <a:gd name="connsiteY2" fmla="*/ 592669 h 592669"/>
                  <a:gd name="connsiteX3" fmla="*/ 1501426 w 1506189"/>
                  <a:gd name="connsiteY3" fmla="*/ 263407 h 592669"/>
                  <a:gd name="connsiteX4" fmla="*/ 1506189 w 1506189"/>
                  <a:gd name="connsiteY4" fmla="*/ 270551 h 592669"/>
                  <a:gd name="connsiteX5" fmla="*/ 1145827 w 1506189"/>
                  <a:gd name="connsiteY5" fmla="*/ 0 h 592669"/>
                  <a:gd name="connsiteX6" fmla="*/ 39512 w 1506189"/>
                  <a:gd name="connsiteY6" fmla="*/ 158047 h 592669"/>
                  <a:gd name="connsiteX0" fmla="*/ 39512 w 1501426"/>
                  <a:gd name="connsiteY0" fmla="*/ 158047 h 592669"/>
                  <a:gd name="connsiteX1" fmla="*/ 0 w 1501426"/>
                  <a:gd name="connsiteY1" fmla="*/ 592669 h 592669"/>
                  <a:gd name="connsiteX2" fmla="*/ 1264362 w 1501426"/>
                  <a:gd name="connsiteY2" fmla="*/ 592669 h 592669"/>
                  <a:gd name="connsiteX3" fmla="*/ 1501426 w 1501426"/>
                  <a:gd name="connsiteY3" fmla="*/ 263407 h 592669"/>
                  <a:gd name="connsiteX4" fmla="*/ 1145827 w 1501426"/>
                  <a:gd name="connsiteY4" fmla="*/ 0 h 592669"/>
                  <a:gd name="connsiteX5" fmla="*/ 39512 w 1501426"/>
                  <a:gd name="connsiteY5" fmla="*/ 158047 h 592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01426" h="592669">
                    <a:moveTo>
                      <a:pt x="39512" y="158047"/>
                    </a:moveTo>
                    <a:lnTo>
                      <a:pt x="0" y="592669"/>
                    </a:lnTo>
                    <a:lnTo>
                      <a:pt x="1264362" y="592669"/>
                    </a:lnTo>
                    <a:lnTo>
                      <a:pt x="1501426" y="263407"/>
                    </a:lnTo>
                    <a:lnTo>
                      <a:pt x="1145827" y="0"/>
                    </a:lnTo>
                    <a:lnTo>
                      <a:pt x="39512" y="158047"/>
                    </a:lnTo>
                    <a:close/>
                  </a:path>
                </a:pathLst>
              </a:custGeom>
              <a:solidFill>
                <a:schemeClr val="accent6"/>
              </a:solidFill>
              <a:ln w="651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00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F8F132-29AA-3884-62C6-3C34D2235DF3}"/>
                </a:ext>
              </a:extLst>
            </p:cNvPr>
            <p:cNvSpPr txBox="1"/>
            <p:nvPr/>
          </p:nvSpPr>
          <p:spPr>
            <a:xfrm rot="21441207">
              <a:off x="4792925" y="1912512"/>
              <a:ext cx="2488488" cy="67284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POSITIVES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12C263A-F2B1-3169-3CC0-E486A07099A4}"/>
              </a:ext>
            </a:extLst>
          </p:cNvPr>
          <p:cNvGrpSpPr/>
          <p:nvPr/>
        </p:nvGrpSpPr>
        <p:grpSpPr>
          <a:xfrm>
            <a:off x="4571011" y="2952767"/>
            <a:ext cx="2731525" cy="1233089"/>
            <a:chOff x="4014331" y="2967174"/>
            <a:chExt cx="3142895" cy="141879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5C6F8D-0AD1-4EBB-05AC-3AABCB0F2CE8}"/>
                </a:ext>
              </a:extLst>
            </p:cNvPr>
            <p:cNvGrpSpPr/>
            <p:nvPr/>
          </p:nvGrpSpPr>
          <p:grpSpPr>
            <a:xfrm>
              <a:off x="4014331" y="2967174"/>
              <a:ext cx="3142895" cy="1418793"/>
              <a:chOff x="4014331" y="2967174"/>
              <a:chExt cx="3142895" cy="1418793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DF7600-40B8-7511-0BD6-0359CD59DEA3}"/>
                  </a:ext>
                </a:extLst>
              </p:cNvPr>
              <p:cNvSpPr/>
              <p:nvPr/>
            </p:nvSpPr>
            <p:spPr>
              <a:xfrm>
                <a:off x="4014345" y="3683890"/>
                <a:ext cx="827065" cy="702077"/>
              </a:xfrm>
              <a:custGeom>
                <a:avLst/>
                <a:gdLst>
                  <a:gd name="connsiteX0" fmla="*/ 33 w 419081"/>
                  <a:gd name="connsiteY0" fmla="*/ -8 h 355748"/>
                  <a:gd name="connsiteX1" fmla="*/ 419115 w 419081"/>
                  <a:gd name="connsiteY1" fmla="*/ 316627 h 355748"/>
                  <a:gd name="connsiteX2" fmla="*/ 419115 w 419081"/>
                  <a:gd name="connsiteY2" fmla="*/ 355741 h 355748"/>
                  <a:gd name="connsiteX3" fmla="*/ 33 w 419081"/>
                  <a:gd name="connsiteY3" fmla="*/ 39106 h 355748"/>
                  <a:gd name="connsiteX0" fmla="*/ 0 w 419082"/>
                  <a:gd name="connsiteY0" fmla="*/ 0 h 355749"/>
                  <a:gd name="connsiteX1" fmla="*/ 220134 w 419082"/>
                  <a:gd name="connsiteY1" fmla="*/ 167412 h 355749"/>
                  <a:gd name="connsiteX2" fmla="*/ 419082 w 419082"/>
                  <a:gd name="connsiteY2" fmla="*/ 316635 h 355749"/>
                  <a:gd name="connsiteX3" fmla="*/ 419082 w 419082"/>
                  <a:gd name="connsiteY3" fmla="*/ 355749 h 355749"/>
                  <a:gd name="connsiteX4" fmla="*/ 0 w 419082"/>
                  <a:gd name="connsiteY4" fmla="*/ 39114 h 355749"/>
                  <a:gd name="connsiteX5" fmla="*/ 0 w 419082"/>
                  <a:gd name="connsiteY5" fmla="*/ 0 h 355749"/>
                  <a:gd name="connsiteX0" fmla="*/ 0 w 419082"/>
                  <a:gd name="connsiteY0" fmla="*/ 0 h 355749"/>
                  <a:gd name="connsiteX1" fmla="*/ 269425 w 419082"/>
                  <a:gd name="connsiteY1" fmla="*/ 124693 h 355749"/>
                  <a:gd name="connsiteX2" fmla="*/ 419082 w 419082"/>
                  <a:gd name="connsiteY2" fmla="*/ 316635 h 355749"/>
                  <a:gd name="connsiteX3" fmla="*/ 419082 w 419082"/>
                  <a:gd name="connsiteY3" fmla="*/ 355749 h 355749"/>
                  <a:gd name="connsiteX4" fmla="*/ 0 w 419082"/>
                  <a:gd name="connsiteY4" fmla="*/ 39114 h 355749"/>
                  <a:gd name="connsiteX5" fmla="*/ 0 w 419082"/>
                  <a:gd name="connsiteY5" fmla="*/ 0 h 35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082" h="355749">
                    <a:moveTo>
                      <a:pt x="0" y="0"/>
                    </a:moveTo>
                    <a:lnTo>
                      <a:pt x="269425" y="124693"/>
                    </a:lnTo>
                    <a:lnTo>
                      <a:pt x="419082" y="316635"/>
                    </a:lnTo>
                    <a:lnTo>
                      <a:pt x="419082" y="355749"/>
                    </a:lnTo>
                    <a:lnTo>
                      <a:pt x="0" y="391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51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49AF24A-B435-59AA-C42A-3ECFB54A36D5}"/>
                  </a:ext>
                </a:extLst>
              </p:cNvPr>
              <p:cNvSpPr/>
              <p:nvPr/>
            </p:nvSpPr>
            <p:spPr>
              <a:xfrm>
                <a:off x="4841459" y="4098587"/>
                <a:ext cx="2315767" cy="287366"/>
              </a:xfrm>
              <a:custGeom>
                <a:avLst/>
                <a:gdLst>
                  <a:gd name="connsiteX0" fmla="*/ 33 w 1173421"/>
                  <a:gd name="connsiteY0" fmla="*/ 102432 h 141553"/>
                  <a:gd name="connsiteX1" fmla="*/ 1173455 w 1173421"/>
                  <a:gd name="connsiteY1" fmla="*/ -8 h 141553"/>
                  <a:gd name="connsiteX2" fmla="*/ 1173455 w 1173421"/>
                  <a:gd name="connsiteY2" fmla="*/ 39106 h 141553"/>
                  <a:gd name="connsiteX3" fmla="*/ 33 w 1173421"/>
                  <a:gd name="connsiteY3" fmla="*/ 141546 h 141553"/>
                  <a:gd name="connsiteX0" fmla="*/ 0 w 1173422"/>
                  <a:gd name="connsiteY0" fmla="*/ 102440 h 141554"/>
                  <a:gd name="connsiteX1" fmla="*/ 543679 w 1173422"/>
                  <a:gd name="connsiteY1" fmla="*/ 48520 h 141554"/>
                  <a:gd name="connsiteX2" fmla="*/ 1173422 w 1173422"/>
                  <a:gd name="connsiteY2" fmla="*/ 0 h 141554"/>
                  <a:gd name="connsiteX3" fmla="*/ 1173422 w 1173422"/>
                  <a:gd name="connsiteY3" fmla="*/ 39114 h 141554"/>
                  <a:gd name="connsiteX4" fmla="*/ 0 w 1173422"/>
                  <a:gd name="connsiteY4" fmla="*/ 141554 h 141554"/>
                  <a:gd name="connsiteX5" fmla="*/ 0 w 1173422"/>
                  <a:gd name="connsiteY5" fmla="*/ 102440 h 141554"/>
                  <a:gd name="connsiteX0" fmla="*/ 0 w 1173422"/>
                  <a:gd name="connsiteY0" fmla="*/ 106497 h 145611"/>
                  <a:gd name="connsiteX1" fmla="*/ 533821 w 1173422"/>
                  <a:gd name="connsiteY1" fmla="*/ 0 h 145611"/>
                  <a:gd name="connsiteX2" fmla="*/ 1173422 w 1173422"/>
                  <a:gd name="connsiteY2" fmla="*/ 4057 h 145611"/>
                  <a:gd name="connsiteX3" fmla="*/ 1173422 w 1173422"/>
                  <a:gd name="connsiteY3" fmla="*/ 43171 h 145611"/>
                  <a:gd name="connsiteX4" fmla="*/ 0 w 1173422"/>
                  <a:gd name="connsiteY4" fmla="*/ 145611 h 145611"/>
                  <a:gd name="connsiteX5" fmla="*/ 0 w 1173422"/>
                  <a:gd name="connsiteY5" fmla="*/ 106497 h 14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3422" h="145611">
                    <a:moveTo>
                      <a:pt x="0" y="106497"/>
                    </a:moveTo>
                    <a:lnTo>
                      <a:pt x="533821" y="0"/>
                    </a:lnTo>
                    <a:lnTo>
                      <a:pt x="1173422" y="4057"/>
                    </a:lnTo>
                    <a:lnTo>
                      <a:pt x="1173422" y="43171"/>
                    </a:lnTo>
                    <a:lnTo>
                      <a:pt x="0" y="145611"/>
                    </a:lnTo>
                    <a:lnTo>
                      <a:pt x="0" y="106497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651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4933F25-2293-35C2-CC86-1C042E7B130A}"/>
                  </a:ext>
                </a:extLst>
              </p:cNvPr>
              <p:cNvSpPr/>
              <p:nvPr/>
            </p:nvSpPr>
            <p:spPr>
              <a:xfrm>
                <a:off x="4014331" y="2967174"/>
                <a:ext cx="3142829" cy="1341666"/>
              </a:xfrm>
              <a:custGeom>
                <a:avLst/>
                <a:gdLst>
                  <a:gd name="connsiteX0" fmla="*/ 1518024 w 1592502"/>
                  <a:gd name="connsiteY0" fmla="*/ 65182 h 679835"/>
                  <a:gd name="connsiteX1" fmla="*/ 353924 w 1592502"/>
                  <a:gd name="connsiteY1" fmla="*/ -8 h 679835"/>
                  <a:gd name="connsiteX2" fmla="*/ 33 w 1592502"/>
                  <a:gd name="connsiteY2" fmla="*/ 363192 h 679835"/>
                  <a:gd name="connsiteX3" fmla="*/ 419115 w 1592502"/>
                  <a:gd name="connsiteY3" fmla="*/ 679827 h 679835"/>
                  <a:gd name="connsiteX4" fmla="*/ 419115 w 1592502"/>
                  <a:gd name="connsiteY4" fmla="*/ 679827 h 679835"/>
                  <a:gd name="connsiteX5" fmla="*/ 1592536 w 1592502"/>
                  <a:gd name="connsiteY5" fmla="*/ 577387 h 679835"/>
                  <a:gd name="connsiteX6" fmla="*/ 1592536 w 1592502"/>
                  <a:gd name="connsiteY6" fmla="*/ 577387 h 67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2502" h="679835">
                    <a:moveTo>
                      <a:pt x="1518024" y="65182"/>
                    </a:moveTo>
                    <a:lnTo>
                      <a:pt x="353924" y="-8"/>
                    </a:lnTo>
                    <a:lnTo>
                      <a:pt x="33" y="363192"/>
                    </a:lnTo>
                    <a:lnTo>
                      <a:pt x="419115" y="679827"/>
                    </a:lnTo>
                    <a:lnTo>
                      <a:pt x="419115" y="679827"/>
                    </a:lnTo>
                    <a:lnTo>
                      <a:pt x="1592536" y="577387"/>
                    </a:lnTo>
                    <a:lnTo>
                      <a:pt x="1592536" y="577387"/>
                    </a:lnTo>
                    <a:close/>
                  </a:path>
                </a:pathLst>
              </a:custGeom>
              <a:solidFill>
                <a:schemeClr val="accent2"/>
              </a:solidFill>
              <a:ln w="651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00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1BAD24-3226-1F77-D7BE-0A2FDD16CC7B}"/>
                </a:ext>
              </a:extLst>
            </p:cNvPr>
            <p:cNvSpPr txBox="1"/>
            <p:nvPr/>
          </p:nvSpPr>
          <p:spPr>
            <a:xfrm rot="21441207">
              <a:off x="4392437" y="3289335"/>
              <a:ext cx="2643861" cy="67284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NEGATIVES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F238566-858C-2545-808B-AA533DAB4321}"/>
              </a:ext>
            </a:extLst>
          </p:cNvPr>
          <p:cNvSpPr txBox="1"/>
          <p:nvPr/>
        </p:nvSpPr>
        <p:spPr>
          <a:xfrm>
            <a:off x="8418728" y="3021392"/>
            <a:ext cx="3166720" cy="92333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b="1" cap="all" noProof="1">
                <a:solidFill>
                  <a:schemeClr val="accent6">
                    <a:lumMod val="50000"/>
                  </a:schemeClr>
                </a:solidFill>
              </a:rPr>
              <a:t>Management address the safety concerns of the workers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FDCE1E-A181-D5CD-3189-6D24971AB680}"/>
              </a:ext>
            </a:extLst>
          </p:cNvPr>
          <p:cNvSpPr txBox="1"/>
          <p:nvPr/>
        </p:nvSpPr>
        <p:spPr>
          <a:xfrm>
            <a:off x="8418728" y="4493116"/>
            <a:ext cx="3166720" cy="92333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b="1" cap="all" noProof="1">
                <a:solidFill>
                  <a:schemeClr val="accent6">
                    <a:lumMod val="50000"/>
                  </a:schemeClr>
                </a:solidFill>
              </a:rPr>
              <a:t>Machines and different tools are well-maintained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C208CC-0284-70BE-2DAE-98C3498ED0EE}"/>
              </a:ext>
            </a:extLst>
          </p:cNvPr>
          <p:cNvSpPr txBox="1"/>
          <p:nvPr/>
        </p:nvSpPr>
        <p:spPr>
          <a:xfrm>
            <a:off x="830809" y="4310331"/>
            <a:ext cx="3659279" cy="646331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b="1" cap="all" noProof="1">
                <a:solidFill>
                  <a:schemeClr val="accent2">
                    <a:lumMod val="75000"/>
                  </a:schemeClr>
                </a:solidFill>
              </a:rPr>
              <a:t>Reluctant to use safety equipment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48814-6818-D51B-058A-237A04E0E7B0}"/>
              </a:ext>
            </a:extLst>
          </p:cNvPr>
          <p:cNvSpPr txBox="1"/>
          <p:nvPr/>
        </p:nvSpPr>
        <p:spPr>
          <a:xfrm>
            <a:off x="8418728" y="1546597"/>
            <a:ext cx="3166720" cy="92333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b="1" cap="all" noProof="1">
                <a:solidFill>
                  <a:schemeClr val="accent6">
                    <a:lumMod val="50000"/>
                  </a:schemeClr>
                </a:solidFill>
              </a:rPr>
              <a:t>Familiar with the emergency evacuation procedures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0F4284-1309-392D-ADED-F31182382E54}"/>
              </a:ext>
            </a:extLst>
          </p:cNvPr>
          <p:cNvSpPr txBox="1"/>
          <p:nvPr/>
        </p:nvSpPr>
        <p:spPr>
          <a:xfrm>
            <a:off x="757806" y="3133146"/>
            <a:ext cx="3732281" cy="92333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b="1" cap="all" noProof="1">
                <a:solidFill>
                  <a:schemeClr val="accent2">
                    <a:lumMod val="75000"/>
                  </a:schemeClr>
                </a:solidFill>
              </a:rPr>
              <a:t>Experience health issues, such as: back pain, neck pain due to prolonged sitting</a:t>
            </a:r>
          </a:p>
        </p:txBody>
      </p:sp>
      <p:pic>
        <p:nvPicPr>
          <p:cNvPr id="57" name="Graphic 56" descr="Checkmark with solid fill">
            <a:extLst>
              <a:ext uri="{FF2B5EF4-FFF2-40B4-BE49-F238E27FC236}">
                <a16:creationId xmlns:a16="http://schemas.microsoft.com/office/drawing/2014/main" id="{6DB51AC6-EA0D-B518-4566-17BB21086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0154" y="1794419"/>
            <a:ext cx="460361" cy="460361"/>
          </a:xfrm>
          <a:prstGeom prst="rect">
            <a:avLst/>
          </a:prstGeom>
        </p:spPr>
      </p:pic>
      <p:pic>
        <p:nvPicPr>
          <p:cNvPr id="60" name="Graphic 59" descr="Checkmark with solid fill">
            <a:extLst>
              <a:ext uri="{FF2B5EF4-FFF2-40B4-BE49-F238E27FC236}">
                <a16:creationId xmlns:a16="http://schemas.microsoft.com/office/drawing/2014/main" id="{2C0A929F-4392-5732-F5E3-D969264DD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0154" y="3250522"/>
            <a:ext cx="460361" cy="460361"/>
          </a:xfrm>
          <a:prstGeom prst="rect">
            <a:avLst/>
          </a:prstGeom>
        </p:spPr>
      </p:pic>
      <p:pic>
        <p:nvPicPr>
          <p:cNvPr id="63" name="Graphic 62" descr="Checkmark with solid fill">
            <a:extLst>
              <a:ext uri="{FF2B5EF4-FFF2-40B4-BE49-F238E27FC236}">
                <a16:creationId xmlns:a16="http://schemas.microsoft.com/office/drawing/2014/main" id="{F621224F-3944-9D0B-FBD3-76B6C0DC1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0154" y="4724600"/>
            <a:ext cx="460361" cy="460361"/>
          </a:xfrm>
          <a:prstGeom prst="rect">
            <a:avLst/>
          </a:prstGeom>
        </p:spPr>
      </p:pic>
      <p:pic>
        <p:nvPicPr>
          <p:cNvPr id="65" name="Graphic 64" descr="Close with solid fill">
            <a:extLst>
              <a:ext uri="{FF2B5EF4-FFF2-40B4-BE49-F238E27FC236}">
                <a16:creationId xmlns:a16="http://schemas.microsoft.com/office/drawing/2014/main" id="{6C380562-451B-CA40-EA22-67EE564F0A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320" y="3365068"/>
            <a:ext cx="459486" cy="459486"/>
          </a:xfrm>
          <a:prstGeom prst="rect">
            <a:avLst/>
          </a:prstGeom>
        </p:spPr>
      </p:pic>
      <p:pic>
        <p:nvPicPr>
          <p:cNvPr id="67" name="Graphic 66" descr="Close with solid fill">
            <a:extLst>
              <a:ext uri="{FF2B5EF4-FFF2-40B4-BE49-F238E27FC236}">
                <a16:creationId xmlns:a16="http://schemas.microsoft.com/office/drawing/2014/main" id="{A152E5E5-E1BC-043D-6EAC-0EB0B70CE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320" y="4403753"/>
            <a:ext cx="459486" cy="4594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C779F9-689C-75FE-D6B5-BBC0ABA853B2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E6932-2B86-D409-8ACA-712C9447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68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67161-CACD-C5DE-AEF0-96DF587C4866}"/>
              </a:ext>
            </a:extLst>
          </p:cNvPr>
          <p:cNvSpPr txBox="1"/>
          <p:nvPr/>
        </p:nvSpPr>
        <p:spPr>
          <a:xfrm>
            <a:off x="0" y="890225"/>
            <a:ext cx="7994650" cy="36109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 defTabSz="9144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cap="all" spc="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manpower utilization and removing bottleneck in a sewing 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39BC00-4459-E41A-3695-47DE9DDF6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13" b="24850"/>
          <a:stretch/>
        </p:blipFill>
        <p:spPr>
          <a:xfrm>
            <a:off x="7673010" y="-118237"/>
            <a:ext cx="7033590" cy="7275449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F69FC4-7175-0792-6693-AEE7E37A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87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833235-9B2C-1836-3F58-209A5CDF341B}"/>
              </a:ext>
            </a:extLst>
          </p:cNvPr>
          <p:cNvSpPr txBox="1"/>
          <p:nvPr/>
        </p:nvSpPr>
        <p:spPr>
          <a:xfrm>
            <a:off x="0" y="120568"/>
            <a:ext cx="11887200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2800" b="1" cap="all" spc="600" dirty="0">
                <a:latin typeface="+mj-lt"/>
                <a:ea typeface="+mj-ea"/>
              </a:rPr>
              <a:t>Time study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47A07-D117-C1CF-50CE-04D74FF3E0E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06249" y="1162829"/>
            <a:ext cx="6485993" cy="4757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9152C-EA0D-F4F3-6CD7-FDB2A2717626}"/>
              </a:ext>
            </a:extLst>
          </p:cNvPr>
          <p:cNvSpPr txBox="1"/>
          <p:nvPr/>
        </p:nvSpPr>
        <p:spPr>
          <a:xfrm>
            <a:off x="287695" y="1573911"/>
            <a:ext cx="4412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/>
              <a:t>Average cycle time was calculated per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55631-9BA7-BFB1-1091-7C975EF07732}"/>
              </a:ext>
            </a:extLst>
          </p:cNvPr>
          <p:cNvSpPr txBox="1"/>
          <p:nvPr/>
        </p:nvSpPr>
        <p:spPr>
          <a:xfrm>
            <a:off x="9225026" y="895321"/>
            <a:ext cx="2454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Table. Unbalanced time study sheet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2F354E-2996-AC6E-3A5C-64810DFA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E5DB3-39FE-C46F-2213-B2C0D947E735}"/>
              </a:ext>
            </a:extLst>
          </p:cNvPr>
          <p:cNvSpPr txBox="1"/>
          <p:nvPr/>
        </p:nvSpPr>
        <p:spPr>
          <a:xfrm>
            <a:off x="287694" y="2532111"/>
            <a:ext cx="4412323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Normal time = Avg. cycle time * rating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ea typeface="Cambria Math" panose="02040503050406030204" pitchFamily="18" charset="0"/>
              </a:rPr>
              <a:t>SMV = Normal time + Normal time * Allowance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ea typeface="Cambria Math" panose="02040503050406030204" pitchFamily="18" charset="0"/>
              </a:rPr>
              <a:t>Capacity = 60/SMV </a:t>
            </a:r>
          </a:p>
        </p:txBody>
      </p:sp>
    </p:spTree>
    <p:extLst>
      <p:ext uri="{BB962C8B-B14F-4D97-AF65-F5344CB8AC3E}">
        <p14:creationId xmlns:p14="http://schemas.microsoft.com/office/powerpoint/2010/main" val="235717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152C56-D6B7-58E7-92A0-EE1DDED82A9E}"/>
              </a:ext>
            </a:extLst>
          </p:cNvPr>
          <p:cNvSpPr txBox="1"/>
          <p:nvPr/>
        </p:nvSpPr>
        <p:spPr>
          <a:xfrm>
            <a:off x="0" y="120568"/>
            <a:ext cx="11887200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2800" b="1" cap="all" spc="600" dirty="0">
                <a:latin typeface="+mj-lt"/>
                <a:ea typeface="+mj-ea"/>
              </a:rPr>
              <a:t>Finding bottleneck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9CC727-BAFD-AEEB-0C7D-25CA56B68823}"/>
              </a:ext>
            </a:extLst>
          </p:cNvPr>
          <p:cNvGrpSpPr/>
          <p:nvPr/>
        </p:nvGrpSpPr>
        <p:grpSpPr>
          <a:xfrm>
            <a:off x="3704755" y="949501"/>
            <a:ext cx="7930445" cy="4468001"/>
            <a:chOff x="0" y="0"/>
            <a:chExt cx="6561455" cy="35509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33EE4-BB1F-0863-B269-846932525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0" y="0"/>
              <a:ext cx="6561455" cy="3550920"/>
            </a:xfrm>
            <a:prstGeom prst="rect">
              <a:avLst/>
            </a:prstGeom>
            <a:noFill/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65D472F-4007-87F5-11E1-E98104A21C5F}"/>
                </a:ext>
              </a:extLst>
            </p:cNvPr>
            <p:cNvCxnSpPr/>
            <p:nvPr/>
          </p:nvCxnSpPr>
          <p:spPr>
            <a:xfrm>
              <a:off x="263769" y="1629507"/>
              <a:ext cx="627380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70C377C-3AC9-154A-E81E-81E860D3A188}"/>
              </a:ext>
            </a:extLst>
          </p:cNvPr>
          <p:cNvSpPr/>
          <p:nvPr/>
        </p:nvSpPr>
        <p:spPr>
          <a:xfrm>
            <a:off x="4582622" y="3735555"/>
            <a:ext cx="170688" cy="72861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F02F6E-29F5-9C6D-6A7A-E7E38546C921}"/>
              </a:ext>
            </a:extLst>
          </p:cNvPr>
          <p:cNvSpPr/>
          <p:nvPr/>
        </p:nvSpPr>
        <p:spPr>
          <a:xfrm>
            <a:off x="6710134" y="3735557"/>
            <a:ext cx="133303" cy="66946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76CDEE-B9CC-848F-0492-C4DCA985493E}"/>
              </a:ext>
            </a:extLst>
          </p:cNvPr>
          <p:cNvSpPr/>
          <p:nvPr/>
        </p:nvSpPr>
        <p:spPr>
          <a:xfrm>
            <a:off x="6875867" y="3735556"/>
            <a:ext cx="193548" cy="121162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EAEEC9-A0BE-42A3-89CB-F2B17F8351D6}"/>
              </a:ext>
            </a:extLst>
          </p:cNvPr>
          <p:cNvSpPr/>
          <p:nvPr/>
        </p:nvSpPr>
        <p:spPr>
          <a:xfrm>
            <a:off x="10103020" y="3735556"/>
            <a:ext cx="170688" cy="121162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7D484-7C7D-8BF2-2560-B825975547EC}"/>
              </a:ext>
            </a:extLst>
          </p:cNvPr>
          <p:cNvSpPr txBox="1"/>
          <p:nvPr/>
        </p:nvSpPr>
        <p:spPr>
          <a:xfrm>
            <a:off x="91440" y="1999190"/>
            <a:ext cx="3291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000" dirty="0"/>
              <a:t>Bottleneck occurs in 2</a:t>
            </a:r>
            <a:r>
              <a:rPr lang="en-GB" sz="2000" baseline="30000" dirty="0"/>
              <a:t>nd</a:t>
            </a:r>
            <a:r>
              <a:rPr lang="en-GB" sz="2000" dirty="0"/>
              <a:t>, 14</a:t>
            </a:r>
            <a:r>
              <a:rPr lang="en-GB" sz="2000" baseline="30000" dirty="0"/>
              <a:t>th</a:t>
            </a:r>
            <a:r>
              <a:rPr lang="en-GB" sz="2000" dirty="0"/>
              <a:t>,15</a:t>
            </a:r>
            <a:r>
              <a:rPr lang="en-GB" sz="2000" baseline="30000" dirty="0"/>
              <a:t>th</a:t>
            </a:r>
            <a:r>
              <a:rPr lang="en-GB" sz="2000" dirty="0"/>
              <a:t> and 33</a:t>
            </a:r>
            <a:r>
              <a:rPr lang="en-GB" sz="2000" baseline="30000" dirty="0"/>
              <a:t>rd</a:t>
            </a:r>
            <a:r>
              <a:rPr lang="en-GB" sz="2000" dirty="0"/>
              <a:t> process, where capacity is below 75pcs/hr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4B58C-6B00-F319-3A7C-EC169833A947}"/>
              </a:ext>
            </a:extLst>
          </p:cNvPr>
          <p:cNvSpPr txBox="1"/>
          <p:nvPr/>
        </p:nvSpPr>
        <p:spPr>
          <a:xfrm>
            <a:off x="9445975" y="5436659"/>
            <a:ext cx="2380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Fig. Unbalanced time study bar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F82D11-08AA-EFB0-F18B-324E752E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867BF-5260-D3CD-6B83-1A94C6267A64}"/>
              </a:ext>
            </a:extLst>
          </p:cNvPr>
          <p:cNvSpPr txBox="1"/>
          <p:nvPr/>
        </p:nvSpPr>
        <p:spPr>
          <a:xfrm>
            <a:off x="91440" y="1189312"/>
            <a:ext cx="3291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GB" sz="2000" dirty="0"/>
              <a:t>Hourly production target 75 pcs/hr</a:t>
            </a:r>
          </a:p>
        </p:txBody>
      </p:sp>
    </p:spTree>
    <p:extLst>
      <p:ext uri="{BB962C8B-B14F-4D97-AF65-F5344CB8AC3E}">
        <p14:creationId xmlns:p14="http://schemas.microsoft.com/office/powerpoint/2010/main" val="1822659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FB214D-323C-65CF-E327-4C469DC555A7}"/>
              </a:ext>
            </a:extLst>
          </p:cNvPr>
          <p:cNvSpPr txBox="1"/>
          <p:nvPr/>
        </p:nvSpPr>
        <p:spPr>
          <a:xfrm>
            <a:off x="-1" y="120568"/>
            <a:ext cx="11986591" cy="757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2400" b="1" cap="all" spc="600" dirty="0">
                <a:latin typeface="+mj-lt"/>
                <a:ea typeface="+mj-ea"/>
              </a:rPr>
              <a:t>Proposed solution to remove bottleneck and utilize manpower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3C102-274E-3CF7-3FAF-8F61AD240C8F}"/>
              </a:ext>
            </a:extLst>
          </p:cNvPr>
          <p:cNvSpPr txBox="1"/>
          <p:nvPr/>
        </p:nvSpPr>
        <p:spPr>
          <a:xfrm>
            <a:off x="484633" y="2070378"/>
            <a:ext cx="5230368" cy="281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Work-share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U-shape layout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Replace worker in the bottleneck process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Change the machine layout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Assign an additional worker to the bottleneck area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11EFF0-F4CB-C76C-3CA1-076E097ED0F7}"/>
              </a:ext>
            </a:extLst>
          </p:cNvPr>
          <p:cNvGrpSpPr/>
          <p:nvPr/>
        </p:nvGrpSpPr>
        <p:grpSpPr>
          <a:xfrm>
            <a:off x="5902447" y="1769164"/>
            <a:ext cx="5622776" cy="2626037"/>
            <a:chOff x="6262718" y="1969840"/>
            <a:chExt cx="4896484" cy="21023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2FFB3E-1515-B3DD-5EF3-60859109B565}"/>
                </a:ext>
              </a:extLst>
            </p:cNvPr>
            <p:cNvGrpSpPr/>
            <p:nvPr/>
          </p:nvGrpSpPr>
          <p:grpSpPr>
            <a:xfrm>
              <a:off x="6262718" y="1969840"/>
              <a:ext cx="4896484" cy="1838326"/>
              <a:chOff x="0" y="0"/>
              <a:chExt cx="4896583" cy="183855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B15EFFC-0CA1-44FA-70A3-28C07E0700C9}"/>
                  </a:ext>
                </a:extLst>
              </p:cNvPr>
              <p:cNvGrpSpPr/>
              <p:nvPr/>
            </p:nvGrpSpPr>
            <p:grpSpPr>
              <a:xfrm>
                <a:off x="323850" y="942975"/>
                <a:ext cx="4186517" cy="269875"/>
                <a:chOff x="0" y="0"/>
                <a:chExt cx="5340928" cy="270164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E2DD4747-39A6-F54A-BD2A-E401700B0F8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340928" cy="117764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>
                      <a:shade val="15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91559CAB-C675-10C6-8EFC-78B47B113754}"/>
                    </a:ext>
                  </a:extLst>
                </p:cNvPr>
                <p:cNvSpPr/>
                <p:nvPr/>
              </p:nvSpPr>
              <p:spPr>
                <a:xfrm>
                  <a:off x="0" y="152400"/>
                  <a:ext cx="5340928" cy="117764"/>
                </a:xfrm>
                <a:prstGeom prst="rect">
                  <a:avLst/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>
                      <a:shade val="15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522B924-DA22-3DEC-9E6E-431C6C4DD336}"/>
                  </a:ext>
                </a:extLst>
              </p:cNvPr>
              <p:cNvGrpSpPr/>
              <p:nvPr/>
            </p:nvGrpSpPr>
            <p:grpSpPr>
              <a:xfrm>
                <a:off x="371475" y="704850"/>
                <a:ext cx="4055444" cy="186864"/>
                <a:chOff x="0" y="0"/>
                <a:chExt cx="4055444" cy="186864"/>
              </a:xfrm>
              <a:solidFill>
                <a:srgbClr val="44546A">
                  <a:lumMod val="60000"/>
                  <a:lumOff val="40000"/>
                </a:srgbClr>
              </a:solidFill>
            </p:grpSpPr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174BADE3-0827-757E-040E-7A40D00AC24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450B1DDE-D364-9A64-B9E2-8B4ECFC392C5}"/>
                    </a:ext>
                  </a:extLst>
                </p:cNvPr>
                <p:cNvSpPr/>
                <p:nvPr/>
              </p:nvSpPr>
              <p:spPr>
                <a:xfrm>
                  <a:off x="240792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FED856CA-2944-D95D-0794-F742E66537EA}"/>
                    </a:ext>
                  </a:extLst>
                </p:cNvPr>
                <p:cNvSpPr/>
                <p:nvPr/>
              </p:nvSpPr>
              <p:spPr>
                <a:xfrm>
                  <a:off x="481584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BB4791D7-D759-418C-C2AC-E7003FACA5F4}"/>
                    </a:ext>
                  </a:extLst>
                </p:cNvPr>
                <p:cNvSpPr/>
                <p:nvPr/>
              </p:nvSpPr>
              <p:spPr>
                <a:xfrm>
                  <a:off x="725424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A680377E-640A-13FD-0918-9776362E87CE}"/>
                    </a:ext>
                  </a:extLst>
                </p:cNvPr>
                <p:cNvSpPr/>
                <p:nvPr/>
              </p:nvSpPr>
              <p:spPr>
                <a:xfrm>
                  <a:off x="96621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21D49AC7-880B-4B7A-DE1A-A211480847F6}"/>
                    </a:ext>
                  </a:extLst>
                </p:cNvPr>
                <p:cNvSpPr/>
                <p:nvPr/>
              </p:nvSpPr>
              <p:spPr>
                <a:xfrm>
                  <a:off x="121005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423C1D57-E9E2-CA4D-E49D-8A4FA5756531}"/>
                    </a:ext>
                  </a:extLst>
                </p:cNvPr>
                <p:cNvSpPr/>
                <p:nvPr/>
              </p:nvSpPr>
              <p:spPr>
                <a:xfrm>
                  <a:off x="145389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3" name="Rectangle: Rounded Corners 52">
                  <a:extLst>
                    <a:ext uri="{FF2B5EF4-FFF2-40B4-BE49-F238E27FC236}">
                      <a16:creationId xmlns:a16="http://schemas.microsoft.com/office/drawing/2014/main" id="{1CD10C3B-FD95-357D-ED4D-71E848AFCD24}"/>
                    </a:ext>
                  </a:extLst>
                </p:cNvPr>
                <p:cNvSpPr/>
                <p:nvPr/>
              </p:nvSpPr>
              <p:spPr>
                <a:xfrm>
                  <a:off x="169164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E02A8224-0BD6-3D24-7274-C7C7643B597D}"/>
                    </a:ext>
                  </a:extLst>
                </p:cNvPr>
                <p:cNvSpPr/>
                <p:nvPr/>
              </p:nvSpPr>
              <p:spPr>
                <a:xfrm>
                  <a:off x="193548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5612E5D3-E2E3-45B1-F538-AC14A3CF4C16}"/>
                    </a:ext>
                  </a:extLst>
                </p:cNvPr>
                <p:cNvSpPr/>
                <p:nvPr/>
              </p:nvSpPr>
              <p:spPr>
                <a:xfrm>
                  <a:off x="217932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978BBF92-489C-7BFA-E0E0-259FAECD0EA0}"/>
                    </a:ext>
                  </a:extLst>
                </p:cNvPr>
                <p:cNvSpPr/>
                <p:nvPr/>
              </p:nvSpPr>
              <p:spPr>
                <a:xfrm>
                  <a:off x="2420112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EFC51FDD-9A7E-3F4A-8FD3-F40364D572E3}"/>
                    </a:ext>
                  </a:extLst>
                </p:cNvPr>
                <p:cNvSpPr/>
                <p:nvPr/>
              </p:nvSpPr>
              <p:spPr>
                <a:xfrm>
                  <a:off x="2660904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86358E79-6F45-32C4-60A6-DC42E013A1CD}"/>
                    </a:ext>
                  </a:extLst>
                </p:cNvPr>
                <p:cNvSpPr/>
                <p:nvPr/>
              </p:nvSpPr>
              <p:spPr>
                <a:xfrm>
                  <a:off x="290169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AB2E75D6-1C00-7DAD-6D1E-7346197133B5}"/>
                    </a:ext>
                  </a:extLst>
                </p:cNvPr>
                <p:cNvSpPr/>
                <p:nvPr/>
              </p:nvSpPr>
              <p:spPr>
                <a:xfrm>
                  <a:off x="314553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3DB53F0E-9306-7124-CA4E-D31E56DDA9F5}"/>
                    </a:ext>
                  </a:extLst>
                </p:cNvPr>
                <p:cNvSpPr/>
                <p:nvPr/>
              </p:nvSpPr>
              <p:spPr>
                <a:xfrm>
                  <a:off x="3386328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A0CE6CE7-780B-1B5F-A8A8-65E72F3E7CFD}"/>
                    </a:ext>
                  </a:extLst>
                </p:cNvPr>
                <p:cNvSpPr/>
                <p:nvPr/>
              </p:nvSpPr>
              <p:spPr>
                <a:xfrm>
                  <a:off x="362712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BCB08470-16A6-2B7C-09B2-D7F5E28B95FF}"/>
                    </a:ext>
                  </a:extLst>
                </p:cNvPr>
                <p:cNvSpPr/>
                <p:nvPr/>
              </p:nvSpPr>
              <p:spPr>
                <a:xfrm>
                  <a:off x="387096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9CD9B93-82ED-BABE-CC1B-988F72EC54A0}"/>
                  </a:ext>
                </a:extLst>
              </p:cNvPr>
              <p:cNvGrpSpPr/>
              <p:nvPr/>
            </p:nvGrpSpPr>
            <p:grpSpPr>
              <a:xfrm>
                <a:off x="385762" y="1262062"/>
                <a:ext cx="4055444" cy="186864"/>
                <a:chOff x="0" y="0"/>
                <a:chExt cx="4055444" cy="186864"/>
              </a:xfrm>
              <a:solidFill>
                <a:srgbClr val="44546A">
                  <a:lumMod val="60000"/>
                  <a:lumOff val="40000"/>
                </a:srgbClr>
              </a:solidFill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A595BB14-308C-25CF-B62F-AF2C03D858E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66DE4361-AD9D-9001-80D4-47FC11F03810}"/>
                    </a:ext>
                  </a:extLst>
                </p:cNvPr>
                <p:cNvSpPr/>
                <p:nvPr/>
              </p:nvSpPr>
              <p:spPr>
                <a:xfrm>
                  <a:off x="240792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F495CD13-2263-CC9B-8B4F-0625FEBFAD97}"/>
                    </a:ext>
                  </a:extLst>
                </p:cNvPr>
                <p:cNvSpPr/>
                <p:nvPr/>
              </p:nvSpPr>
              <p:spPr>
                <a:xfrm>
                  <a:off x="481584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B6C0231A-6B6C-3639-C8F7-551E17705984}"/>
                    </a:ext>
                  </a:extLst>
                </p:cNvPr>
                <p:cNvSpPr/>
                <p:nvPr/>
              </p:nvSpPr>
              <p:spPr>
                <a:xfrm>
                  <a:off x="725424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2604B4FD-1C2C-A5CE-2BFD-574FF7999202}"/>
                    </a:ext>
                  </a:extLst>
                </p:cNvPr>
                <p:cNvSpPr/>
                <p:nvPr/>
              </p:nvSpPr>
              <p:spPr>
                <a:xfrm>
                  <a:off x="96621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80EF69AE-4815-0C9B-43EA-2FE301900452}"/>
                    </a:ext>
                  </a:extLst>
                </p:cNvPr>
                <p:cNvSpPr/>
                <p:nvPr/>
              </p:nvSpPr>
              <p:spPr>
                <a:xfrm>
                  <a:off x="121005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A119C601-2574-A62E-5079-1530E8AEB88C}"/>
                    </a:ext>
                  </a:extLst>
                </p:cNvPr>
                <p:cNvSpPr/>
                <p:nvPr/>
              </p:nvSpPr>
              <p:spPr>
                <a:xfrm>
                  <a:off x="145389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9649E848-B1DB-2320-FA7C-894E3CC208DF}"/>
                    </a:ext>
                  </a:extLst>
                </p:cNvPr>
                <p:cNvSpPr/>
                <p:nvPr/>
              </p:nvSpPr>
              <p:spPr>
                <a:xfrm>
                  <a:off x="169164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724CA369-1003-85C6-A7F8-8813A65994CD}"/>
                    </a:ext>
                  </a:extLst>
                </p:cNvPr>
                <p:cNvSpPr/>
                <p:nvPr/>
              </p:nvSpPr>
              <p:spPr>
                <a:xfrm>
                  <a:off x="193548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92D6CF29-67C3-8CDF-3439-F7FFF7EF3F42}"/>
                    </a:ext>
                  </a:extLst>
                </p:cNvPr>
                <p:cNvSpPr/>
                <p:nvPr/>
              </p:nvSpPr>
              <p:spPr>
                <a:xfrm>
                  <a:off x="217932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A3C04236-B4D0-3586-E1A8-8AB58972C75C}"/>
                    </a:ext>
                  </a:extLst>
                </p:cNvPr>
                <p:cNvSpPr/>
                <p:nvPr/>
              </p:nvSpPr>
              <p:spPr>
                <a:xfrm>
                  <a:off x="2420112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FE58B7DF-66F8-73B6-2364-E24B88E00323}"/>
                    </a:ext>
                  </a:extLst>
                </p:cNvPr>
                <p:cNvSpPr/>
                <p:nvPr/>
              </p:nvSpPr>
              <p:spPr>
                <a:xfrm>
                  <a:off x="2660904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E7A589B4-4928-8DFF-7F1D-B647BD73E063}"/>
                    </a:ext>
                  </a:extLst>
                </p:cNvPr>
                <p:cNvSpPr/>
                <p:nvPr/>
              </p:nvSpPr>
              <p:spPr>
                <a:xfrm>
                  <a:off x="290169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103F3725-AC5E-D41A-2879-35974F397E1E}"/>
                    </a:ext>
                  </a:extLst>
                </p:cNvPr>
                <p:cNvSpPr/>
                <p:nvPr/>
              </p:nvSpPr>
              <p:spPr>
                <a:xfrm>
                  <a:off x="3145536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3E761E7-050D-44C9-B1F1-94C94D64C17E}"/>
                    </a:ext>
                  </a:extLst>
                </p:cNvPr>
                <p:cNvSpPr/>
                <p:nvPr/>
              </p:nvSpPr>
              <p:spPr>
                <a:xfrm>
                  <a:off x="3386328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220DDEE0-6404-B351-D34E-56ECDE7BE972}"/>
                    </a:ext>
                  </a:extLst>
                </p:cNvPr>
                <p:cNvSpPr/>
                <p:nvPr/>
              </p:nvSpPr>
              <p:spPr>
                <a:xfrm>
                  <a:off x="362712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D04EAF77-B59D-4DF8-6634-A0D65D7E37FE}"/>
                    </a:ext>
                  </a:extLst>
                </p:cNvPr>
                <p:cNvSpPr/>
                <p:nvPr/>
              </p:nvSpPr>
              <p:spPr>
                <a:xfrm>
                  <a:off x="3870960" y="0"/>
                  <a:ext cx="184484" cy="186864"/>
                </a:xfrm>
                <a:prstGeom prst="roundRect">
                  <a:avLst/>
                </a:prstGeom>
                <a:grpFill/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D55A743-C09F-D283-DD63-4D659AA5909C}"/>
                  </a:ext>
                </a:extLst>
              </p:cNvPr>
              <p:cNvGrpSpPr/>
              <p:nvPr/>
            </p:nvGrpSpPr>
            <p:grpSpPr>
              <a:xfrm>
                <a:off x="1924050" y="0"/>
                <a:ext cx="724555" cy="691597"/>
                <a:chOff x="0" y="0"/>
                <a:chExt cx="724555" cy="691597"/>
              </a:xfrm>
            </p:grpSpPr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820C44DC-A034-D187-BE61-253FA5D2134A}"/>
                    </a:ext>
                  </a:extLst>
                </p:cNvPr>
                <p:cNvCxnSpPr/>
                <p:nvPr/>
              </p:nvCxnSpPr>
              <p:spPr>
                <a:xfrm flipH="1">
                  <a:off x="0" y="224790"/>
                  <a:ext cx="324970" cy="464297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747D3514-B6A7-8C11-6532-91B315E74F6F}"/>
                    </a:ext>
                  </a:extLst>
                </p:cNvPr>
                <p:cNvCxnSpPr/>
                <p:nvPr/>
              </p:nvCxnSpPr>
              <p:spPr>
                <a:xfrm>
                  <a:off x="327660" y="217170"/>
                  <a:ext cx="396895" cy="474427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28" name="Text Box 2">
                  <a:extLst>
                    <a:ext uri="{FF2B5EF4-FFF2-40B4-BE49-F238E27FC236}">
                      <a16:creationId xmlns:a16="http://schemas.microsoft.com/office/drawing/2014/main" id="{0131386E-DBC6-E9F9-EA34-51EAA04EB5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480" y="0"/>
                  <a:ext cx="648970" cy="2159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ysClr val="window" lastClr="FFFF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/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7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Workstation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" name="Arrow: Curved Right 12">
                <a:extLst>
                  <a:ext uri="{FF2B5EF4-FFF2-40B4-BE49-F238E27FC236}">
                    <a16:creationId xmlns:a16="http://schemas.microsoft.com/office/drawing/2014/main" id="{E01A1DE0-F606-FFB6-5690-B348562048B6}"/>
                  </a:ext>
                </a:extLst>
              </p:cNvPr>
              <p:cNvSpPr/>
              <p:nvPr/>
            </p:nvSpPr>
            <p:spPr>
              <a:xfrm rot="10800000">
                <a:off x="4714875" y="819150"/>
                <a:ext cx="181708" cy="592016"/>
              </a:xfrm>
              <a:prstGeom prst="curvedRightArrow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00AB448-C9FB-5A1E-C688-A5860A4E9A9F}"/>
                  </a:ext>
                </a:extLst>
              </p:cNvPr>
              <p:cNvGrpSpPr/>
              <p:nvPr/>
            </p:nvGrpSpPr>
            <p:grpSpPr>
              <a:xfrm>
                <a:off x="3181350" y="328612"/>
                <a:ext cx="882785" cy="260712"/>
                <a:chOff x="0" y="0"/>
                <a:chExt cx="882785" cy="260712"/>
              </a:xfrm>
            </p:grpSpPr>
            <p:sp>
              <p:nvSpPr>
                <p:cNvPr id="24" name="Arrow: Left 23">
                  <a:extLst>
                    <a:ext uri="{FF2B5EF4-FFF2-40B4-BE49-F238E27FC236}">
                      <a16:creationId xmlns:a16="http://schemas.microsoft.com/office/drawing/2014/main" id="{C71C62CC-E595-3F45-45AB-933CD633E5C2}"/>
                    </a:ext>
                  </a:extLst>
                </p:cNvPr>
                <p:cNvSpPr/>
                <p:nvPr/>
              </p:nvSpPr>
              <p:spPr>
                <a:xfrm>
                  <a:off x="0" y="214993"/>
                  <a:ext cx="882785" cy="45719"/>
                </a:xfrm>
                <a:prstGeom prst="leftArrow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5" name="Text Box 2">
                  <a:extLst>
                    <a:ext uri="{FF2B5EF4-FFF2-40B4-BE49-F238E27FC236}">
                      <a16:creationId xmlns:a16="http://schemas.microsoft.com/office/drawing/2014/main" id="{02425453-9992-246A-FAC1-D86FACF93A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093" y="0"/>
                  <a:ext cx="648970" cy="2159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ysClr val="window" lastClr="FFFF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/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7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Product flow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C5C0534-CF20-0F93-2335-46E28A0FB073}"/>
                  </a:ext>
                </a:extLst>
              </p:cNvPr>
              <p:cNvGrpSpPr/>
              <p:nvPr/>
            </p:nvGrpSpPr>
            <p:grpSpPr>
              <a:xfrm>
                <a:off x="709612" y="1576387"/>
                <a:ext cx="931984" cy="262165"/>
                <a:chOff x="0" y="0"/>
                <a:chExt cx="931984" cy="262165"/>
              </a:xfrm>
            </p:grpSpPr>
            <p:sp>
              <p:nvSpPr>
                <p:cNvPr id="22" name="Arrow: Right 21">
                  <a:extLst>
                    <a:ext uri="{FF2B5EF4-FFF2-40B4-BE49-F238E27FC236}">
                      <a16:creationId xmlns:a16="http://schemas.microsoft.com/office/drawing/2014/main" id="{4A332227-5AAE-D5E7-58DC-013C9E1A10D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31984" cy="45719"/>
                </a:xfrm>
                <a:prstGeom prst="rightArrow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23" name="Text Box 2">
                  <a:extLst>
                    <a:ext uri="{FF2B5EF4-FFF2-40B4-BE49-F238E27FC236}">
                      <a16:creationId xmlns:a16="http://schemas.microsoft.com/office/drawing/2014/main" id="{CBAFF8C3-3CA8-4ECD-8678-78421CA31A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085" y="46265"/>
                  <a:ext cx="648970" cy="2159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ysClr val="window" lastClr="FFFF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/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7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Product flow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BE09CA0-153E-0E4A-6130-C2934B2D37F6}"/>
                  </a:ext>
                </a:extLst>
              </p:cNvPr>
              <p:cNvGrpSpPr/>
              <p:nvPr/>
            </p:nvGrpSpPr>
            <p:grpSpPr>
              <a:xfrm>
                <a:off x="0" y="790575"/>
                <a:ext cx="302260" cy="587012"/>
                <a:chOff x="0" y="0"/>
                <a:chExt cx="302260" cy="587012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7022250-A579-432E-E18C-A1166328225D}"/>
                    </a:ext>
                  </a:extLst>
                </p:cNvPr>
                <p:cNvGrpSpPr/>
                <p:nvPr/>
              </p:nvGrpSpPr>
              <p:grpSpPr>
                <a:xfrm>
                  <a:off x="19050" y="185964"/>
                  <a:ext cx="254423" cy="210819"/>
                  <a:chOff x="0" y="0"/>
                  <a:chExt cx="193431" cy="210819"/>
                </a:xfrm>
                <a:solidFill>
                  <a:srgbClr val="E7E6E6"/>
                </a:solidFill>
              </p:grpSpPr>
              <p:sp>
                <p:nvSpPr>
                  <p:cNvPr id="20" name="Arrow: Right 19">
                    <a:extLst>
                      <a:ext uri="{FF2B5EF4-FFF2-40B4-BE49-F238E27FC236}">
                        <a16:creationId xmlns:a16="http://schemas.microsoft.com/office/drawing/2014/main" id="{0827C2FB-29EF-FE0C-6F13-C150240D40AC}"/>
                      </a:ext>
                    </a:extLst>
                  </p:cNvPr>
                  <p:cNvSpPr/>
                  <p:nvPr/>
                </p:nvSpPr>
                <p:spPr>
                  <a:xfrm>
                    <a:off x="0" y="165100"/>
                    <a:ext cx="193431" cy="45719"/>
                  </a:xfrm>
                  <a:prstGeom prst="rightArrow">
                    <a:avLst/>
                  </a:prstGeom>
                  <a:grp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1" name="Arrow: Left 20">
                    <a:extLst>
                      <a:ext uri="{FF2B5EF4-FFF2-40B4-BE49-F238E27FC236}">
                        <a16:creationId xmlns:a16="http://schemas.microsoft.com/office/drawing/2014/main" id="{03805EA9-3B64-8AC1-3916-82AA49333BBB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93040" cy="45085"/>
                  </a:xfrm>
                  <a:prstGeom prst="leftArrow">
                    <a:avLst/>
                  </a:prstGeom>
                  <a:grp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endParaRPr lang="en-GB"/>
                  </a:p>
                </p:txBody>
              </p:sp>
            </p:grpSp>
            <p:sp>
              <p:nvSpPr>
                <p:cNvPr id="18" name="Text Box 2">
                  <a:extLst>
                    <a:ext uri="{FF2B5EF4-FFF2-40B4-BE49-F238E27FC236}">
                      <a16:creationId xmlns:a16="http://schemas.microsoft.com/office/drawing/2014/main" id="{54551839-172A-7C14-1B9C-F7D7620343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43" y="413657"/>
                  <a:ext cx="267970" cy="1733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ysClr val="window" lastClr="FFFF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/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5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In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 Box 2">
                  <a:extLst>
                    <a:ext uri="{FF2B5EF4-FFF2-40B4-BE49-F238E27FC236}">
                      <a16:creationId xmlns:a16="http://schemas.microsoft.com/office/drawing/2014/main" id="{3286D47F-F645-9E00-5237-858915E2FB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02260" cy="1752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ysClr val="window" lastClr="FFFF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/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5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Out</a:t>
                  </a:r>
                  <a:endParaRPr lang="en-GB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44B216-1707-6388-1666-5C37F8C26EF1}"/>
                </a:ext>
              </a:extLst>
            </p:cNvPr>
            <p:cNvSpPr txBox="1"/>
            <p:nvPr/>
          </p:nvSpPr>
          <p:spPr>
            <a:xfrm>
              <a:off x="8970516" y="3825923"/>
              <a:ext cx="18686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Fig. U-shaped Sewing line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5FBB0-1B17-A8C1-B6CC-EFADD992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59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98690D-F7C8-17AB-3583-3559BA1E9370}"/>
              </a:ext>
            </a:extLst>
          </p:cNvPr>
          <p:cNvSpPr txBox="1"/>
          <p:nvPr/>
        </p:nvSpPr>
        <p:spPr>
          <a:xfrm>
            <a:off x="0" y="120568"/>
            <a:ext cx="11887200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2800" b="1" cap="all" spc="600" dirty="0">
                <a:latin typeface="+mj-lt"/>
                <a:ea typeface="+mj-ea"/>
              </a:rPr>
              <a:t>After implementing aforementioned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CDBE4-E1B8-BDCB-95CA-CEECAFF3F4F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583530" y="1413273"/>
            <a:ext cx="6612522" cy="4031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8D2384-2C11-54DA-A467-5447145DA077}"/>
              </a:ext>
            </a:extLst>
          </p:cNvPr>
          <p:cNvSpPr txBox="1"/>
          <p:nvPr/>
        </p:nvSpPr>
        <p:spPr>
          <a:xfrm>
            <a:off x="8996760" y="5444726"/>
            <a:ext cx="2380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Fig. Balanced time study bar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CDD479-4ECB-F949-907C-FB990CEE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13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F57C1-A68F-1A78-D2A3-E91989E2230E}"/>
              </a:ext>
            </a:extLst>
          </p:cNvPr>
          <p:cNvSpPr txBox="1"/>
          <p:nvPr/>
        </p:nvSpPr>
        <p:spPr>
          <a:xfrm>
            <a:off x="429767" y="2398370"/>
            <a:ext cx="3972789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Bottleneck removed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Processes have capacity more than 75 pcs/hr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/>
              <a:t>Extra capacity is used</a:t>
            </a:r>
          </a:p>
        </p:txBody>
      </p:sp>
    </p:spTree>
    <p:extLst>
      <p:ext uri="{BB962C8B-B14F-4D97-AF65-F5344CB8AC3E}">
        <p14:creationId xmlns:p14="http://schemas.microsoft.com/office/powerpoint/2010/main" val="130163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AC71F-02BA-4AD9-ADCA-3A7F9A421E4B}"/>
              </a:ext>
            </a:extLst>
          </p:cNvPr>
          <p:cNvSpPr txBox="1"/>
          <p:nvPr/>
        </p:nvSpPr>
        <p:spPr>
          <a:xfrm>
            <a:off x="578652" y="1326511"/>
            <a:ext cx="6431749" cy="31746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cap="all" spc="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Ventilation sufficiency evaluation and eliminating dead spots on a sewing floor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431C2-5F78-9CEE-F7B7-380E1771B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676" r="22676"/>
          <a:stretch/>
        </p:blipFill>
        <p:spPr>
          <a:xfrm>
            <a:off x="7179279" y="-208725"/>
            <a:ext cx="6532639" cy="7275449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5415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33EFC-B6BD-C12F-53D2-38B00561C4B5}"/>
              </a:ext>
            </a:extLst>
          </p:cNvPr>
          <p:cNvSpPr txBox="1"/>
          <p:nvPr/>
        </p:nvSpPr>
        <p:spPr>
          <a:xfrm>
            <a:off x="0" y="120568"/>
            <a:ext cx="11887200" cy="1092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4400" b="1" cap="all" spc="600" dirty="0">
                <a:latin typeface="+mj-lt"/>
                <a:ea typeface="+mj-ea"/>
              </a:rPr>
              <a:t>I</a:t>
            </a:r>
            <a:r>
              <a:rPr lang="en-IN" sz="2800" b="1" cap="all" spc="600" dirty="0">
                <a:latin typeface="+mj-lt"/>
                <a:ea typeface="+mj-ea"/>
              </a:rPr>
              <a:t>mportance of a comfortable work environment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9F2F38-D470-158E-F559-23B3708D83E5}"/>
              </a:ext>
            </a:extLst>
          </p:cNvPr>
          <p:cNvGrpSpPr/>
          <p:nvPr/>
        </p:nvGrpSpPr>
        <p:grpSpPr>
          <a:xfrm>
            <a:off x="2583340" y="2001288"/>
            <a:ext cx="1890261" cy="1902269"/>
            <a:chOff x="1726090" y="2239413"/>
            <a:chExt cx="1890261" cy="1902269"/>
          </a:xfrm>
        </p:grpSpPr>
        <p:pic>
          <p:nvPicPr>
            <p:cNvPr id="4" name="Graphic 3" descr="Lungs">
              <a:extLst>
                <a:ext uri="{FF2B5EF4-FFF2-40B4-BE49-F238E27FC236}">
                  <a16:creationId xmlns:a16="http://schemas.microsoft.com/office/drawing/2014/main" id="{BD639A50-1961-19E2-8182-C0C7D03FC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4537" y="2239413"/>
              <a:ext cx="1343025" cy="134302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EEB627-8347-6BAD-6FF0-FEA98F6755C2}"/>
                </a:ext>
              </a:extLst>
            </p:cNvPr>
            <p:cNvSpPr txBox="1"/>
            <p:nvPr/>
          </p:nvSpPr>
          <p:spPr>
            <a:xfrm>
              <a:off x="1726090" y="3618462"/>
              <a:ext cx="18902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B0F0"/>
                  </a:solidFill>
                </a:rPr>
                <a:t>Air Quality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DCD314-6512-91F9-D876-7F6CAC5BD4D4}"/>
              </a:ext>
            </a:extLst>
          </p:cNvPr>
          <p:cNvGrpSpPr/>
          <p:nvPr/>
        </p:nvGrpSpPr>
        <p:grpSpPr>
          <a:xfrm>
            <a:off x="7518951" y="1990725"/>
            <a:ext cx="1801262" cy="1866245"/>
            <a:chOff x="8547651" y="2247899"/>
            <a:chExt cx="1801262" cy="1866245"/>
          </a:xfrm>
        </p:grpSpPr>
        <p:pic>
          <p:nvPicPr>
            <p:cNvPr id="10" name="Graphic 9" descr="Bar graph with upward trend">
              <a:extLst>
                <a:ext uri="{FF2B5EF4-FFF2-40B4-BE49-F238E27FC236}">
                  <a16:creationId xmlns:a16="http://schemas.microsoft.com/office/drawing/2014/main" id="{745746E5-7212-58BE-3FB4-FEC32618F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57407" y="2247899"/>
              <a:ext cx="1343025" cy="134302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BDCF94-8172-68C0-BA70-C2F3B3A169C5}"/>
                </a:ext>
              </a:extLst>
            </p:cNvPr>
            <p:cNvSpPr txBox="1"/>
            <p:nvPr/>
          </p:nvSpPr>
          <p:spPr>
            <a:xfrm>
              <a:off x="8547651" y="3590924"/>
              <a:ext cx="18012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Efficiency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EDB375-DF66-545D-19EA-9D3F0122DD27}"/>
              </a:ext>
            </a:extLst>
          </p:cNvPr>
          <p:cNvGrpSpPr/>
          <p:nvPr/>
        </p:nvGrpSpPr>
        <p:grpSpPr>
          <a:xfrm>
            <a:off x="4473601" y="4187075"/>
            <a:ext cx="2966261" cy="1954858"/>
            <a:chOff x="4473601" y="4091825"/>
            <a:chExt cx="2966261" cy="1954858"/>
          </a:xfrm>
        </p:grpSpPr>
        <p:pic>
          <p:nvPicPr>
            <p:cNvPr id="8" name="Graphic 7" descr="Thermometer">
              <a:extLst>
                <a:ext uri="{FF2B5EF4-FFF2-40B4-BE49-F238E27FC236}">
                  <a16:creationId xmlns:a16="http://schemas.microsoft.com/office/drawing/2014/main" id="{4BF59BB3-8347-9073-3B4A-2DA32214B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91137" y="4091825"/>
              <a:ext cx="1304925" cy="130492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DEE0A5-7B9D-EB53-48FA-8F3CDC10574D}"/>
                </a:ext>
              </a:extLst>
            </p:cNvPr>
            <p:cNvSpPr txBox="1"/>
            <p:nvPr/>
          </p:nvSpPr>
          <p:spPr>
            <a:xfrm>
              <a:off x="4473601" y="5523463"/>
              <a:ext cx="29662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Thermal Comfort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BA418-7008-ECBB-604B-FD95D7214A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647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BAD2C5B-1C43-85F3-3C36-8BB23FC89A5A}"/>
              </a:ext>
            </a:extLst>
          </p:cNvPr>
          <p:cNvGrpSpPr/>
          <p:nvPr/>
        </p:nvGrpSpPr>
        <p:grpSpPr>
          <a:xfrm>
            <a:off x="5260340" y="131582"/>
            <a:ext cx="6547485" cy="6145946"/>
            <a:chOff x="0" y="87630"/>
            <a:chExt cx="6915150" cy="637794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5118128-6645-943D-19CC-41984D434286}"/>
                </a:ext>
              </a:extLst>
            </p:cNvPr>
            <p:cNvGrpSpPr/>
            <p:nvPr/>
          </p:nvGrpSpPr>
          <p:grpSpPr>
            <a:xfrm>
              <a:off x="0" y="87630"/>
              <a:ext cx="6915150" cy="6377940"/>
              <a:chOff x="0" y="87630"/>
              <a:chExt cx="6915150" cy="637794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18886C5-2834-31ED-5EFA-CA7D55C865D3}"/>
                  </a:ext>
                </a:extLst>
              </p:cNvPr>
              <p:cNvGrpSpPr/>
              <p:nvPr/>
            </p:nvGrpSpPr>
            <p:grpSpPr>
              <a:xfrm>
                <a:off x="0" y="87630"/>
                <a:ext cx="6915150" cy="6377940"/>
                <a:chOff x="0" y="87630"/>
                <a:chExt cx="6915150" cy="637794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E4F7568-DE4D-CE5C-0C80-E00CBD9F8B99}"/>
                    </a:ext>
                  </a:extLst>
                </p:cNvPr>
                <p:cNvGrpSpPr/>
                <p:nvPr/>
              </p:nvGrpSpPr>
              <p:grpSpPr>
                <a:xfrm>
                  <a:off x="0" y="87630"/>
                  <a:ext cx="6915150" cy="6377940"/>
                  <a:chOff x="0" y="0"/>
                  <a:chExt cx="6915150" cy="6377940"/>
                </a:xfrm>
              </p:grpSpPr>
              <p:sp>
                <p:nvSpPr>
                  <p:cNvPr id="27" name="Arrow: U-Turn 26">
                    <a:extLst>
                      <a:ext uri="{FF2B5EF4-FFF2-40B4-BE49-F238E27FC236}">
                        <a16:creationId xmlns:a16="http://schemas.microsoft.com/office/drawing/2014/main" id="{0F62CA13-62D4-DF30-116D-4C062EB8A89F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4606290" y="1272540"/>
                    <a:ext cx="578278" cy="401320"/>
                  </a:xfrm>
                  <a:prstGeom prst="uturnArrow">
                    <a:avLst>
                      <a:gd name="adj1" fmla="val 5766"/>
                      <a:gd name="adj2" fmla="val 11107"/>
                      <a:gd name="adj3" fmla="val 18054"/>
                      <a:gd name="adj4" fmla="val 43750"/>
                      <a:gd name="adj5" fmla="val 10000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solidFill>
                      <a:srgbClr val="4472C4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D35C0CB7-8A1A-FB1E-CED1-E7B176518C0D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6915150" cy="6377940"/>
                    <a:chOff x="0" y="0"/>
                    <a:chExt cx="6915150" cy="6377940"/>
                  </a:xfrm>
                </p:grpSpPr>
                <p:sp>
                  <p:nvSpPr>
                    <p:cNvPr id="29" name="Arrow: Up 28">
                      <a:extLst>
                        <a:ext uri="{FF2B5EF4-FFF2-40B4-BE49-F238E27FC236}">
                          <a16:creationId xmlns:a16="http://schemas.microsoft.com/office/drawing/2014/main" id="{24A2569C-8C2D-320D-EE09-476BA3D39E8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817870" y="590550"/>
                      <a:ext cx="225425" cy="487680"/>
                    </a:xfrm>
                    <a:prstGeom prst="upArrow">
                      <a:avLst>
                        <a:gd name="adj1" fmla="val 21691"/>
                        <a:gd name="adj2" fmla="val 73062"/>
                      </a:avLst>
                    </a:prstGeom>
                    <a:solidFill>
                      <a:srgbClr val="ED7D31"/>
                    </a:solidFill>
                    <a:ln w="12700" cap="flat" cmpd="sng" algn="ctr">
                      <a:solidFill>
                        <a:srgbClr val="4472C4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649FEC7F-C2C0-27F7-3B74-12B8E9CDA5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6915150" cy="6377940"/>
                      <a:chOff x="0" y="0"/>
                      <a:chExt cx="6915150" cy="6377940"/>
                    </a:xfrm>
                  </p:grpSpPr>
                  <p:sp>
                    <p:nvSpPr>
                      <p:cNvPr id="31" name="Arrow: Pentagon 30">
                        <a:extLst>
                          <a:ext uri="{FF2B5EF4-FFF2-40B4-BE49-F238E27FC236}">
                            <a16:creationId xmlns:a16="http://schemas.microsoft.com/office/drawing/2014/main" id="{21F539B6-2B50-288A-DD9E-B5A8BD88F927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5265420" y="3299460"/>
                        <a:ext cx="910590" cy="365760"/>
                      </a:xfrm>
                      <a:prstGeom prst="homePlate">
                        <a:avLst>
                          <a:gd name="adj" fmla="val 26409"/>
                        </a:avLst>
                      </a:prstGeom>
                      <a:noFill/>
                      <a:ln w="28575" cap="flat" cmpd="sng" algn="ctr">
                        <a:solidFill>
                          <a:srgbClr val="4472C4">
                            <a:shade val="15000"/>
                          </a:srgbClr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32" name="Group 31">
                        <a:extLst>
                          <a:ext uri="{FF2B5EF4-FFF2-40B4-BE49-F238E27FC236}">
                            <a16:creationId xmlns:a16="http://schemas.microsoft.com/office/drawing/2014/main" id="{F64CBD39-69F7-046E-DB14-C0F584997C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0"/>
                        <a:ext cx="6915150" cy="6377940"/>
                        <a:chOff x="0" y="0"/>
                        <a:chExt cx="6915150" cy="6377940"/>
                      </a:xfrm>
                    </p:grpSpPr>
                    <p:grpSp>
                      <p:nvGrpSpPr>
                        <p:cNvPr id="33" name="Group 32">
                          <a:extLst>
                            <a:ext uri="{FF2B5EF4-FFF2-40B4-BE49-F238E27FC236}">
                              <a16:creationId xmlns:a16="http://schemas.microsoft.com/office/drawing/2014/main" id="{722616FB-215D-6181-2179-70E383BDC00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0"/>
                          <a:ext cx="6915150" cy="6377940"/>
                          <a:chOff x="0" y="0"/>
                          <a:chExt cx="6915150" cy="6377940"/>
                        </a:xfrm>
                      </p:grpSpPr>
                      <p:sp>
                        <p:nvSpPr>
                          <p:cNvPr id="36" name="Text Box 2">
                            <a:extLst>
                              <a:ext uri="{FF2B5EF4-FFF2-40B4-BE49-F238E27FC236}">
                                <a16:creationId xmlns:a16="http://schemas.microsoft.com/office/drawing/2014/main" id="{A4E63175-09B5-3337-E331-B26CFEABA810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343857" y="266700"/>
                            <a:ext cx="1143000" cy="67818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Packaging Area </a:t>
                            </a:r>
                            <a:endParaRPr lang="en-US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7" name="Text Box 2">
                            <a:extLst>
                              <a:ext uri="{FF2B5EF4-FFF2-40B4-BE49-F238E27FC236}">
                                <a16:creationId xmlns:a16="http://schemas.microsoft.com/office/drawing/2014/main" id="{79861DD7-563A-F804-1A83-22E2D37811AB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0" y="4674870"/>
                            <a:ext cx="732154" cy="45913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sp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Exhaust Fans</a:t>
                            </a:r>
                          </a:p>
                        </p:txBody>
                      </p:sp>
                      <p:grpSp>
                        <p:nvGrpSpPr>
                          <p:cNvPr id="38" name="Group 37">
                            <a:extLst>
                              <a:ext uri="{FF2B5EF4-FFF2-40B4-BE49-F238E27FC236}">
                                <a16:creationId xmlns:a16="http://schemas.microsoft.com/office/drawing/2014/main" id="{06D30F68-17B4-574A-10B5-F104AE402D5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97230" y="0"/>
                            <a:ext cx="6217920" cy="6377940"/>
                            <a:chOff x="0" y="0"/>
                            <a:chExt cx="6217920" cy="6377940"/>
                          </a:xfrm>
                        </p:grpSpPr>
                        <p:sp>
                          <p:nvSpPr>
                            <p:cNvPr id="40" name="Rectangle 39">
                              <a:extLst>
                                <a:ext uri="{FF2B5EF4-FFF2-40B4-BE49-F238E27FC236}">
                                  <a16:creationId xmlns:a16="http://schemas.microsoft.com/office/drawing/2014/main" id="{E2F108E0-319F-CA09-F9CD-6E2B61A12A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13360" y="0"/>
                              <a:ext cx="5798820" cy="6377940"/>
                            </a:xfrm>
                            <a:prstGeom prst="rect">
                              <a:avLst/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41" name="Group 40">
                              <a:extLst>
                                <a:ext uri="{FF2B5EF4-FFF2-40B4-BE49-F238E27FC236}">
                                  <a16:creationId xmlns:a16="http://schemas.microsoft.com/office/drawing/2014/main" id="{6767D3F3-57AA-88E1-192D-28188DE4E61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66800" y="552450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86" name="Straight Connector 85">
                                <a:extLst>
                                  <a:ext uri="{FF2B5EF4-FFF2-40B4-BE49-F238E27FC236}">
                                    <a16:creationId xmlns:a16="http://schemas.microsoft.com/office/drawing/2014/main" id="{22900FB0-A814-51CF-0158-927629146B1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87" name="Straight Connector 86">
                                <a:extLst>
                                  <a:ext uri="{FF2B5EF4-FFF2-40B4-BE49-F238E27FC236}">
                                    <a16:creationId xmlns:a16="http://schemas.microsoft.com/office/drawing/2014/main" id="{E076B4A5-FE2F-4FF4-3C80-51C7ED1D6480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88" name="Straight Connector 87">
                                <a:extLst>
                                  <a:ext uri="{FF2B5EF4-FFF2-40B4-BE49-F238E27FC236}">
                                    <a16:creationId xmlns:a16="http://schemas.microsoft.com/office/drawing/2014/main" id="{C6AB9286-1725-6291-3921-8CF06948578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42" name="Group 41">
                              <a:extLst>
                                <a:ext uri="{FF2B5EF4-FFF2-40B4-BE49-F238E27FC236}">
                                  <a16:creationId xmlns:a16="http://schemas.microsoft.com/office/drawing/2014/main" id="{3BC2A990-767D-0E6A-A0A7-BA8813367EB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46558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83" name="Straight Connector 82">
                                <a:extLst>
                                  <a:ext uri="{FF2B5EF4-FFF2-40B4-BE49-F238E27FC236}">
                                    <a16:creationId xmlns:a16="http://schemas.microsoft.com/office/drawing/2014/main" id="{C8507188-6270-44BF-4950-AC661EE376C0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84" name="Straight Connector 83">
                                <a:extLst>
                                  <a:ext uri="{FF2B5EF4-FFF2-40B4-BE49-F238E27FC236}">
                                    <a16:creationId xmlns:a16="http://schemas.microsoft.com/office/drawing/2014/main" id="{3DE2FDC2-C65F-BF7F-494D-E7456759E5E1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85" name="Straight Connector 84">
                                <a:extLst>
                                  <a:ext uri="{FF2B5EF4-FFF2-40B4-BE49-F238E27FC236}">
                                    <a16:creationId xmlns:a16="http://schemas.microsoft.com/office/drawing/2014/main" id="{DBD56DA1-3069-BB1E-B2B6-3DAC77000207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43" name="Group 42">
                              <a:extLst>
                                <a:ext uri="{FF2B5EF4-FFF2-40B4-BE49-F238E27FC236}">
                                  <a16:creationId xmlns:a16="http://schemas.microsoft.com/office/drawing/2014/main" id="{257A7F92-BA12-F4FD-A7E2-1E82475A6F2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89660" y="379476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80" name="Straight Connector 79">
                                <a:extLst>
                                  <a:ext uri="{FF2B5EF4-FFF2-40B4-BE49-F238E27FC236}">
                                    <a16:creationId xmlns:a16="http://schemas.microsoft.com/office/drawing/2014/main" id="{C6F1BAB4-E012-D2A0-D728-2FD2172CA87E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81" name="Straight Connector 80">
                                <a:extLst>
                                  <a:ext uri="{FF2B5EF4-FFF2-40B4-BE49-F238E27FC236}">
                                    <a16:creationId xmlns:a16="http://schemas.microsoft.com/office/drawing/2014/main" id="{7110BDFF-FF6F-E3D5-E876-F009A4271BCA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82" name="Straight Connector 81">
                                <a:extLst>
                                  <a:ext uri="{FF2B5EF4-FFF2-40B4-BE49-F238E27FC236}">
                                    <a16:creationId xmlns:a16="http://schemas.microsoft.com/office/drawing/2014/main" id="{6A2948FD-1CBB-D336-7650-43AE2F6E129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44" name="Group 43">
                              <a:extLst>
                                <a:ext uri="{FF2B5EF4-FFF2-40B4-BE49-F238E27FC236}">
                                  <a16:creationId xmlns:a16="http://schemas.microsoft.com/office/drawing/2014/main" id="{82E7C5E1-322B-E775-5F99-0FC8FF21070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13030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77" name="Straight Connector 76">
                                <a:extLst>
                                  <a:ext uri="{FF2B5EF4-FFF2-40B4-BE49-F238E27FC236}">
                                    <a16:creationId xmlns:a16="http://schemas.microsoft.com/office/drawing/2014/main" id="{9AA1F30D-68CF-B985-F713-D33C3318EDA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8" name="Straight Connector 77">
                                <a:extLst>
                                  <a:ext uri="{FF2B5EF4-FFF2-40B4-BE49-F238E27FC236}">
                                    <a16:creationId xmlns:a16="http://schemas.microsoft.com/office/drawing/2014/main" id="{644BC48C-0443-6802-41F6-A93BE44E7E6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9" name="Straight Connector 78">
                                <a:extLst>
                                  <a:ext uri="{FF2B5EF4-FFF2-40B4-BE49-F238E27FC236}">
                                    <a16:creationId xmlns:a16="http://schemas.microsoft.com/office/drawing/2014/main" id="{04D97CE1-7A50-FB40-AD91-1C94D99FC7E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45" name="Group 44">
                              <a:extLst>
                                <a:ext uri="{FF2B5EF4-FFF2-40B4-BE49-F238E27FC236}">
                                  <a16:creationId xmlns:a16="http://schemas.microsoft.com/office/drawing/2014/main" id="{3314F05A-C311-06C3-29DC-4A82740275C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211836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74" name="Straight Connector 73">
                                <a:extLst>
                                  <a:ext uri="{FF2B5EF4-FFF2-40B4-BE49-F238E27FC236}">
                                    <a16:creationId xmlns:a16="http://schemas.microsoft.com/office/drawing/2014/main" id="{3D13CAB6-98A7-561A-974A-2671D6AF1400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5" name="Straight Connector 74">
                                <a:extLst>
                                  <a:ext uri="{FF2B5EF4-FFF2-40B4-BE49-F238E27FC236}">
                                    <a16:creationId xmlns:a16="http://schemas.microsoft.com/office/drawing/2014/main" id="{0CA7A0C6-BEE3-5D15-259B-6284CFD9A7B2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6" name="Straight Connector 75">
                                <a:extLst>
                                  <a:ext uri="{FF2B5EF4-FFF2-40B4-BE49-F238E27FC236}">
                                    <a16:creationId xmlns:a16="http://schemas.microsoft.com/office/drawing/2014/main" id="{BE316C3A-7E76-8AC5-20A0-ED4C495C80D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D501FCD9-9D44-CAF7-58AD-4520FB422CE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29794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71" name="Straight Connector 70">
                                <a:extLst>
                                  <a:ext uri="{FF2B5EF4-FFF2-40B4-BE49-F238E27FC236}">
                                    <a16:creationId xmlns:a16="http://schemas.microsoft.com/office/drawing/2014/main" id="{29A95315-ABF1-395E-0935-C1807E3907A5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2" name="Straight Connector 71">
                                <a:extLst>
                                  <a:ext uri="{FF2B5EF4-FFF2-40B4-BE49-F238E27FC236}">
                                    <a16:creationId xmlns:a16="http://schemas.microsoft.com/office/drawing/2014/main" id="{311E2B7A-0AFF-B376-24A7-9443687C8587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3" name="Straight Connector 72">
                                <a:extLst>
                                  <a:ext uri="{FF2B5EF4-FFF2-40B4-BE49-F238E27FC236}">
                                    <a16:creationId xmlns:a16="http://schemas.microsoft.com/office/drawing/2014/main" id="{61661ADC-5486-F3BA-F9B1-364AC0A83CE5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sp>
                          <p:nvSpPr>
                            <p:cNvPr id="47" name="&quot;Not Allowed&quot; Symbol 46">
                              <a:extLst>
                                <a:ext uri="{FF2B5EF4-FFF2-40B4-BE49-F238E27FC236}">
                                  <a16:creationId xmlns:a16="http://schemas.microsoft.com/office/drawing/2014/main" id="{0647E928-8080-9E22-8971-9F6CD5F2AA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19050" y="128397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8" name="&quot;Not Allowed&quot; Symbol 47">
                              <a:extLst>
                                <a:ext uri="{FF2B5EF4-FFF2-40B4-BE49-F238E27FC236}">
                                  <a16:creationId xmlns:a16="http://schemas.microsoft.com/office/drawing/2014/main" id="{45249E70-3C11-5F2A-71FC-7AC7347BE0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3810" y="4773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9" name="&quot;Not Allowed&quot; Symbol 48">
                              <a:extLst>
                                <a:ext uri="{FF2B5EF4-FFF2-40B4-BE49-F238E27FC236}">
                                  <a16:creationId xmlns:a16="http://schemas.microsoft.com/office/drawing/2014/main" id="{82380910-B7B7-908E-0FBA-521C0E4CE0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7620" y="362712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0" name="&quot;Not Allowed&quot; Symbol 49">
                              <a:extLst>
                                <a:ext uri="{FF2B5EF4-FFF2-40B4-BE49-F238E27FC236}">
                                  <a16:creationId xmlns:a16="http://schemas.microsoft.com/office/drawing/2014/main" id="{D883A82F-4585-5CC2-4B9E-00A583F77B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19050" y="245745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1" name="&quot;Not Allowed&quot; Symbol 50">
                              <a:extLst>
                                <a:ext uri="{FF2B5EF4-FFF2-40B4-BE49-F238E27FC236}">
                                  <a16:creationId xmlns:a16="http://schemas.microsoft.com/office/drawing/2014/main" id="{FE2A2D63-5585-C565-792D-02BFE7201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10250" y="1344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2" name="&quot;Not Allowed&quot; Symbol 51">
                              <a:extLst>
                                <a:ext uri="{FF2B5EF4-FFF2-40B4-BE49-F238E27FC236}">
                                  <a16:creationId xmlns:a16="http://schemas.microsoft.com/office/drawing/2014/main" id="{A8EF01C0-EBE5-5912-C1E7-794EFA0A9D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06440" y="478536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3" name="&quot;Not Allowed&quot; Symbol 52">
                              <a:extLst>
                                <a:ext uri="{FF2B5EF4-FFF2-40B4-BE49-F238E27FC236}">
                                  <a16:creationId xmlns:a16="http://schemas.microsoft.com/office/drawing/2014/main" id="{9169687A-BE2E-D996-6F90-2D318FE180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10250" y="3630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4" name="&quot;Not Allowed&quot; Symbol 53">
                              <a:extLst>
                                <a:ext uri="{FF2B5EF4-FFF2-40B4-BE49-F238E27FC236}">
                                  <a16:creationId xmlns:a16="http://schemas.microsoft.com/office/drawing/2014/main" id="{91464813-B161-ADD2-CA46-1B382E9BA4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06440" y="243840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5" name="Rectangle: Rounded Corners 54">
                              <a:extLst>
                                <a:ext uri="{FF2B5EF4-FFF2-40B4-BE49-F238E27FC236}">
                                  <a16:creationId xmlns:a16="http://schemas.microsoft.com/office/drawing/2014/main" id="{020E3AD4-8005-D876-BC99-BEA3DE2B90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13960" y="116586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6" name="Rectangle: Rounded Corners 55">
                              <a:extLst>
                                <a:ext uri="{FF2B5EF4-FFF2-40B4-BE49-F238E27FC236}">
                                  <a16:creationId xmlns:a16="http://schemas.microsoft.com/office/drawing/2014/main" id="{2212A814-FA45-2C79-2947-2B1A5C35B3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29200" y="499110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7" name="Rectangle: Rounded Corners 56">
                              <a:extLst>
                                <a:ext uri="{FF2B5EF4-FFF2-40B4-BE49-F238E27FC236}">
                                  <a16:creationId xmlns:a16="http://schemas.microsoft.com/office/drawing/2014/main" id="{43AA8DC5-1102-2A7E-EF2B-C42A71E505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29200" y="375666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8" name="Rectangle: Rounded Corners 57">
                              <a:extLst>
                                <a:ext uri="{FF2B5EF4-FFF2-40B4-BE49-F238E27FC236}">
                                  <a16:creationId xmlns:a16="http://schemas.microsoft.com/office/drawing/2014/main" id="{6EBE0E88-EC3A-77EF-CEE5-279F148391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06340" y="248412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9" name="Arrow: Pentagon 58">
                              <a:extLst>
                                <a:ext uri="{FF2B5EF4-FFF2-40B4-BE49-F238E27FC236}">
                                  <a16:creationId xmlns:a16="http://schemas.microsoft.com/office/drawing/2014/main" id="{855D9AE2-AA04-E9DB-8674-EB8FF50EBF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flipH="1">
                              <a:off x="4575810" y="4556760"/>
                              <a:ext cx="910590" cy="365760"/>
                            </a:xfrm>
                            <a:prstGeom prst="homePlate">
                              <a:avLst>
                                <a:gd name="adj" fmla="val 26409"/>
                              </a:avLst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0" name="Arrow: Pentagon 59">
                              <a:extLst>
                                <a:ext uri="{FF2B5EF4-FFF2-40B4-BE49-F238E27FC236}">
                                  <a16:creationId xmlns:a16="http://schemas.microsoft.com/office/drawing/2014/main" id="{0BB9EE30-9FC3-B3B7-9B1F-B6ED085AD4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flipH="1">
                              <a:off x="4575810" y="2004060"/>
                              <a:ext cx="910590" cy="365760"/>
                            </a:xfrm>
                            <a:prstGeom prst="homePlate">
                              <a:avLst>
                                <a:gd name="adj" fmla="val 26409"/>
                              </a:avLst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1" name="Arrow: Quad 60">
                              <a:extLst>
                                <a:ext uri="{FF2B5EF4-FFF2-40B4-BE49-F238E27FC236}">
                                  <a16:creationId xmlns:a16="http://schemas.microsoft.com/office/drawing/2014/main" id="{6DA6D4FE-B8E4-A209-917B-0C30FF1C57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9670" y="473583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2" name="Arrow: Quad 61">
                              <a:extLst>
                                <a:ext uri="{FF2B5EF4-FFF2-40B4-BE49-F238E27FC236}">
                                  <a16:creationId xmlns:a16="http://schemas.microsoft.com/office/drawing/2014/main" id="{B28D03F2-16EC-F9DD-59F7-13BC126E74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7183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3" name="Arrow: Quad 62">
                              <a:extLst>
                                <a:ext uri="{FF2B5EF4-FFF2-40B4-BE49-F238E27FC236}">
                                  <a16:creationId xmlns:a16="http://schemas.microsoft.com/office/drawing/2014/main" id="{E2373E56-F3C3-73AD-E494-5460188261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32029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4" name="Arrow: Quad 63">
                              <a:extLst>
                                <a:ext uri="{FF2B5EF4-FFF2-40B4-BE49-F238E27FC236}">
                                  <a16:creationId xmlns:a16="http://schemas.microsoft.com/office/drawing/2014/main" id="{2EFE16A3-5677-30D2-EA8A-FDEB0096960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613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5" name="Arrow: Quad 64">
                              <a:extLst>
                                <a:ext uri="{FF2B5EF4-FFF2-40B4-BE49-F238E27FC236}">
                                  <a16:creationId xmlns:a16="http://schemas.microsoft.com/office/drawing/2014/main" id="{12F14519-CAFF-CDCB-9DC7-58251BFF56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947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6" name="Arrow: Quad 65">
                              <a:extLst>
                                <a:ext uri="{FF2B5EF4-FFF2-40B4-BE49-F238E27FC236}">
                                  <a16:creationId xmlns:a16="http://schemas.microsoft.com/office/drawing/2014/main" id="{C502436B-DB8F-F304-C66D-2DFBF6E28F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900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7" name="Arrow: Left-Up 66">
                              <a:extLst>
                                <a:ext uri="{FF2B5EF4-FFF2-40B4-BE49-F238E27FC236}">
                                  <a16:creationId xmlns:a16="http://schemas.microsoft.com/office/drawing/2014/main" id="{5761C599-D862-260A-250A-78D53825C5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48468" y="205771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8" name="Arrow: Left-Up 67">
                              <a:extLst>
                                <a:ext uri="{FF2B5EF4-FFF2-40B4-BE49-F238E27FC236}">
                                  <a16:creationId xmlns:a16="http://schemas.microsoft.com/office/drawing/2014/main" id="{B9A4C4A1-CFC5-5516-C9D3-6D502FDB58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48468" y="462565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9" name="Arrow: Left-Up 68">
                              <a:extLst>
                                <a:ext uri="{FF2B5EF4-FFF2-40B4-BE49-F238E27FC236}">
                                  <a16:creationId xmlns:a16="http://schemas.microsoft.com/office/drawing/2014/main" id="{1CDC8809-E90D-2657-8781-230D1B183A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33228" y="334549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70" name="Text Box 2">
                              <a:extLst>
                                <a:ext uri="{FF2B5EF4-FFF2-40B4-BE49-F238E27FC236}">
                                  <a16:creationId xmlns:a16="http://schemas.microsoft.com/office/drawing/2014/main" id="{ACDB02DC-E0DE-E8AC-0D1B-1AAF71A35961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751070" y="3249930"/>
                              <a:ext cx="632460" cy="525780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no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n-US" sz="1100" dirty="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Air Cooler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9" name="Text Box 2">
                            <a:extLst>
                              <a:ext uri="{FF2B5EF4-FFF2-40B4-BE49-F238E27FC236}">
                                <a16:creationId xmlns:a16="http://schemas.microsoft.com/office/drawing/2014/main" id="{48E23A26-608C-1218-5E77-9676D99E87A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409700" y="1310640"/>
                            <a:ext cx="2042160" cy="3810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just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U-shaped Sewing Line</a:t>
                            </a:r>
                          </a:p>
                        </p:txBody>
                      </p:sp>
                    </p:grpSp>
                    <p:sp>
                      <p:nvSpPr>
                        <p:cNvPr id="34" name="Text Box 2">
                          <a:extLst>
                            <a:ext uri="{FF2B5EF4-FFF2-40B4-BE49-F238E27FC236}">
                              <a16:creationId xmlns:a16="http://schemas.microsoft.com/office/drawing/2014/main" id="{F20267FB-F09F-C0B5-C434-7619546887D9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54480" y="4972050"/>
                          <a:ext cx="854074" cy="4591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>
                          <a:spAutoFit/>
                        </a:bodyPr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Ceiling Fans</a:t>
                          </a:r>
                        </a:p>
                      </p:txBody>
                    </p:sp>
                    <p:cxnSp>
                      <p:nvCxnSpPr>
                        <p:cNvPr id="35" name="Straight Connector 34">
                          <a:extLst>
                            <a:ext uri="{FF2B5EF4-FFF2-40B4-BE49-F238E27FC236}">
                              <a16:creationId xmlns:a16="http://schemas.microsoft.com/office/drawing/2014/main" id="{F6D7B637-B820-C118-9D72-590325AD11FA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2240280" y="4857750"/>
                          <a:ext cx="266700" cy="304800"/>
                        </a:xfrm>
                        <a:prstGeom prst="line">
                          <a:avLst/>
                        </a:prstGeom>
                        <a:noFill/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</p:grpSp>
                </p:grpSp>
              </p:grpSp>
            </p:grpSp>
            <p:sp>
              <p:nvSpPr>
                <p:cNvPr id="24" name="Arrow: Up 23">
                  <a:extLst>
                    <a:ext uri="{FF2B5EF4-FFF2-40B4-BE49-F238E27FC236}">
                      <a16:creationId xmlns:a16="http://schemas.microsoft.com/office/drawing/2014/main" id="{D99D6DAA-0FEE-914C-2259-0A80F1F3EE93}"/>
                    </a:ext>
                  </a:extLst>
                </p:cNvPr>
                <p:cNvSpPr/>
                <p:nvPr/>
              </p:nvSpPr>
              <p:spPr>
                <a:xfrm flipV="1">
                  <a:off x="3973830" y="685800"/>
                  <a:ext cx="225425" cy="487680"/>
                </a:xfrm>
                <a:prstGeom prst="upArrow">
                  <a:avLst>
                    <a:gd name="adj1" fmla="val 21691"/>
                    <a:gd name="adj2" fmla="val 73062"/>
                  </a:avLst>
                </a:prstGeom>
                <a:solidFill>
                  <a:srgbClr val="70AD47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Arrow: Up 24">
                  <a:extLst>
                    <a:ext uri="{FF2B5EF4-FFF2-40B4-BE49-F238E27FC236}">
                      <a16:creationId xmlns:a16="http://schemas.microsoft.com/office/drawing/2014/main" id="{2BE423C9-37BD-B263-7598-4096427FC24F}"/>
                    </a:ext>
                  </a:extLst>
                </p:cNvPr>
                <p:cNvSpPr/>
                <p:nvPr/>
              </p:nvSpPr>
              <p:spPr>
                <a:xfrm flipV="1">
                  <a:off x="2175510" y="678180"/>
                  <a:ext cx="225425" cy="487680"/>
                </a:xfrm>
                <a:prstGeom prst="upArrow">
                  <a:avLst>
                    <a:gd name="adj1" fmla="val 21691"/>
                    <a:gd name="adj2" fmla="val 73062"/>
                  </a:avLst>
                </a:prstGeom>
                <a:solidFill>
                  <a:srgbClr val="70AD47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Text Box 2">
                  <a:extLst>
                    <a:ext uri="{FF2B5EF4-FFF2-40B4-BE49-F238E27FC236}">
                      <a16:creationId xmlns:a16="http://schemas.microsoft.com/office/drawing/2014/main" id="{81AC9ACE-0920-B2EA-53F2-DB09F3B896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6460" y="93092"/>
                  <a:ext cx="2134234" cy="647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 dirty="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Production (Sewing) Line Area (Usually well-ventilated and Controlled Temperature)</a:t>
                  </a:r>
                </a:p>
              </p:txBody>
            </p:sp>
          </p:grpSp>
          <p:sp>
            <p:nvSpPr>
              <p:cNvPr id="20" name="Arrow: Quad 19">
                <a:extLst>
                  <a:ext uri="{FF2B5EF4-FFF2-40B4-BE49-F238E27FC236}">
                    <a16:creationId xmlns:a16="http://schemas.microsoft.com/office/drawing/2014/main" id="{9910BE32-7204-856D-C51E-CCFA4AD675BF}"/>
                  </a:ext>
                </a:extLst>
              </p:cNvPr>
              <p:cNvSpPr/>
              <p:nvPr/>
            </p:nvSpPr>
            <p:spPr>
              <a:xfrm>
                <a:off x="6263640" y="214884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" name="Arrow: Quad 20">
                <a:extLst>
                  <a:ext uri="{FF2B5EF4-FFF2-40B4-BE49-F238E27FC236}">
                    <a16:creationId xmlns:a16="http://schemas.microsoft.com/office/drawing/2014/main" id="{361D89BA-F25E-E271-1BD6-E3BAB39BB287}"/>
                  </a:ext>
                </a:extLst>
              </p:cNvPr>
              <p:cNvSpPr/>
              <p:nvPr/>
            </p:nvSpPr>
            <p:spPr>
              <a:xfrm>
                <a:off x="6286500" y="470154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2" name="Arrow: Quad 21">
                <a:extLst>
                  <a:ext uri="{FF2B5EF4-FFF2-40B4-BE49-F238E27FC236}">
                    <a16:creationId xmlns:a16="http://schemas.microsoft.com/office/drawing/2014/main" id="{05578C1E-37AE-76F4-35F1-11DDC25139B7}"/>
                  </a:ext>
                </a:extLst>
              </p:cNvPr>
              <p:cNvSpPr/>
              <p:nvPr/>
            </p:nvSpPr>
            <p:spPr>
              <a:xfrm>
                <a:off x="6286500" y="345186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C24021BB-3187-2E16-3869-0C932FDF0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9260" y="5775960"/>
              <a:ext cx="854074" cy="459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Packaging Platforms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1384733-FDC1-30EE-509F-70B3C88BA761}"/>
              </a:ext>
            </a:extLst>
          </p:cNvPr>
          <p:cNvSpPr txBox="1"/>
          <p:nvPr/>
        </p:nvSpPr>
        <p:spPr>
          <a:xfrm>
            <a:off x="0" y="120568"/>
            <a:ext cx="5602804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4000" b="1" cap="all" spc="600" dirty="0">
                <a:latin typeface="+mj-lt"/>
                <a:ea typeface="+mj-ea"/>
              </a:rPr>
              <a:t>E</a:t>
            </a:r>
            <a:r>
              <a:rPr lang="en-IN" sz="2800" b="1" cap="all" spc="600" dirty="0">
                <a:latin typeface="+mj-lt"/>
                <a:ea typeface="+mj-ea"/>
              </a:rPr>
              <a:t>valuating the ventilation system</a:t>
            </a:r>
          </a:p>
        </p:txBody>
      </p:sp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84875DCD-8F9B-A3A2-D483-C8969F10FA85}"/>
              </a:ext>
            </a:extLst>
          </p:cNvPr>
          <p:cNvGraphicFramePr>
            <a:graphicFrameLocks noGrp="1"/>
          </p:cNvGraphicFramePr>
          <p:nvPr/>
        </p:nvGraphicFramePr>
        <p:xfrm>
          <a:off x="611655" y="1890672"/>
          <a:ext cx="3981450" cy="1144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113878358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940883998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1819953674"/>
                    </a:ext>
                  </a:extLst>
                </a:gridCol>
              </a:tblGrid>
              <a:tr h="7243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Ceiling Fans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Exhaust Fans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 Coolers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150793"/>
                  </a:ext>
                </a:extLst>
              </a:tr>
              <a:tr h="4196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297961"/>
                  </a:ext>
                </a:extLst>
              </a:tr>
            </a:tbl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1CD80A39-2F1B-6972-35A1-8DA4DF2A51AD}"/>
              </a:ext>
            </a:extLst>
          </p:cNvPr>
          <p:cNvSpPr txBox="1"/>
          <p:nvPr/>
        </p:nvSpPr>
        <p:spPr>
          <a:xfrm>
            <a:off x="528222" y="1540238"/>
            <a:ext cx="1315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Quantity:</a:t>
            </a:r>
          </a:p>
        </p:txBody>
      </p:sp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1CAECA21-FBD3-82CB-3FC3-408F86D8CB71}"/>
              </a:ext>
            </a:extLst>
          </p:cNvPr>
          <p:cNvGraphicFramePr>
            <a:graphicFrameLocks noGrp="1"/>
          </p:cNvGraphicFramePr>
          <p:nvPr/>
        </p:nvGraphicFramePr>
        <p:xfrm>
          <a:off x="611655" y="3806198"/>
          <a:ext cx="3981450" cy="1144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113878358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3940883998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1819953674"/>
                    </a:ext>
                  </a:extLst>
                </a:gridCol>
              </a:tblGrid>
              <a:tr h="7243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Ceiling Fans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Exhaust Fans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 Coolers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150793"/>
                  </a:ext>
                </a:extLst>
              </a:tr>
              <a:tr h="4196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297961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928392C5-B5C6-5B09-36F3-714CAEC8E9CA}"/>
              </a:ext>
            </a:extLst>
          </p:cNvPr>
          <p:cNvSpPr txBox="1"/>
          <p:nvPr/>
        </p:nvSpPr>
        <p:spPr>
          <a:xfrm>
            <a:off x="611655" y="3466377"/>
            <a:ext cx="2417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Capacities in CFM: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E75F9A-D8E8-4ABF-35A9-131216367484}"/>
              </a:ext>
            </a:extLst>
          </p:cNvPr>
          <p:cNvSpPr txBox="1"/>
          <p:nvPr/>
        </p:nvSpPr>
        <p:spPr>
          <a:xfrm>
            <a:off x="528222" y="5238540"/>
            <a:ext cx="4554708" cy="1432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Total Available CFM = </a:t>
            </a:r>
            <a:r>
              <a:rPr lang="en-US" sz="2000" b="1" dirty="0"/>
              <a:t>371,000 CFM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Floor Volume = </a:t>
            </a:r>
            <a:r>
              <a:rPr lang="en-US" sz="2000" b="1" dirty="0"/>
              <a:t>880,000 cu. ft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Total Number of People at a time = </a:t>
            </a:r>
            <a:r>
              <a:rPr lang="en-US" sz="2000" b="1" dirty="0"/>
              <a:t>1130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6AA04-1400-D78E-0AB2-0C2D71582E2B}"/>
              </a:ext>
            </a:extLst>
          </p:cNvPr>
          <p:cNvSpPr txBox="1"/>
          <p:nvPr/>
        </p:nvSpPr>
        <p:spPr>
          <a:xfrm>
            <a:off x="6205714" y="6365642"/>
            <a:ext cx="540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Figure: An Approximate Layout of the Sewing Floor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172F4-7763-2C4A-C365-817C3B0F1A04}"/>
              </a:ext>
            </a:extLst>
          </p:cNvPr>
          <p:cNvSpPr txBox="1">
            <a:spLocks/>
          </p:cNvSpPr>
          <p:nvPr/>
        </p:nvSpPr>
        <p:spPr>
          <a:xfrm>
            <a:off x="9329521" y="642071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9A01C0A-2BB6-49E7-91A3-DCB9F9F59583}" type="slidenum">
              <a:rPr lang="en-US" sz="1200" smtClean="0"/>
              <a:pPr algn="r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542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3">
            <a:extLst>
              <a:ext uri="{FF2B5EF4-FFF2-40B4-BE49-F238E27FC236}">
                <a16:creationId xmlns:a16="http://schemas.microsoft.com/office/drawing/2014/main" id="{A36E66E8-F198-9BA4-1871-878E8F56A61B}"/>
              </a:ext>
            </a:extLst>
          </p:cNvPr>
          <p:cNvSpPr txBox="1"/>
          <p:nvPr/>
        </p:nvSpPr>
        <p:spPr>
          <a:xfrm>
            <a:off x="9525" y="130093"/>
            <a:ext cx="5602804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4000" b="1" cap="all" spc="600" dirty="0">
                <a:latin typeface="+mj-lt"/>
                <a:ea typeface="+mj-ea"/>
              </a:rPr>
              <a:t>E</a:t>
            </a:r>
            <a:r>
              <a:rPr lang="en-IN" sz="2800" b="1" cap="all" spc="600" dirty="0">
                <a:latin typeface="+mj-lt"/>
                <a:ea typeface="+mj-ea"/>
              </a:rPr>
              <a:t>valuating the ventilation system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190079-A780-C988-620D-7B3AC4290180}"/>
              </a:ext>
            </a:extLst>
          </p:cNvPr>
          <p:cNvGrpSpPr/>
          <p:nvPr/>
        </p:nvGrpSpPr>
        <p:grpSpPr>
          <a:xfrm>
            <a:off x="286306" y="1897029"/>
            <a:ext cx="5321419" cy="2573888"/>
            <a:chOff x="286306" y="1897029"/>
            <a:chExt cx="5321419" cy="2573888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84B0D3A-91BB-634B-4A90-0AB8E73D31E5}"/>
                </a:ext>
              </a:extLst>
            </p:cNvPr>
            <p:cNvGrpSpPr/>
            <p:nvPr/>
          </p:nvGrpSpPr>
          <p:grpSpPr>
            <a:xfrm>
              <a:off x="356940" y="2624587"/>
              <a:ext cx="5250785" cy="1846330"/>
              <a:chOff x="336071" y="2484827"/>
              <a:chExt cx="5250785" cy="184633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61A13135-EAC0-7FEB-C546-DA54EFAB90E6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71" y="2484827"/>
                    <a:ext cx="5053619" cy="5707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dirty="0"/>
                      <a:t>A</a:t>
                    </a:r>
                    <a14:m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𝐶𝐻</m:t>
                        </m:r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𝑇𝑜𝑡𝑎𝑙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𝐶𝐹𝑀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 ×60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𝑉𝑜𝑙𝑢𝑚𝑒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𝑡h𝑒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𝑆𝑒𝑤𝑖𝑛𝑔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𝐹𝑙𝑜𝑜𝑟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𝑐𝑢𝑏𝑖𝑐</m:t>
                                </m:r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𝑓𝑒𝑒𝑡</m:t>
                                </m:r>
                              </m:e>
                            </m:d>
                          </m:den>
                        </m:f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61A13135-EAC0-7FEB-C546-DA54EFAB90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071" y="2484827"/>
                    <a:ext cx="5053619" cy="57073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327" b="-2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1CBCA60-4FF9-D199-81F2-B0C3D705221A}"/>
                  </a:ext>
                </a:extLst>
              </p:cNvPr>
              <p:cNvSpPr txBox="1"/>
              <p:nvPr/>
            </p:nvSpPr>
            <p:spPr>
              <a:xfrm>
                <a:off x="939103" y="3377050"/>
                <a:ext cx="464775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</a:t>
                </a:r>
                <a:r>
                  <a:rPr lang="en-US" sz="2800" b="1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25.3 (well over standard range of 6-12, ASHRAE 62.1</a:t>
                </a:r>
                <a:r>
                  <a:rPr lang="en-US" sz="2400" b="1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)</a:t>
                </a:r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A834A60-D003-82F5-A8E4-23A6977681EC}"/>
                </a:ext>
              </a:extLst>
            </p:cNvPr>
            <p:cNvSpPr txBox="1"/>
            <p:nvPr/>
          </p:nvSpPr>
          <p:spPr>
            <a:xfrm>
              <a:off x="286306" y="1897029"/>
              <a:ext cx="39869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800" b="1" dirty="0"/>
                <a:t>Air Changes Per Hour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A8C014A-A5DD-A3A5-9494-DC5FDD8C1FBA}"/>
              </a:ext>
            </a:extLst>
          </p:cNvPr>
          <p:cNvGrpSpPr/>
          <p:nvPr/>
        </p:nvGrpSpPr>
        <p:grpSpPr>
          <a:xfrm>
            <a:off x="-1473320" y="4629431"/>
            <a:ext cx="7422076" cy="1922271"/>
            <a:chOff x="-1479619" y="4268474"/>
            <a:chExt cx="7422076" cy="192227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59C75E2-5D8A-2F92-D412-BB20E9B6073B}"/>
                </a:ext>
              </a:extLst>
            </p:cNvPr>
            <p:cNvSpPr txBox="1"/>
            <p:nvPr/>
          </p:nvSpPr>
          <p:spPr>
            <a:xfrm>
              <a:off x="356940" y="4268474"/>
              <a:ext cx="53167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800" b="1" dirty="0"/>
                <a:t>Required &amp; Actual Ventilation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91598BB-09E8-F327-AD56-1ABF6F5A74FD}"/>
                    </a:ext>
                  </a:extLst>
                </p:cNvPr>
                <p:cNvSpPr txBox="1"/>
                <p:nvPr/>
              </p:nvSpPr>
              <p:spPr>
                <a:xfrm>
                  <a:off x="-1479619" y="5051972"/>
                  <a:ext cx="7422076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𝑅𝑒𝑞𝑢𝑖𝑟𝑒𝑑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𝑉𝑒𝑛𝑡𝑖𝑙𝑎𝑡𝑖𝑜𝑛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𝐶𝑎𝑝𝑎𝑐𝑖𝑡𝑦</m:t>
                        </m:r>
                      </m:oMath>
                    </m:oMathPara>
                  </a14:m>
                  <a:endParaRPr lang="en-US" sz="2000" dirty="0"/>
                </a:p>
                <a:p>
                  <a:endParaRPr lang="en-US" sz="2000" dirty="0"/>
                </a:p>
                <a:p>
                  <a:r>
                    <a:rPr lang="en-US" sz="2000" dirty="0">
                      <a:solidFill>
                        <a:srgbClr val="00B050"/>
                      </a:solidFill>
                    </a:rPr>
                    <a:t>                 	                             = </a:t>
                  </a:r>
                  <a:r>
                    <a:rPr lang="en-US" sz="2800" b="1" dirty="0">
                      <a:solidFill>
                        <a:srgbClr val="00B050"/>
                      </a:solidFill>
                    </a:rPr>
                    <a:t>28,250 CFM (&lt;&lt;371,000 CFM</a:t>
                  </a:r>
                  <a:r>
                    <a:rPr lang="en-US" sz="2400" b="1" dirty="0">
                      <a:solidFill>
                        <a:srgbClr val="00B050"/>
                      </a:solidFill>
                    </a:rPr>
                    <a:t>)</a:t>
                  </a:r>
                  <a:endParaRPr lang="en-US" sz="20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91598BB-09E8-F327-AD56-1ABF6F5A7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479619" y="5051972"/>
                  <a:ext cx="7422076" cy="1138773"/>
                </a:xfrm>
                <a:prstGeom prst="rect">
                  <a:avLst/>
                </a:prstGeom>
                <a:blipFill>
                  <a:blip r:embed="rId3"/>
                  <a:stretch>
                    <a:fillRect r="-657" b="-139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B5A3C9E-5E09-39AA-6FD8-86F16CA097FD}"/>
              </a:ext>
            </a:extLst>
          </p:cNvPr>
          <p:cNvSpPr txBox="1"/>
          <p:nvPr/>
        </p:nvSpPr>
        <p:spPr>
          <a:xfrm>
            <a:off x="6205714" y="6365642"/>
            <a:ext cx="540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Figure: An Approximate Layout of the Sewing Floor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31E7584-E6E0-9926-D950-F85C507EF0C5}"/>
              </a:ext>
            </a:extLst>
          </p:cNvPr>
          <p:cNvSpPr txBox="1">
            <a:spLocks/>
          </p:cNvSpPr>
          <p:nvPr/>
        </p:nvSpPr>
        <p:spPr>
          <a:xfrm>
            <a:off x="9448800" y="649974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9A01C0A-2BB6-49E7-91A3-DCB9F9F59583}" type="slidenum">
              <a:rPr lang="en-US" sz="1200" smtClean="0"/>
              <a:pPr algn="r"/>
              <a:t>17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747CEE-A460-3080-3B9B-5626B37F2FA0}"/>
              </a:ext>
            </a:extLst>
          </p:cNvPr>
          <p:cNvGrpSpPr/>
          <p:nvPr/>
        </p:nvGrpSpPr>
        <p:grpSpPr>
          <a:xfrm>
            <a:off x="5317757" y="131582"/>
            <a:ext cx="6490068" cy="6145946"/>
            <a:chOff x="60642" y="87630"/>
            <a:chExt cx="6854508" cy="63779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4A8F6D-F8A7-67F3-F61D-0F36773CF5DA}"/>
                </a:ext>
              </a:extLst>
            </p:cNvPr>
            <p:cNvGrpSpPr/>
            <p:nvPr/>
          </p:nvGrpSpPr>
          <p:grpSpPr>
            <a:xfrm>
              <a:off x="60642" y="87630"/>
              <a:ext cx="6854508" cy="6377940"/>
              <a:chOff x="60642" y="87630"/>
              <a:chExt cx="6854508" cy="637794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235FF5F-AD50-402D-E300-72EE82390A8F}"/>
                  </a:ext>
                </a:extLst>
              </p:cNvPr>
              <p:cNvGrpSpPr/>
              <p:nvPr/>
            </p:nvGrpSpPr>
            <p:grpSpPr>
              <a:xfrm>
                <a:off x="60642" y="87630"/>
                <a:ext cx="6854508" cy="6377940"/>
                <a:chOff x="60642" y="87630"/>
                <a:chExt cx="6854508" cy="6377940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48DCAD2-CB43-ECA9-9B74-BA1409E86777}"/>
                    </a:ext>
                  </a:extLst>
                </p:cNvPr>
                <p:cNvGrpSpPr/>
                <p:nvPr/>
              </p:nvGrpSpPr>
              <p:grpSpPr>
                <a:xfrm>
                  <a:off x="60642" y="87630"/>
                  <a:ext cx="6854508" cy="6377940"/>
                  <a:chOff x="60642" y="0"/>
                  <a:chExt cx="6854508" cy="6377940"/>
                </a:xfrm>
              </p:grpSpPr>
              <p:sp>
                <p:nvSpPr>
                  <p:cNvPr id="17" name="Arrow: U-Turn 16">
                    <a:extLst>
                      <a:ext uri="{FF2B5EF4-FFF2-40B4-BE49-F238E27FC236}">
                        <a16:creationId xmlns:a16="http://schemas.microsoft.com/office/drawing/2014/main" id="{83589A4F-776A-7A98-78CC-F9814BA678C8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4606290" y="1272540"/>
                    <a:ext cx="578278" cy="401320"/>
                  </a:xfrm>
                  <a:prstGeom prst="uturnArrow">
                    <a:avLst>
                      <a:gd name="adj1" fmla="val 5766"/>
                      <a:gd name="adj2" fmla="val 11107"/>
                      <a:gd name="adj3" fmla="val 18054"/>
                      <a:gd name="adj4" fmla="val 43750"/>
                      <a:gd name="adj5" fmla="val 10000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solidFill>
                      <a:srgbClr val="4472C4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BB222DD0-CBF1-7CFA-82CE-FBBA922E797C}"/>
                      </a:ext>
                    </a:extLst>
                  </p:cNvPr>
                  <p:cNvGrpSpPr/>
                  <p:nvPr/>
                </p:nvGrpSpPr>
                <p:grpSpPr>
                  <a:xfrm>
                    <a:off x="60642" y="0"/>
                    <a:ext cx="6854508" cy="6377940"/>
                    <a:chOff x="60642" y="0"/>
                    <a:chExt cx="6854508" cy="6377940"/>
                  </a:xfrm>
                </p:grpSpPr>
                <p:sp>
                  <p:nvSpPr>
                    <p:cNvPr id="19" name="Arrow: Up 18">
                      <a:extLst>
                        <a:ext uri="{FF2B5EF4-FFF2-40B4-BE49-F238E27FC236}">
                          <a16:creationId xmlns:a16="http://schemas.microsoft.com/office/drawing/2014/main" id="{368F6032-BF50-C537-6F17-CCC8267D1DB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817870" y="590550"/>
                      <a:ext cx="225425" cy="487680"/>
                    </a:xfrm>
                    <a:prstGeom prst="upArrow">
                      <a:avLst>
                        <a:gd name="adj1" fmla="val 21691"/>
                        <a:gd name="adj2" fmla="val 73062"/>
                      </a:avLst>
                    </a:prstGeom>
                    <a:solidFill>
                      <a:srgbClr val="ED7D31"/>
                    </a:solidFill>
                    <a:ln w="12700" cap="flat" cmpd="sng" algn="ctr">
                      <a:solidFill>
                        <a:srgbClr val="4472C4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9E4137DF-BD42-A0DB-F679-2C1E61A97C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642" y="0"/>
                      <a:ext cx="6854508" cy="6377940"/>
                      <a:chOff x="60642" y="0"/>
                      <a:chExt cx="6854508" cy="6377940"/>
                    </a:xfrm>
                  </p:grpSpPr>
                  <p:sp>
                    <p:nvSpPr>
                      <p:cNvPr id="21" name="Arrow: Pentagon 20">
                        <a:extLst>
                          <a:ext uri="{FF2B5EF4-FFF2-40B4-BE49-F238E27FC236}">
                            <a16:creationId xmlns:a16="http://schemas.microsoft.com/office/drawing/2014/main" id="{8B9F0933-E412-37F6-31A1-2399671835EA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5265420" y="3299460"/>
                        <a:ext cx="910590" cy="365760"/>
                      </a:xfrm>
                      <a:prstGeom prst="homePlate">
                        <a:avLst>
                          <a:gd name="adj" fmla="val 26409"/>
                        </a:avLst>
                      </a:prstGeom>
                      <a:noFill/>
                      <a:ln w="28575" cap="flat" cmpd="sng" algn="ctr">
                        <a:solidFill>
                          <a:srgbClr val="4472C4">
                            <a:shade val="15000"/>
                          </a:srgbClr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00102637-0FD3-506E-AF47-8B675FD1B42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642" y="0"/>
                        <a:ext cx="6854508" cy="6377940"/>
                        <a:chOff x="60642" y="0"/>
                        <a:chExt cx="6854508" cy="6377940"/>
                      </a:xfrm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BDBD0C97-0BBB-DACA-1F4C-32D3CC4AFAD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0642" y="0"/>
                          <a:ext cx="6854508" cy="6377940"/>
                          <a:chOff x="60642" y="0"/>
                          <a:chExt cx="6854508" cy="6377940"/>
                        </a:xfrm>
                      </p:grpSpPr>
                      <p:sp>
                        <p:nvSpPr>
                          <p:cNvPr id="26" name="Text Box 2">
                            <a:extLst>
                              <a:ext uri="{FF2B5EF4-FFF2-40B4-BE49-F238E27FC236}">
                                <a16:creationId xmlns:a16="http://schemas.microsoft.com/office/drawing/2014/main" id="{765107ED-30C2-37B2-B77B-2BE542E6DFA5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343857" y="266700"/>
                            <a:ext cx="1143000" cy="67818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Packaging Area </a:t>
                            </a:r>
                            <a:endParaRPr lang="en-US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7" name="Text Box 2">
                            <a:extLst>
                              <a:ext uri="{FF2B5EF4-FFF2-40B4-BE49-F238E27FC236}">
                                <a16:creationId xmlns:a16="http://schemas.microsoft.com/office/drawing/2014/main" id="{122D6E50-5C3C-44B4-23A2-D5340CEF1F4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0642" y="1262050"/>
                            <a:ext cx="732154" cy="45913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sp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Exhaust Fans</a:t>
                            </a:r>
                          </a:p>
                        </p:txBody>
                      </p:sp>
                      <p:grpSp>
                        <p:nvGrpSpPr>
                          <p:cNvPr id="28" name="Group 27">
                            <a:extLst>
                              <a:ext uri="{FF2B5EF4-FFF2-40B4-BE49-F238E27FC236}">
                                <a16:creationId xmlns:a16="http://schemas.microsoft.com/office/drawing/2014/main" id="{7C2E2BFB-464D-9F8D-160A-183905D3F70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97230" y="0"/>
                            <a:ext cx="6217920" cy="6377940"/>
                            <a:chOff x="0" y="0"/>
                            <a:chExt cx="6217920" cy="6377940"/>
                          </a:xfrm>
                        </p:grpSpPr>
                        <p:sp>
                          <p:nvSpPr>
                            <p:cNvPr id="30" name="Rectangle 29">
                              <a:extLst>
                                <a:ext uri="{FF2B5EF4-FFF2-40B4-BE49-F238E27FC236}">
                                  <a16:creationId xmlns:a16="http://schemas.microsoft.com/office/drawing/2014/main" id="{597F9EE2-5AAC-8767-66D6-C01B37774F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13360" y="0"/>
                              <a:ext cx="5798820" cy="6377940"/>
                            </a:xfrm>
                            <a:prstGeom prst="rect">
                              <a:avLst/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31" name="Group 30">
                              <a:extLst>
                                <a:ext uri="{FF2B5EF4-FFF2-40B4-BE49-F238E27FC236}">
                                  <a16:creationId xmlns:a16="http://schemas.microsoft.com/office/drawing/2014/main" id="{560A6FFB-7B68-C6B1-18ED-E8BDC1718EA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66800" y="552450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76" name="Straight Connector 75">
                                <a:extLst>
                                  <a:ext uri="{FF2B5EF4-FFF2-40B4-BE49-F238E27FC236}">
                                    <a16:creationId xmlns:a16="http://schemas.microsoft.com/office/drawing/2014/main" id="{D7E271CE-6715-A90C-CB75-ED58A928527A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7" name="Straight Connector 76">
                                <a:extLst>
                                  <a:ext uri="{FF2B5EF4-FFF2-40B4-BE49-F238E27FC236}">
                                    <a16:creationId xmlns:a16="http://schemas.microsoft.com/office/drawing/2014/main" id="{4AF29D4F-2D58-898B-1DD3-61357966CBC8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8" name="Straight Connector 77">
                                <a:extLst>
                                  <a:ext uri="{FF2B5EF4-FFF2-40B4-BE49-F238E27FC236}">
                                    <a16:creationId xmlns:a16="http://schemas.microsoft.com/office/drawing/2014/main" id="{DD7C78F6-FB26-15F8-F9BB-131D64953AC8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32" name="Group 31">
                              <a:extLst>
                                <a:ext uri="{FF2B5EF4-FFF2-40B4-BE49-F238E27FC236}">
                                  <a16:creationId xmlns:a16="http://schemas.microsoft.com/office/drawing/2014/main" id="{064696A7-4AFE-04B9-12A2-A0E095F1387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46558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73" name="Straight Connector 72">
                                <a:extLst>
                                  <a:ext uri="{FF2B5EF4-FFF2-40B4-BE49-F238E27FC236}">
                                    <a16:creationId xmlns:a16="http://schemas.microsoft.com/office/drawing/2014/main" id="{9319B903-DD28-6E3C-8F4A-EEC5D9277E09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4" name="Straight Connector 73">
                                <a:extLst>
                                  <a:ext uri="{FF2B5EF4-FFF2-40B4-BE49-F238E27FC236}">
                                    <a16:creationId xmlns:a16="http://schemas.microsoft.com/office/drawing/2014/main" id="{4A3FB61A-D9F2-4EFE-FBBC-7FA5D281879F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5" name="Straight Connector 74">
                                <a:extLst>
                                  <a:ext uri="{FF2B5EF4-FFF2-40B4-BE49-F238E27FC236}">
                                    <a16:creationId xmlns:a16="http://schemas.microsoft.com/office/drawing/2014/main" id="{DC2356AF-7280-4495-2B8E-9C20BBA08305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33" name="Group 32">
                              <a:extLst>
                                <a:ext uri="{FF2B5EF4-FFF2-40B4-BE49-F238E27FC236}">
                                  <a16:creationId xmlns:a16="http://schemas.microsoft.com/office/drawing/2014/main" id="{77960216-9484-552B-0E41-CD1099CFE7A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89660" y="379476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70" name="Straight Connector 69">
                                <a:extLst>
                                  <a:ext uri="{FF2B5EF4-FFF2-40B4-BE49-F238E27FC236}">
                                    <a16:creationId xmlns:a16="http://schemas.microsoft.com/office/drawing/2014/main" id="{D2A34E7F-4774-2A51-86F2-7C5F4EC24DDF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1" name="Straight Connector 70">
                                <a:extLst>
                                  <a:ext uri="{FF2B5EF4-FFF2-40B4-BE49-F238E27FC236}">
                                    <a16:creationId xmlns:a16="http://schemas.microsoft.com/office/drawing/2014/main" id="{F62B86DF-B609-CC4D-F543-7D3B7FF44FA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72" name="Straight Connector 71">
                                <a:extLst>
                                  <a:ext uri="{FF2B5EF4-FFF2-40B4-BE49-F238E27FC236}">
                                    <a16:creationId xmlns:a16="http://schemas.microsoft.com/office/drawing/2014/main" id="{616AE85E-AC7E-D6DA-07AC-E9FFA8ECE833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34" name="Group 33">
                              <a:extLst>
                                <a:ext uri="{FF2B5EF4-FFF2-40B4-BE49-F238E27FC236}">
                                  <a16:creationId xmlns:a16="http://schemas.microsoft.com/office/drawing/2014/main" id="{A00C25F7-DA0C-8B90-6CB2-FC4EE8F8A1B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13030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67" name="Straight Connector 66">
                                <a:extLst>
                                  <a:ext uri="{FF2B5EF4-FFF2-40B4-BE49-F238E27FC236}">
                                    <a16:creationId xmlns:a16="http://schemas.microsoft.com/office/drawing/2014/main" id="{C25552BF-8960-4280-9865-C576CE94281E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68" name="Straight Connector 67">
                                <a:extLst>
                                  <a:ext uri="{FF2B5EF4-FFF2-40B4-BE49-F238E27FC236}">
                                    <a16:creationId xmlns:a16="http://schemas.microsoft.com/office/drawing/2014/main" id="{E9C27F4C-387E-EEC5-459C-2656E7BA769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69" name="Straight Connector 68">
                                <a:extLst>
                                  <a:ext uri="{FF2B5EF4-FFF2-40B4-BE49-F238E27FC236}">
                                    <a16:creationId xmlns:a16="http://schemas.microsoft.com/office/drawing/2014/main" id="{73BC8922-40A0-75D7-1073-ACB0518BE5A9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35" name="Group 34">
                              <a:extLst>
                                <a:ext uri="{FF2B5EF4-FFF2-40B4-BE49-F238E27FC236}">
                                  <a16:creationId xmlns:a16="http://schemas.microsoft.com/office/drawing/2014/main" id="{827A373C-F763-8574-7995-6D3582CA3FC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211836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64" name="Straight Connector 63">
                                <a:extLst>
                                  <a:ext uri="{FF2B5EF4-FFF2-40B4-BE49-F238E27FC236}">
                                    <a16:creationId xmlns:a16="http://schemas.microsoft.com/office/drawing/2014/main" id="{2DED2A46-44EF-497B-037A-A3C9AEEB78B7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65" name="Straight Connector 64">
                                <a:extLst>
                                  <a:ext uri="{FF2B5EF4-FFF2-40B4-BE49-F238E27FC236}">
                                    <a16:creationId xmlns:a16="http://schemas.microsoft.com/office/drawing/2014/main" id="{EAD06BC3-A29F-5CFB-4E3C-AD66EFC048BF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66" name="Straight Connector 65">
                                <a:extLst>
                                  <a:ext uri="{FF2B5EF4-FFF2-40B4-BE49-F238E27FC236}">
                                    <a16:creationId xmlns:a16="http://schemas.microsoft.com/office/drawing/2014/main" id="{13D09478-AED7-3DEE-437C-B990AD2F7A67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36" name="Group 35">
                              <a:extLst>
                                <a:ext uri="{FF2B5EF4-FFF2-40B4-BE49-F238E27FC236}">
                                  <a16:creationId xmlns:a16="http://schemas.microsoft.com/office/drawing/2014/main" id="{BD5109A3-D6CD-B167-4520-DF51C496197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29794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61" name="Straight Connector 60">
                                <a:extLst>
                                  <a:ext uri="{FF2B5EF4-FFF2-40B4-BE49-F238E27FC236}">
                                    <a16:creationId xmlns:a16="http://schemas.microsoft.com/office/drawing/2014/main" id="{BD0B84D3-16C3-1D6B-A483-E5349FA6250E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62" name="Straight Connector 61">
                                <a:extLst>
                                  <a:ext uri="{FF2B5EF4-FFF2-40B4-BE49-F238E27FC236}">
                                    <a16:creationId xmlns:a16="http://schemas.microsoft.com/office/drawing/2014/main" id="{D907B1DE-A3A3-AD19-E736-B26FFC5D1C23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63" name="Straight Connector 62">
                                <a:extLst>
                                  <a:ext uri="{FF2B5EF4-FFF2-40B4-BE49-F238E27FC236}">
                                    <a16:creationId xmlns:a16="http://schemas.microsoft.com/office/drawing/2014/main" id="{75DF52C4-06A6-08AD-EE0A-664692341197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sp>
                          <p:nvSpPr>
                            <p:cNvPr id="37" name="&quot;Not Allowed&quot; Symbol 36">
                              <a:extLst>
                                <a:ext uri="{FF2B5EF4-FFF2-40B4-BE49-F238E27FC236}">
                                  <a16:creationId xmlns:a16="http://schemas.microsoft.com/office/drawing/2014/main" id="{D36A3B3D-1DBB-780A-792E-2DE3B06AF1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19050" y="128397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8" name="&quot;Not Allowed&quot; Symbol 37">
                              <a:extLst>
                                <a:ext uri="{FF2B5EF4-FFF2-40B4-BE49-F238E27FC236}">
                                  <a16:creationId xmlns:a16="http://schemas.microsoft.com/office/drawing/2014/main" id="{83DB39D9-69A6-A77A-58DE-5FB7EBBE31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3810" y="4773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39" name="&quot;Not Allowed&quot; Symbol 38">
                              <a:extLst>
                                <a:ext uri="{FF2B5EF4-FFF2-40B4-BE49-F238E27FC236}">
                                  <a16:creationId xmlns:a16="http://schemas.microsoft.com/office/drawing/2014/main" id="{DC0D3AC3-E8B1-7874-E9F7-64DC56EC2AB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7620" y="362712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0" name="&quot;Not Allowed&quot; Symbol 39">
                              <a:extLst>
                                <a:ext uri="{FF2B5EF4-FFF2-40B4-BE49-F238E27FC236}">
                                  <a16:creationId xmlns:a16="http://schemas.microsoft.com/office/drawing/2014/main" id="{4DE5090B-630F-5187-14EB-2799D7B4198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19050" y="245745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" name="&quot;Not Allowed&quot; Symbol 40">
                              <a:extLst>
                                <a:ext uri="{FF2B5EF4-FFF2-40B4-BE49-F238E27FC236}">
                                  <a16:creationId xmlns:a16="http://schemas.microsoft.com/office/drawing/2014/main" id="{701CA1AC-A0E1-3093-BB94-2EEE5BDB43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10250" y="1344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2" name="&quot;Not Allowed&quot; Symbol 41">
                              <a:extLst>
                                <a:ext uri="{FF2B5EF4-FFF2-40B4-BE49-F238E27FC236}">
                                  <a16:creationId xmlns:a16="http://schemas.microsoft.com/office/drawing/2014/main" id="{0F88A10A-9841-7BAF-0572-1470F704B1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06440" y="478536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3" name="&quot;Not Allowed&quot; Symbol 42">
                              <a:extLst>
                                <a:ext uri="{FF2B5EF4-FFF2-40B4-BE49-F238E27FC236}">
                                  <a16:creationId xmlns:a16="http://schemas.microsoft.com/office/drawing/2014/main" id="{6DDBF7C0-F7D4-A27F-A9AB-006F8A8C1F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10250" y="3630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4" name="&quot;Not Allowed&quot; Symbol 43">
                              <a:extLst>
                                <a:ext uri="{FF2B5EF4-FFF2-40B4-BE49-F238E27FC236}">
                                  <a16:creationId xmlns:a16="http://schemas.microsoft.com/office/drawing/2014/main" id="{8D272388-3009-5E16-4AF0-60FD79665D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06440" y="243840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5" name="Rectangle: Rounded Corners 44">
                              <a:extLst>
                                <a:ext uri="{FF2B5EF4-FFF2-40B4-BE49-F238E27FC236}">
                                  <a16:creationId xmlns:a16="http://schemas.microsoft.com/office/drawing/2014/main" id="{55DF45F8-84A3-8939-4A6E-728590C6D1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13960" y="116586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6" name="Rectangle: Rounded Corners 45">
                              <a:extLst>
                                <a:ext uri="{FF2B5EF4-FFF2-40B4-BE49-F238E27FC236}">
                                  <a16:creationId xmlns:a16="http://schemas.microsoft.com/office/drawing/2014/main" id="{31E16590-4DE2-A46E-FC55-19E405569C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29200" y="499110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7" name="Rectangle: Rounded Corners 46">
                              <a:extLst>
                                <a:ext uri="{FF2B5EF4-FFF2-40B4-BE49-F238E27FC236}">
                                  <a16:creationId xmlns:a16="http://schemas.microsoft.com/office/drawing/2014/main" id="{890A00DA-09CE-4FAE-B293-7BB6650089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29200" y="375666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8" name="Rectangle: Rounded Corners 47">
                              <a:extLst>
                                <a:ext uri="{FF2B5EF4-FFF2-40B4-BE49-F238E27FC236}">
                                  <a16:creationId xmlns:a16="http://schemas.microsoft.com/office/drawing/2014/main" id="{EC63D9FE-9214-488B-B576-4F76791E42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06340" y="248412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9" name="Arrow: Pentagon 48">
                              <a:extLst>
                                <a:ext uri="{FF2B5EF4-FFF2-40B4-BE49-F238E27FC236}">
                                  <a16:creationId xmlns:a16="http://schemas.microsoft.com/office/drawing/2014/main" id="{1FDDFEE7-15C6-05EA-F1FF-DF74EDB5B2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flipH="1">
                              <a:off x="4575810" y="4556760"/>
                              <a:ext cx="910590" cy="365760"/>
                            </a:xfrm>
                            <a:prstGeom prst="homePlate">
                              <a:avLst>
                                <a:gd name="adj" fmla="val 26409"/>
                              </a:avLst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0" name="Arrow: Pentagon 49">
                              <a:extLst>
                                <a:ext uri="{FF2B5EF4-FFF2-40B4-BE49-F238E27FC236}">
                                  <a16:creationId xmlns:a16="http://schemas.microsoft.com/office/drawing/2014/main" id="{4EF65481-0686-484C-4CB1-0A7CA87E9C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flipH="1">
                              <a:off x="4575810" y="2004060"/>
                              <a:ext cx="910590" cy="365760"/>
                            </a:xfrm>
                            <a:prstGeom prst="homePlate">
                              <a:avLst>
                                <a:gd name="adj" fmla="val 26409"/>
                              </a:avLst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1" name="Arrow: Quad 50">
                              <a:extLst>
                                <a:ext uri="{FF2B5EF4-FFF2-40B4-BE49-F238E27FC236}">
                                  <a16:creationId xmlns:a16="http://schemas.microsoft.com/office/drawing/2014/main" id="{74CF961F-8315-0038-EAFC-5FC27843B0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9670" y="473583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2" name="Arrow: Quad 51">
                              <a:extLst>
                                <a:ext uri="{FF2B5EF4-FFF2-40B4-BE49-F238E27FC236}">
                                  <a16:creationId xmlns:a16="http://schemas.microsoft.com/office/drawing/2014/main" id="{B313D65E-DDB6-08D9-26D8-884157FB3C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7183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3" name="Arrow: Quad 52">
                              <a:extLst>
                                <a:ext uri="{FF2B5EF4-FFF2-40B4-BE49-F238E27FC236}">
                                  <a16:creationId xmlns:a16="http://schemas.microsoft.com/office/drawing/2014/main" id="{F2989156-7876-42F9-67BF-A27ABB8EB4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32029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4" name="Arrow: Quad 53">
                              <a:extLst>
                                <a:ext uri="{FF2B5EF4-FFF2-40B4-BE49-F238E27FC236}">
                                  <a16:creationId xmlns:a16="http://schemas.microsoft.com/office/drawing/2014/main" id="{AA31B6B3-CA6C-D03D-BEF7-06939EC473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613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5" name="Arrow: Quad 54">
                              <a:extLst>
                                <a:ext uri="{FF2B5EF4-FFF2-40B4-BE49-F238E27FC236}">
                                  <a16:creationId xmlns:a16="http://schemas.microsoft.com/office/drawing/2014/main" id="{FB90CC92-4616-9CDE-C150-8291B07D99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947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6" name="Arrow: Quad 55">
                              <a:extLst>
                                <a:ext uri="{FF2B5EF4-FFF2-40B4-BE49-F238E27FC236}">
                                  <a16:creationId xmlns:a16="http://schemas.microsoft.com/office/drawing/2014/main" id="{F81A2B98-AC3A-43AE-79AA-1CCA4FBF12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900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7" name="Arrow: Left-Up 56">
                              <a:extLst>
                                <a:ext uri="{FF2B5EF4-FFF2-40B4-BE49-F238E27FC236}">
                                  <a16:creationId xmlns:a16="http://schemas.microsoft.com/office/drawing/2014/main" id="{5DBD9F07-DD89-950F-5D27-0EE80FB525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48468" y="205771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8" name="Arrow: Left-Up 57">
                              <a:extLst>
                                <a:ext uri="{FF2B5EF4-FFF2-40B4-BE49-F238E27FC236}">
                                  <a16:creationId xmlns:a16="http://schemas.microsoft.com/office/drawing/2014/main" id="{A080EF32-4384-EAD3-041A-3799F49E50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48468" y="462565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59" name="Arrow: Left-Up 58">
                              <a:extLst>
                                <a:ext uri="{FF2B5EF4-FFF2-40B4-BE49-F238E27FC236}">
                                  <a16:creationId xmlns:a16="http://schemas.microsoft.com/office/drawing/2014/main" id="{FAB7E84B-ECC8-DD34-6509-C015F71153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33228" y="334549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60" name="Text Box 2">
                              <a:extLst>
                                <a:ext uri="{FF2B5EF4-FFF2-40B4-BE49-F238E27FC236}">
                                  <a16:creationId xmlns:a16="http://schemas.microsoft.com/office/drawing/2014/main" id="{56FE7A7D-A562-A4DC-9E53-60CF464370DF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751070" y="3249930"/>
                              <a:ext cx="632460" cy="525780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no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n-US" sz="1100" dirty="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Air Cooler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29" name="Text Box 2">
                            <a:extLst>
                              <a:ext uri="{FF2B5EF4-FFF2-40B4-BE49-F238E27FC236}">
                                <a16:creationId xmlns:a16="http://schemas.microsoft.com/office/drawing/2014/main" id="{CEED44B5-451C-F0EE-F6E4-BC45B117BD33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409700" y="1310640"/>
                            <a:ext cx="2042160" cy="3810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just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U-shaped Sewing Line</a:t>
                            </a:r>
                          </a:p>
                        </p:txBody>
                      </p:sp>
                    </p:grpSp>
                    <p:sp>
                      <p:nvSpPr>
                        <p:cNvPr id="24" name="Text Box 2">
                          <a:extLst>
                            <a:ext uri="{FF2B5EF4-FFF2-40B4-BE49-F238E27FC236}">
                              <a16:creationId xmlns:a16="http://schemas.microsoft.com/office/drawing/2014/main" id="{BF384E95-EB77-45D6-DEDB-3FDDECD28F49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54480" y="4972050"/>
                          <a:ext cx="854074" cy="4591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>
                          <a:spAutoFit/>
                        </a:bodyPr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Ceiling Fans</a:t>
                          </a:r>
                        </a:p>
                      </p:txBody>
                    </p:sp>
                    <p:cxnSp>
                      <p:nvCxnSpPr>
                        <p:cNvPr id="25" name="Straight Connector 24">
                          <a:extLst>
                            <a:ext uri="{FF2B5EF4-FFF2-40B4-BE49-F238E27FC236}">
                              <a16:creationId xmlns:a16="http://schemas.microsoft.com/office/drawing/2014/main" id="{2E5AD848-BDE1-BFA1-7C24-93580391BED7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2240280" y="4857750"/>
                          <a:ext cx="266700" cy="304800"/>
                        </a:xfrm>
                        <a:prstGeom prst="line">
                          <a:avLst/>
                        </a:prstGeom>
                        <a:noFill/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</p:grpSp>
                </p:grpSp>
              </p:grpSp>
            </p:grpSp>
            <p:sp>
              <p:nvSpPr>
                <p:cNvPr id="14" name="Arrow: Up 13">
                  <a:extLst>
                    <a:ext uri="{FF2B5EF4-FFF2-40B4-BE49-F238E27FC236}">
                      <a16:creationId xmlns:a16="http://schemas.microsoft.com/office/drawing/2014/main" id="{F5810235-07B7-951A-C6B9-827017FAD40C}"/>
                    </a:ext>
                  </a:extLst>
                </p:cNvPr>
                <p:cNvSpPr/>
                <p:nvPr/>
              </p:nvSpPr>
              <p:spPr>
                <a:xfrm flipV="1">
                  <a:off x="3973830" y="685800"/>
                  <a:ext cx="225425" cy="487680"/>
                </a:xfrm>
                <a:prstGeom prst="upArrow">
                  <a:avLst>
                    <a:gd name="adj1" fmla="val 21691"/>
                    <a:gd name="adj2" fmla="val 73062"/>
                  </a:avLst>
                </a:prstGeom>
                <a:solidFill>
                  <a:srgbClr val="70AD47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Arrow: Up 14">
                  <a:extLst>
                    <a:ext uri="{FF2B5EF4-FFF2-40B4-BE49-F238E27FC236}">
                      <a16:creationId xmlns:a16="http://schemas.microsoft.com/office/drawing/2014/main" id="{5C6F3371-5846-1A80-02C8-F5D27DAA67C4}"/>
                    </a:ext>
                  </a:extLst>
                </p:cNvPr>
                <p:cNvSpPr/>
                <p:nvPr/>
              </p:nvSpPr>
              <p:spPr>
                <a:xfrm flipV="1">
                  <a:off x="2175510" y="678180"/>
                  <a:ext cx="225425" cy="487680"/>
                </a:xfrm>
                <a:prstGeom prst="upArrow">
                  <a:avLst>
                    <a:gd name="adj1" fmla="val 21691"/>
                    <a:gd name="adj2" fmla="val 73062"/>
                  </a:avLst>
                </a:prstGeom>
                <a:solidFill>
                  <a:srgbClr val="70AD47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Text Box 2">
                  <a:extLst>
                    <a:ext uri="{FF2B5EF4-FFF2-40B4-BE49-F238E27FC236}">
                      <a16:creationId xmlns:a16="http://schemas.microsoft.com/office/drawing/2014/main" id="{9C37E43B-F03F-7322-AD1C-E052FA9C0C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6460" y="93092"/>
                  <a:ext cx="2134234" cy="647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 dirty="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Production (Sewing) Line Area (Usually well-ventilated and Controlled Temperature)</a:t>
                  </a:r>
                </a:p>
              </p:txBody>
            </p:sp>
          </p:grpSp>
          <p:sp>
            <p:nvSpPr>
              <p:cNvPr id="10" name="Arrow: Quad 9">
                <a:extLst>
                  <a:ext uri="{FF2B5EF4-FFF2-40B4-BE49-F238E27FC236}">
                    <a16:creationId xmlns:a16="http://schemas.microsoft.com/office/drawing/2014/main" id="{DF9D8B12-1681-6204-40D7-B66091C97253}"/>
                  </a:ext>
                </a:extLst>
              </p:cNvPr>
              <p:cNvSpPr/>
              <p:nvPr/>
            </p:nvSpPr>
            <p:spPr>
              <a:xfrm>
                <a:off x="6263640" y="214884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1" name="Arrow: Quad 10">
                <a:extLst>
                  <a:ext uri="{FF2B5EF4-FFF2-40B4-BE49-F238E27FC236}">
                    <a16:creationId xmlns:a16="http://schemas.microsoft.com/office/drawing/2014/main" id="{0CCD81B5-F6CE-4BE0-4A9B-307FF513D0F8}"/>
                  </a:ext>
                </a:extLst>
              </p:cNvPr>
              <p:cNvSpPr/>
              <p:nvPr/>
            </p:nvSpPr>
            <p:spPr>
              <a:xfrm>
                <a:off x="6286500" y="470154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2" name="Arrow: Quad 11">
                <a:extLst>
                  <a:ext uri="{FF2B5EF4-FFF2-40B4-BE49-F238E27FC236}">
                    <a16:creationId xmlns:a16="http://schemas.microsoft.com/office/drawing/2014/main" id="{AA6D44DF-3AFC-E77E-C792-9156E7FC5261}"/>
                  </a:ext>
                </a:extLst>
              </p:cNvPr>
              <p:cNvSpPr/>
              <p:nvPr/>
            </p:nvSpPr>
            <p:spPr>
              <a:xfrm>
                <a:off x="6286500" y="345186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D2E219DA-8CE8-C265-8D29-C682B2665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9260" y="5775960"/>
              <a:ext cx="854074" cy="459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Packaging Platforms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045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3">
            <a:extLst>
              <a:ext uri="{FF2B5EF4-FFF2-40B4-BE49-F238E27FC236}">
                <a16:creationId xmlns:a16="http://schemas.microsoft.com/office/drawing/2014/main" id="{A36E66E8-F198-9BA4-1871-878E8F56A61B}"/>
              </a:ext>
            </a:extLst>
          </p:cNvPr>
          <p:cNvSpPr txBox="1"/>
          <p:nvPr/>
        </p:nvSpPr>
        <p:spPr>
          <a:xfrm>
            <a:off x="0" y="120568"/>
            <a:ext cx="5602804" cy="10366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4000" b="1" cap="all" spc="600" dirty="0">
                <a:latin typeface="+mj-lt"/>
                <a:ea typeface="+mj-ea"/>
              </a:rPr>
              <a:t>P</a:t>
            </a:r>
            <a:r>
              <a:rPr lang="en-IN" sz="2800" b="1" cap="all" spc="600" dirty="0">
                <a:latin typeface="+mj-lt"/>
                <a:ea typeface="+mj-ea"/>
              </a:rPr>
              <a:t>resence of dead spots</a:t>
            </a:r>
            <a:endParaRPr lang="en-IN" b="1" cap="all" spc="600" dirty="0">
              <a:latin typeface="+mj-lt"/>
              <a:ea typeface="+mj-ea"/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C25ACB6-ED02-99A4-F4E2-964204211834}"/>
              </a:ext>
            </a:extLst>
          </p:cNvPr>
          <p:cNvGrpSpPr/>
          <p:nvPr/>
        </p:nvGrpSpPr>
        <p:grpSpPr>
          <a:xfrm>
            <a:off x="5358209" y="198120"/>
            <a:ext cx="6547485" cy="6156960"/>
            <a:chOff x="0" y="76200"/>
            <a:chExt cx="6915150" cy="6389370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1842D9BC-3E6F-C731-FC62-E2D43F6FA668}"/>
                </a:ext>
              </a:extLst>
            </p:cNvPr>
            <p:cNvGrpSpPr/>
            <p:nvPr/>
          </p:nvGrpSpPr>
          <p:grpSpPr>
            <a:xfrm>
              <a:off x="0" y="76200"/>
              <a:ext cx="6915150" cy="6389370"/>
              <a:chOff x="0" y="76200"/>
              <a:chExt cx="6915150" cy="6389370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AF37B917-5382-14E0-0217-CF3BA2770231}"/>
                  </a:ext>
                </a:extLst>
              </p:cNvPr>
              <p:cNvGrpSpPr/>
              <p:nvPr/>
            </p:nvGrpSpPr>
            <p:grpSpPr>
              <a:xfrm>
                <a:off x="0" y="76200"/>
                <a:ext cx="6915150" cy="6389370"/>
                <a:chOff x="0" y="76200"/>
                <a:chExt cx="6915150" cy="6389370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7BAD611C-922A-1EDD-0782-FE1B890C0909}"/>
                    </a:ext>
                  </a:extLst>
                </p:cNvPr>
                <p:cNvGrpSpPr/>
                <p:nvPr/>
              </p:nvGrpSpPr>
              <p:grpSpPr>
                <a:xfrm>
                  <a:off x="0" y="76200"/>
                  <a:ext cx="6915150" cy="6389370"/>
                  <a:chOff x="0" y="-11430"/>
                  <a:chExt cx="6915150" cy="6389370"/>
                </a:xfrm>
              </p:grpSpPr>
              <p:sp>
                <p:nvSpPr>
                  <p:cNvPr id="196" name="Arrow: U-Turn 195">
                    <a:extLst>
                      <a:ext uri="{FF2B5EF4-FFF2-40B4-BE49-F238E27FC236}">
                        <a16:creationId xmlns:a16="http://schemas.microsoft.com/office/drawing/2014/main" id="{15555607-7DA8-E207-0FB3-9C489288080D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4606290" y="1272540"/>
                    <a:ext cx="578278" cy="401320"/>
                  </a:xfrm>
                  <a:prstGeom prst="uturnArrow">
                    <a:avLst>
                      <a:gd name="adj1" fmla="val 5766"/>
                      <a:gd name="adj2" fmla="val 11107"/>
                      <a:gd name="adj3" fmla="val 18054"/>
                      <a:gd name="adj4" fmla="val 43750"/>
                      <a:gd name="adj5" fmla="val 10000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solidFill>
                      <a:srgbClr val="4472C4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97" name="Group 196">
                    <a:extLst>
                      <a:ext uri="{FF2B5EF4-FFF2-40B4-BE49-F238E27FC236}">
                        <a16:creationId xmlns:a16="http://schemas.microsoft.com/office/drawing/2014/main" id="{D6C1A47B-8993-C706-5E60-80EAA6BEECD1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-11430"/>
                    <a:ext cx="6915150" cy="6389370"/>
                    <a:chOff x="0" y="-11430"/>
                    <a:chExt cx="6915150" cy="6389370"/>
                  </a:xfrm>
                </p:grpSpPr>
                <p:sp>
                  <p:nvSpPr>
                    <p:cNvPr id="198" name="Arrow: Up 197">
                      <a:extLst>
                        <a:ext uri="{FF2B5EF4-FFF2-40B4-BE49-F238E27FC236}">
                          <a16:creationId xmlns:a16="http://schemas.microsoft.com/office/drawing/2014/main" id="{F1584F19-62CB-9507-3F70-F93AE1728EF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5817870" y="590550"/>
                      <a:ext cx="225425" cy="487680"/>
                    </a:xfrm>
                    <a:prstGeom prst="upArrow">
                      <a:avLst>
                        <a:gd name="adj1" fmla="val 21691"/>
                        <a:gd name="adj2" fmla="val 73062"/>
                      </a:avLst>
                    </a:prstGeom>
                    <a:solidFill>
                      <a:srgbClr val="ED7D31"/>
                    </a:solidFill>
                    <a:ln w="12700" cap="flat" cmpd="sng" algn="ctr">
                      <a:solidFill>
                        <a:srgbClr val="4472C4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99" name="Group 198">
                      <a:extLst>
                        <a:ext uri="{FF2B5EF4-FFF2-40B4-BE49-F238E27FC236}">
                          <a16:creationId xmlns:a16="http://schemas.microsoft.com/office/drawing/2014/main" id="{D5AF00C0-6ED1-E9AC-F17C-B965E4FE21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-11430"/>
                      <a:ext cx="6915150" cy="6389370"/>
                      <a:chOff x="0" y="-11430"/>
                      <a:chExt cx="6915150" cy="6389370"/>
                    </a:xfrm>
                  </p:grpSpPr>
                  <p:sp>
                    <p:nvSpPr>
                      <p:cNvPr id="200" name="Arrow: Pentagon 199">
                        <a:extLst>
                          <a:ext uri="{FF2B5EF4-FFF2-40B4-BE49-F238E27FC236}">
                            <a16:creationId xmlns:a16="http://schemas.microsoft.com/office/drawing/2014/main" id="{4265754A-0E12-0AF2-0513-67374AECA0C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5265420" y="3299460"/>
                        <a:ext cx="910590" cy="365760"/>
                      </a:xfrm>
                      <a:prstGeom prst="homePlate">
                        <a:avLst>
                          <a:gd name="adj" fmla="val 26409"/>
                        </a:avLst>
                      </a:prstGeom>
                      <a:noFill/>
                      <a:ln w="28575" cap="flat" cmpd="sng" algn="ctr">
                        <a:solidFill>
                          <a:srgbClr val="4472C4">
                            <a:shade val="15000"/>
                          </a:srgbClr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01" name="Group 200">
                        <a:extLst>
                          <a:ext uri="{FF2B5EF4-FFF2-40B4-BE49-F238E27FC236}">
                            <a16:creationId xmlns:a16="http://schemas.microsoft.com/office/drawing/2014/main" id="{148434A5-214E-AF32-4877-4AE3E34B173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-11430"/>
                        <a:ext cx="6915150" cy="6389370"/>
                        <a:chOff x="0" y="-11430"/>
                        <a:chExt cx="6915150" cy="6389370"/>
                      </a:xfrm>
                    </p:grpSpPr>
                    <p:grpSp>
                      <p:nvGrpSpPr>
                        <p:cNvPr id="202" name="Group 201">
                          <a:extLst>
                            <a:ext uri="{FF2B5EF4-FFF2-40B4-BE49-F238E27FC236}">
                              <a16:creationId xmlns:a16="http://schemas.microsoft.com/office/drawing/2014/main" id="{6813AB1B-03AB-B384-BC21-455A3F1DF5B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-11430"/>
                          <a:ext cx="6915150" cy="6389370"/>
                          <a:chOff x="0" y="-11430"/>
                          <a:chExt cx="6915150" cy="6389370"/>
                        </a:xfrm>
                      </p:grpSpPr>
                      <p:sp>
                        <p:nvSpPr>
                          <p:cNvPr id="205" name="Text Box 2">
                            <a:extLst>
                              <a:ext uri="{FF2B5EF4-FFF2-40B4-BE49-F238E27FC236}">
                                <a16:creationId xmlns:a16="http://schemas.microsoft.com/office/drawing/2014/main" id="{E25B9D1B-8E7C-6E3A-C9A6-D0D897D73B11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387340" y="-11430"/>
                            <a:ext cx="1143000" cy="67818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Packaging Area (Many Dead Spots</a:t>
                            </a:r>
                            <a:r>
                              <a:rPr lang="en-US" sz="12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)</a:t>
                            </a:r>
                          </a:p>
                        </p:txBody>
                      </p:sp>
                      <p:sp>
                        <p:nvSpPr>
                          <p:cNvPr id="206" name="Text Box 2">
                            <a:extLst>
                              <a:ext uri="{FF2B5EF4-FFF2-40B4-BE49-F238E27FC236}">
                                <a16:creationId xmlns:a16="http://schemas.microsoft.com/office/drawing/2014/main" id="{8CBA7F12-D5F1-84A2-C0CD-8295276ACD8E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0" y="4674870"/>
                            <a:ext cx="732154" cy="45913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spAutoFit/>
                          </a:bodyPr>
                          <a:lstStyle/>
                          <a:p>
                            <a:pPr marL="0" marR="0" algn="ctr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Exhaust Fans</a:t>
                            </a:r>
                          </a:p>
                        </p:txBody>
                      </p:sp>
                      <p:grpSp>
                        <p:nvGrpSpPr>
                          <p:cNvPr id="207" name="Group 206">
                            <a:extLst>
                              <a:ext uri="{FF2B5EF4-FFF2-40B4-BE49-F238E27FC236}">
                                <a16:creationId xmlns:a16="http://schemas.microsoft.com/office/drawing/2014/main" id="{4C5E3224-8525-2EA3-22B8-4A6288724C8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97230" y="0"/>
                            <a:ext cx="6217920" cy="6377940"/>
                            <a:chOff x="0" y="0"/>
                            <a:chExt cx="6217920" cy="6377940"/>
                          </a:xfrm>
                        </p:grpSpPr>
                        <p:sp>
                          <p:nvSpPr>
                            <p:cNvPr id="209" name="Rectangle 208">
                              <a:extLst>
                                <a:ext uri="{FF2B5EF4-FFF2-40B4-BE49-F238E27FC236}">
                                  <a16:creationId xmlns:a16="http://schemas.microsoft.com/office/drawing/2014/main" id="{AA16D447-4D38-CD6B-C884-3D1028F0FFB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13360" y="0"/>
                              <a:ext cx="5798820" cy="6377940"/>
                            </a:xfrm>
                            <a:prstGeom prst="rect">
                              <a:avLst/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210" name="Group 209">
                              <a:extLst>
                                <a:ext uri="{FF2B5EF4-FFF2-40B4-BE49-F238E27FC236}">
                                  <a16:creationId xmlns:a16="http://schemas.microsoft.com/office/drawing/2014/main" id="{6F8CC4AC-615E-D785-A6E4-02F7F67FB8F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66800" y="552450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255" name="Straight Connector 254">
                                <a:extLst>
                                  <a:ext uri="{FF2B5EF4-FFF2-40B4-BE49-F238E27FC236}">
                                    <a16:creationId xmlns:a16="http://schemas.microsoft.com/office/drawing/2014/main" id="{146F09D3-BDBD-F0BC-A12B-93A490500707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56" name="Straight Connector 255">
                                <a:extLst>
                                  <a:ext uri="{FF2B5EF4-FFF2-40B4-BE49-F238E27FC236}">
                                    <a16:creationId xmlns:a16="http://schemas.microsoft.com/office/drawing/2014/main" id="{428AF9E9-C606-24A6-851A-D20712ACAC3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57" name="Straight Connector 256">
                                <a:extLst>
                                  <a:ext uri="{FF2B5EF4-FFF2-40B4-BE49-F238E27FC236}">
                                    <a16:creationId xmlns:a16="http://schemas.microsoft.com/office/drawing/2014/main" id="{5DB402F2-92DE-23C2-EA72-55AB4EDB13F3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211" name="Group 210">
                              <a:extLst>
                                <a:ext uri="{FF2B5EF4-FFF2-40B4-BE49-F238E27FC236}">
                                  <a16:creationId xmlns:a16="http://schemas.microsoft.com/office/drawing/2014/main" id="{66CD50B9-A295-ABAB-5270-48332012EDA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46558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252" name="Straight Connector 251">
                                <a:extLst>
                                  <a:ext uri="{FF2B5EF4-FFF2-40B4-BE49-F238E27FC236}">
                                    <a16:creationId xmlns:a16="http://schemas.microsoft.com/office/drawing/2014/main" id="{0C405D3E-FD42-279D-8499-E3B7CA02113D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53" name="Straight Connector 252">
                                <a:extLst>
                                  <a:ext uri="{FF2B5EF4-FFF2-40B4-BE49-F238E27FC236}">
                                    <a16:creationId xmlns:a16="http://schemas.microsoft.com/office/drawing/2014/main" id="{D61F05F6-F15F-3505-32BD-CC824DD87C0C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54" name="Straight Connector 253">
                                <a:extLst>
                                  <a:ext uri="{FF2B5EF4-FFF2-40B4-BE49-F238E27FC236}">
                                    <a16:creationId xmlns:a16="http://schemas.microsoft.com/office/drawing/2014/main" id="{459342F2-0CEC-7341-93A5-8E3975CE1BDE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212" name="Group 211">
                              <a:extLst>
                                <a:ext uri="{FF2B5EF4-FFF2-40B4-BE49-F238E27FC236}">
                                  <a16:creationId xmlns:a16="http://schemas.microsoft.com/office/drawing/2014/main" id="{6EDAD1FC-C1B1-84AD-8B0F-B18B49AEFE4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89660" y="379476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249" name="Straight Connector 248">
                                <a:extLst>
                                  <a:ext uri="{FF2B5EF4-FFF2-40B4-BE49-F238E27FC236}">
                                    <a16:creationId xmlns:a16="http://schemas.microsoft.com/office/drawing/2014/main" id="{C9D9F4B4-C169-A971-B1DE-768D8DE6392F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50" name="Straight Connector 249">
                                <a:extLst>
                                  <a:ext uri="{FF2B5EF4-FFF2-40B4-BE49-F238E27FC236}">
                                    <a16:creationId xmlns:a16="http://schemas.microsoft.com/office/drawing/2014/main" id="{84F17094-2B79-68FC-048C-2E8E3EFFA21A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51" name="Straight Connector 250">
                                <a:extLst>
                                  <a:ext uri="{FF2B5EF4-FFF2-40B4-BE49-F238E27FC236}">
                                    <a16:creationId xmlns:a16="http://schemas.microsoft.com/office/drawing/2014/main" id="{B0F30DBA-A6C7-83AD-73EA-BDFD8E486458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213" name="Group 212">
                              <a:extLst>
                                <a:ext uri="{FF2B5EF4-FFF2-40B4-BE49-F238E27FC236}">
                                  <a16:creationId xmlns:a16="http://schemas.microsoft.com/office/drawing/2014/main" id="{F525A7F5-6189-2188-3A34-8CC3B90EE14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13030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246" name="Straight Connector 245">
                                <a:extLst>
                                  <a:ext uri="{FF2B5EF4-FFF2-40B4-BE49-F238E27FC236}">
                                    <a16:creationId xmlns:a16="http://schemas.microsoft.com/office/drawing/2014/main" id="{E426AAA7-F5A8-D6C2-0222-A76F94C089FF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47" name="Straight Connector 246">
                                <a:extLst>
                                  <a:ext uri="{FF2B5EF4-FFF2-40B4-BE49-F238E27FC236}">
                                    <a16:creationId xmlns:a16="http://schemas.microsoft.com/office/drawing/2014/main" id="{7DD03A6F-3125-7A8C-6436-F6FDD93B0F6B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48" name="Straight Connector 247">
                                <a:extLst>
                                  <a:ext uri="{FF2B5EF4-FFF2-40B4-BE49-F238E27FC236}">
                                    <a16:creationId xmlns:a16="http://schemas.microsoft.com/office/drawing/2014/main" id="{051A626A-764E-03D7-3C24-C4C0072005E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214" name="Group 213">
                              <a:extLst>
                                <a:ext uri="{FF2B5EF4-FFF2-40B4-BE49-F238E27FC236}">
                                  <a16:creationId xmlns:a16="http://schemas.microsoft.com/office/drawing/2014/main" id="{CCD3F065-41CC-7E35-E05C-1F8E7D4E5D2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211836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243" name="Straight Connector 242">
                                <a:extLst>
                                  <a:ext uri="{FF2B5EF4-FFF2-40B4-BE49-F238E27FC236}">
                                    <a16:creationId xmlns:a16="http://schemas.microsoft.com/office/drawing/2014/main" id="{C68E4538-8C5A-A5BC-D06C-0976E55579F2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44" name="Straight Connector 243">
                                <a:extLst>
                                  <a:ext uri="{FF2B5EF4-FFF2-40B4-BE49-F238E27FC236}">
                                    <a16:creationId xmlns:a16="http://schemas.microsoft.com/office/drawing/2014/main" id="{09D0727B-0811-8951-537D-A6EBF3368F93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45" name="Straight Connector 244">
                                <a:extLst>
                                  <a:ext uri="{FF2B5EF4-FFF2-40B4-BE49-F238E27FC236}">
                                    <a16:creationId xmlns:a16="http://schemas.microsoft.com/office/drawing/2014/main" id="{270653F8-20BA-4089-3751-B5C1B9C86873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grpSp>
                          <p:nvGrpSpPr>
                            <p:cNvPr id="215" name="Group 214">
                              <a:extLst>
                                <a:ext uri="{FF2B5EF4-FFF2-40B4-BE49-F238E27FC236}">
                                  <a16:creationId xmlns:a16="http://schemas.microsoft.com/office/drawing/2014/main" id="{B4461784-B419-A390-7C03-6E35DFB8949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74420" y="2979420"/>
                              <a:ext cx="3223260" cy="358140"/>
                              <a:chOff x="0" y="0"/>
                              <a:chExt cx="3223260" cy="358140"/>
                            </a:xfrm>
                          </p:grpSpPr>
                          <p:cxnSp>
                            <p:nvCxnSpPr>
                              <p:cNvPr id="240" name="Straight Connector 239">
                                <a:extLst>
                                  <a:ext uri="{FF2B5EF4-FFF2-40B4-BE49-F238E27FC236}">
                                    <a16:creationId xmlns:a16="http://schemas.microsoft.com/office/drawing/2014/main" id="{21BE779A-E5D5-8A3D-5D75-B95DF48B018E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41" name="Straight Connector 240">
                                <a:extLst>
                                  <a:ext uri="{FF2B5EF4-FFF2-40B4-BE49-F238E27FC236}">
                                    <a16:creationId xmlns:a16="http://schemas.microsoft.com/office/drawing/2014/main" id="{74F8C500-5751-D0FF-BE64-9BFB58572B72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 flipV="1">
                                <a:off x="3215640" y="7620"/>
                                <a:ext cx="7620" cy="3505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  <p:cxnSp>
                            <p:nvCxnSpPr>
                              <p:cNvPr id="242" name="Straight Connector 241">
                                <a:extLst>
                                  <a:ext uri="{FF2B5EF4-FFF2-40B4-BE49-F238E27FC236}">
                                    <a16:creationId xmlns:a16="http://schemas.microsoft.com/office/drawing/2014/main" id="{B7085161-C4E5-3315-CC24-3373236D9EB6}"/>
                                  </a:ext>
                                </a:extLst>
                              </p:cNvPr>
                              <p:cNvCxnSpPr/>
                              <p:nvPr/>
                            </p:nvCxnSpPr>
                            <p:spPr>
                              <a:xfrm>
                                <a:off x="0" y="350520"/>
                                <a:ext cx="3223260" cy="7620"/>
                              </a:xfrm>
                              <a:prstGeom prst="line">
                                <a:avLst/>
                              </a:prstGeom>
                              <a:noFill/>
                              <a:ln w="28575" cap="flat" cmpd="sng" algn="ctr">
                                <a:solidFill>
                                  <a:sysClr val="windowText" lastClr="000000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</p:cxnSp>
                        </p:grpSp>
                        <p:sp>
                          <p:nvSpPr>
                            <p:cNvPr id="216" name="&quot;Not Allowed&quot; Symbol 215">
                              <a:extLst>
                                <a:ext uri="{FF2B5EF4-FFF2-40B4-BE49-F238E27FC236}">
                                  <a16:creationId xmlns:a16="http://schemas.microsoft.com/office/drawing/2014/main" id="{C8517FD6-724D-1945-87D5-EAC73367A9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19050" y="128397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17" name="&quot;Not Allowed&quot; Symbol 216">
                              <a:extLst>
                                <a:ext uri="{FF2B5EF4-FFF2-40B4-BE49-F238E27FC236}">
                                  <a16:creationId xmlns:a16="http://schemas.microsoft.com/office/drawing/2014/main" id="{0DFCCE23-E8D7-04F4-2879-D2234EA757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3810" y="4773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18" name="&quot;Not Allowed&quot; Symbol 217">
                              <a:extLst>
                                <a:ext uri="{FF2B5EF4-FFF2-40B4-BE49-F238E27FC236}">
                                  <a16:creationId xmlns:a16="http://schemas.microsoft.com/office/drawing/2014/main" id="{33A6DCC3-2530-70AD-FF30-9A8DB9AE71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7620" y="362712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19" name="&quot;Not Allowed&quot; Symbol 218">
                              <a:extLst>
                                <a:ext uri="{FF2B5EF4-FFF2-40B4-BE49-F238E27FC236}">
                                  <a16:creationId xmlns:a16="http://schemas.microsoft.com/office/drawing/2014/main" id="{086387C9-A493-6298-681B-268961A4FB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19050" y="245745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0" name="&quot;Not Allowed&quot; Symbol 219">
                              <a:extLst>
                                <a:ext uri="{FF2B5EF4-FFF2-40B4-BE49-F238E27FC236}">
                                  <a16:creationId xmlns:a16="http://schemas.microsoft.com/office/drawing/2014/main" id="{0DA672C4-ED94-BE38-39B4-C5D477AE3F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10250" y="1344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1" name="&quot;Not Allowed&quot; Symbol 220">
                              <a:extLst>
                                <a:ext uri="{FF2B5EF4-FFF2-40B4-BE49-F238E27FC236}">
                                  <a16:creationId xmlns:a16="http://schemas.microsoft.com/office/drawing/2014/main" id="{CFB3BAF3-6F1D-3BA3-A962-1B7C0E3E3B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06440" y="478536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2" name="&quot;Not Allowed&quot; Symbol 221">
                              <a:extLst>
                                <a:ext uri="{FF2B5EF4-FFF2-40B4-BE49-F238E27FC236}">
                                  <a16:creationId xmlns:a16="http://schemas.microsoft.com/office/drawing/2014/main" id="{540AA4C0-D1D9-8DCE-203C-AD0A7FDB679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10250" y="363093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3" name="&quot;Not Allowed&quot; Symbol 222">
                              <a:extLst>
                                <a:ext uri="{FF2B5EF4-FFF2-40B4-BE49-F238E27FC236}">
                                  <a16:creationId xmlns:a16="http://schemas.microsoft.com/office/drawing/2014/main" id="{3F66B8B3-93DF-9B8A-45AC-1C4594020E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805138">
                              <a:off x="5806440" y="2438400"/>
                              <a:ext cx="403860" cy="411480"/>
                            </a:xfrm>
                            <a:prstGeom prst="noSmoking">
                              <a:avLst>
                                <a:gd name="adj" fmla="val 8881"/>
                              </a:avLst>
                            </a:prstGeom>
                            <a:solidFill>
                              <a:sysClr val="windowText" lastClr="000000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4" name="Rectangle: Rounded Corners 223">
                              <a:extLst>
                                <a:ext uri="{FF2B5EF4-FFF2-40B4-BE49-F238E27FC236}">
                                  <a16:creationId xmlns:a16="http://schemas.microsoft.com/office/drawing/2014/main" id="{3DB8AFEE-1973-ED14-7E28-0B5DE578B2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13960" y="116586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5" name="Rectangle: Rounded Corners 224">
                              <a:extLst>
                                <a:ext uri="{FF2B5EF4-FFF2-40B4-BE49-F238E27FC236}">
                                  <a16:creationId xmlns:a16="http://schemas.microsoft.com/office/drawing/2014/main" id="{80E2085E-7391-295B-BC86-713C613203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29200" y="499110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6" name="Rectangle: Rounded Corners 225">
                              <a:extLst>
                                <a:ext uri="{FF2B5EF4-FFF2-40B4-BE49-F238E27FC236}">
                                  <a16:creationId xmlns:a16="http://schemas.microsoft.com/office/drawing/2014/main" id="{FB1CC8B2-4E23-9B9B-5A7C-FD6C874060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29200" y="375666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7" name="Rectangle: Rounded Corners 226">
                              <a:extLst>
                                <a:ext uri="{FF2B5EF4-FFF2-40B4-BE49-F238E27FC236}">
                                  <a16:creationId xmlns:a16="http://schemas.microsoft.com/office/drawing/2014/main" id="{96B04601-0EBD-31BD-BEC9-38A90077E2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006340" y="2484120"/>
                              <a:ext cx="396240" cy="712470"/>
                            </a:xfrm>
                            <a:prstGeom prst="roundRect">
                              <a:avLst>
                                <a:gd name="adj" fmla="val 33975"/>
                              </a:avLst>
                            </a:prstGeom>
                            <a:solidFill>
                              <a:sysClr val="window" lastClr="FFFFFF"/>
                            </a:solidFill>
                            <a:ln w="381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8" name="Arrow: Pentagon 227">
                              <a:extLst>
                                <a:ext uri="{FF2B5EF4-FFF2-40B4-BE49-F238E27FC236}">
                                  <a16:creationId xmlns:a16="http://schemas.microsoft.com/office/drawing/2014/main" id="{3C7353C7-0FF6-678F-3AEA-5E8D403585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flipH="1">
                              <a:off x="4575810" y="4556760"/>
                              <a:ext cx="910590" cy="365760"/>
                            </a:xfrm>
                            <a:prstGeom prst="homePlate">
                              <a:avLst>
                                <a:gd name="adj" fmla="val 26409"/>
                              </a:avLst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29" name="Arrow: Pentagon 228">
                              <a:extLst>
                                <a:ext uri="{FF2B5EF4-FFF2-40B4-BE49-F238E27FC236}">
                                  <a16:creationId xmlns:a16="http://schemas.microsoft.com/office/drawing/2014/main" id="{AC7705FE-7AAA-E998-553B-BF39D4F401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flipH="1">
                              <a:off x="4575810" y="2004060"/>
                              <a:ext cx="910590" cy="365760"/>
                            </a:xfrm>
                            <a:prstGeom prst="homePlate">
                              <a:avLst>
                                <a:gd name="adj" fmla="val 26409"/>
                              </a:avLst>
                            </a:prstGeom>
                            <a:noFill/>
                            <a:ln w="28575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0" name="Arrow: Quad 229">
                              <a:extLst>
                                <a:ext uri="{FF2B5EF4-FFF2-40B4-BE49-F238E27FC236}">
                                  <a16:creationId xmlns:a16="http://schemas.microsoft.com/office/drawing/2014/main" id="{6E63B053-BD44-A90F-0EB3-C0BCA7AD05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9670" y="473583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1" name="Arrow: Quad 230">
                              <a:extLst>
                                <a:ext uri="{FF2B5EF4-FFF2-40B4-BE49-F238E27FC236}">
                                  <a16:creationId xmlns:a16="http://schemas.microsoft.com/office/drawing/2014/main" id="{8694656B-73DA-019D-453D-ED7572F3A3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7183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2" name="Arrow: Quad 231">
                              <a:extLst>
                                <a:ext uri="{FF2B5EF4-FFF2-40B4-BE49-F238E27FC236}">
                                  <a16:creationId xmlns:a16="http://schemas.microsoft.com/office/drawing/2014/main" id="{7C73D51D-8C8E-D33F-75DB-ADE228947B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32029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3" name="Arrow: Quad 232">
                              <a:extLst>
                                <a:ext uri="{FF2B5EF4-FFF2-40B4-BE49-F238E27FC236}">
                                  <a16:creationId xmlns:a16="http://schemas.microsoft.com/office/drawing/2014/main" id="{088E09AF-E560-555F-4237-97BA7CDD05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613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4" name="Arrow: Quad 233">
                              <a:extLst>
                                <a:ext uri="{FF2B5EF4-FFF2-40B4-BE49-F238E27FC236}">
                                  <a16:creationId xmlns:a16="http://schemas.microsoft.com/office/drawing/2014/main" id="{58E2B99A-61A4-C974-A40D-3380E2364D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947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5" name="Arrow: Quad 234">
                              <a:extLst>
                                <a:ext uri="{FF2B5EF4-FFF2-40B4-BE49-F238E27FC236}">
                                  <a16:creationId xmlns:a16="http://schemas.microsoft.com/office/drawing/2014/main" id="{0DFDC678-5407-AE75-48FE-EA01A18F78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90010" y="4728210"/>
                              <a:ext cx="220980" cy="213360"/>
                            </a:xfrm>
                            <a:prstGeom prst="quadArrow">
                              <a:avLst>
                                <a:gd name="adj1" fmla="val 0"/>
                                <a:gd name="adj2" fmla="val 3074"/>
                                <a:gd name="adj3" fmla="val 46926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6" name="Arrow: Left-Up 235">
                              <a:extLst>
                                <a:ext uri="{FF2B5EF4-FFF2-40B4-BE49-F238E27FC236}">
                                  <a16:creationId xmlns:a16="http://schemas.microsoft.com/office/drawing/2014/main" id="{78F7E851-E141-AE69-904B-B69CE5B1C8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48468" y="205771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7" name="Arrow: Left-Up 236">
                              <a:extLst>
                                <a:ext uri="{FF2B5EF4-FFF2-40B4-BE49-F238E27FC236}">
                                  <a16:creationId xmlns:a16="http://schemas.microsoft.com/office/drawing/2014/main" id="{A08F337B-5958-8E14-E6B6-B7FD8A5A1D9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48468" y="462565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8" name="Arrow: Left-Up 237">
                              <a:extLst>
                                <a:ext uri="{FF2B5EF4-FFF2-40B4-BE49-F238E27FC236}">
                                  <a16:creationId xmlns:a16="http://schemas.microsoft.com/office/drawing/2014/main" id="{E1283352-A42F-F4C4-8D89-CF0BF638DC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8786150">
                              <a:off x="4233228" y="3345497"/>
                              <a:ext cx="263395" cy="264506"/>
                            </a:xfrm>
                            <a:prstGeom prst="leftUpArrow">
                              <a:avLst>
                                <a:gd name="adj1" fmla="val 5562"/>
                                <a:gd name="adj2" fmla="val 10230"/>
                                <a:gd name="adj3" fmla="val 29157"/>
                              </a:avLst>
                            </a:prstGeom>
                            <a:solidFill>
                              <a:srgbClr val="4472C4"/>
                            </a:solidFill>
                            <a:ln w="12700" cap="flat" cmpd="sng" algn="ctr">
                              <a:solidFill>
                                <a:srgbClr val="4472C4">
                                  <a:shade val="15000"/>
                                </a:srgbClr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239" name="Text Box 2">
                              <a:extLst>
                                <a:ext uri="{FF2B5EF4-FFF2-40B4-BE49-F238E27FC236}">
                                  <a16:creationId xmlns:a16="http://schemas.microsoft.com/office/drawing/2014/main" id="{02FDFEB1-4B08-19B4-CAFB-DB7EF71B22E1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751070" y="3249930"/>
                              <a:ext cx="632460" cy="525780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no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n-US" sz="1100" dirty="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Air Cooler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208" name="Text Box 2">
                            <a:extLst>
                              <a:ext uri="{FF2B5EF4-FFF2-40B4-BE49-F238E27FC236}">
                                <a16:creationId xmlns:a16="http://schemas.microsoft.com/office/drawing/2014/main" id="{109F584C-8FFF-514B-512E-F9A1FD62A028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409700" y="1310640"/>
                            <a:ext cx="2042160" cy="3810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marL="0" marR="0" algn="just">
                              <a:lnSpc>
                                <a:spcPct val="107000"/>
                              </a:lnSpc>
                              <a:spcBef>
                                <a:spcPts val="0"/>
                              </a:spcBef>
                              <a:spcAft>
                                <a:spcPts val="800"/>
                              </a:spcAft>
                            </a:pPr>
                            <a:r>
                              <a:rPr lang="en-US" sz="1100" dirty="0">
                                <a:effectLst/>
                                <a:latin typeface="Times New Roman" panose="020206030504050203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a:t>U-shaped Sewing Line</a:t>
                            </a:r>
                          </a:p>
                        </p:txBody>
                      </p:sp>
                    </p:grpSp>
                    <p:sp>
                      <p:nvSpPr>
                        <p:cNvPr id="203" name="Text Box 2">
                          <a:extLst>
                            <a:ext uri="{FF2B5EF4-FFF2-40B4-BE49-F238E27FC236}">
                              <a16:creationId xmlns:a16="http://schemas.microsoft.com/office/drawing/2014/main" id="{150BEF8B-CDDC-A5F3-53FE-1A7A4322449D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554480" y="4972050"/>
                          <a:ext cx="854074" cy="4591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>
                          <a:spAutoFit/>
                        </a:bodyPr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Ceiling Fans</a:t>
                          </a:r>
                        </a:p>
                      </p:txBody>
                    </p:sp>
                    <p:cxnSp>
                      <p:nvCxnSpPr>
                        <p:cNvPr id="204" name="Straight Connector 203">
                          <a:extLst>
                            <a:ext uri="{FF2B5EF4-FFF2-40B4-BE49-F238E27FC236}">
                              <a16:creationId xmlns:a16="http://schemas.microsoft.com/office/drawing/2014/main" id="{491ABAFB-061A-A4B7-1231-0865194453D7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2240280" y="4857750"/>
                          <a:ext cx="266700" cy="304800"/>
                        </a:xfrm>
                        <a:prstGeom prst="line">
                          <a:avLst/>
                        </a:prstGeom>
                        <a:noFill/>
                        <a:ln w="12700" cap="flat" cmpd="sng" algn="ctr">
                          <a:solidFill>
                            <a:sysClr val="windowText" lastClr="000000"/>
                          </a:solidFill>
                          <a:prstDash val="solid"/>
                          <a:miter lim="800000"/>
                        </a:ln>
                        <a:effectLst/>
                      </p:spPr>
                    </p:cxnSp>
                  </p:grpSp>
                </p:grpSp>
              </p:grpSp>
            </p:grpSp>
            <p:sp>
              <p:nvSpPr>
                <p:cNvPr id="193" name="Arrow: Up 192">
                  <a:extLst>
                    <a:ext uri="{FF2B5EF4-FFF2-40B4-BE49-F238E27FC236}">
                      <a16:creationId xmlns:a16="http://schemas.microsoft.com/office/drawing/2014/main" id="{A226B55D-0906-E749-1DAC-6E1FA35C8FC5}"/>
                    </a:ext>
                  </a:extLst>
                </p:cNvPr>
                <p:cNvSpPr/>
                <p:nvPr/>
              </p:nvSpPr>
              <p:spPr>
                <a:xfrm flipV="1">
                  <a:off x="3973830" y="685800"/>
                  <a:ext cx="225425" cy="487680"/>
                </a:xfrm>
                <a:prstGeom prst="upArrow">
                  <a:avLst>
                    <a:gd name="adj1" fmla="val 21691"/>
                    <a:gd name="adj2" fmla="val 73062"/>
                  </a:avLst>
                </a:prstGeom>
                <a:solidFill>
                  <a:srgbClr val="70AD47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94" name="Arrow: Up 193">
                  <a:extLst>
                    <a:ext uri="{FF2B5EF4-FFF2-40B4-BE49-F238E27FC236}">
                      <a16:creationId xmlns:a16="http://schemas.microsoft.com/office/drawing/2014/main" id="{F423CE83-7674-6EB2-D4E4-848804FA31C9}"/>
                    </a:ext>
                  </a:extLst>
                </p:cNvPr>
                <p:cNvSpPr/>
                <p:nvPr/>
              </p:nvSpPr>
              <p:spPr>
                <a:xfrm flipV="1">
                  <a:off x="2175510" y="678180"/>
                  <a:ext cx="225425" cy="487680"/>
                </a:xfrm>
                <a:prstGeom prst="upArrow">
                  <a:avLst>
                    <a:gd name="adj1" fmla="val 21691"/>
                    <a:gd name="adj2" fmla="val 73062"/>
                  </a:avLst>
                </a:prstGeom>
                <a:solidFill>
                  <a:srgbClr val="70AD47"/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Text Box 2">
                  <a:extLst>
                    <a:ext uri="{FF2B5EF4-FFF2-40B4-BE49-F238E27FC236}">
                      <a16:creationId xmlns:a16="http://schemas.microsoft.com/office/drawing/2014/main" id="{433662C1-7C83-F302-6083-DA4C1039D4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6460" y="93092"/>
                  <a:ext cx="2134234" cy="647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 dirty="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Production (Sewing) Line Area (Usually well-ventilated and Controlled Temperature)</a:t>
                  </a:r>
                </a:p>
              </p:txBody>
            </p:sp>
          </p:grpSp>
          <p:sp>
            <p:nvSpPr>
              <p:cNvPr id="189" name="Arrow: Quad 188">
                <a:extLst>
                  <a:ext uri="{FF2B5EF4-FFF2-40B4-BE49-F238E27FC236}">
                    <a16:creationId xmlns:a16="http://schemas.microsoft.com/office/drawing/2014/main" id="{D35C8137-D1A4-CF6D-7343-FB138B28F5D2}"/>
                  </a:ext>
                </a:extLst>
              </p:cNvPr>
              <p:cNvSpPr/>
              <p:nvPr/>
            </p:nvSpPr>
            <p:spPr>
              <a:xfrm>
                <a:off x="6263640" y="214884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90" name="Arrow: Quad 189">
                <a:extLst>
                  <a:ext uri="{FF2B5EF4-FFF2-40B4-BE49-F238E27FC236}">
                    <a16:creationId xmlns:a16="http://schemas.microsoft.com/office/drawing/2014/main" id="{B37F1127-0794-8DCE-1BE7-E38139D5020B}"/>
                  </a:ext>
                </a:extLst>
              </p:cNvPr>
              <p:cNvSpPr/>
              <p:nvPr/>
            </p:nvSpPr>
            <p:spPr>
              <a:xfrm>
                <a:off x="6286500" y="470154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91" name="Arrow: Quad 190">
                <a:extLst>
                  <a:ext uri="{FF2B5EF4-FFF2-40B4-BE49-F238E27FC236}">
                    <a16:creationId xmlns:a16="http://schemas.microsoft.com/office/drawing/2014/main" id="{8CE2C2E4-17AE-E465-5E9C-53C5F3E3543D}"/>
                  </a:ext>
                </a:extLst>
              </p:cNvPr>
              <p:cNvSpPr/>
              <p:nvPr/>
            </p:nvSpPr>
            <p:spPr>
              <a:xfrm>
                <a:off x="6286500" y="345186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187" name="Text Box 2">
              <a:extLst>
                <a:ext uri="{FF2B5EF4-FFF2-40B4-BE49-F238E27FC236}">
                  <a16:creationId xmlns:a16="http://schemas.microsoft.com/office/drawing/2014/main" id="{5E157178-2B26-0E6E-98B2-9A9D356EF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9260" y="5775960"/>
              <a:ext cx="854074" cy="459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Packaging Platforms</a:t>
              </a:r>
            </a:p>
          </p:txBody>
        </p:sp>
      </p:grpSp>
      <p:sp>
        <p:nvSpPr>
          <p:cNvPr id="177" name="Arrow: Quad 176">
            <a:extLst>
              <a:ext uri="{FF2B5EF4-FFF2-40B4-BE49-F238E27FC236}">
                <a16:creationId xmlns:a16="http://schemas.microsoft.com/office/drawing/2014/main" id="{A0E1DAB5-0718-ABAF-C2C9-1D94347CB1DD}"/>
              </a:ext>
            </a:extLst>
          </p:cNvPr>
          <p:cNvSpPr/>
          <p:nvPr/>
        </p:nvSpPr>
        <p:spPr>
          <a:xfrm rot="2727356">
            <a:off x="10513174" y="2845165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8" name="Arrow: Quad 177">
            <a:extLst>
              <a:ext uri="{FF2B5EF4-FFF2-40B4-BE49-F238E27FC236}">
                <a16:creationId xmlns:a16="http://schemas.microsoft.com/office/drawing/2014/main" id="{4C9E9BDB-E426-5C6B-3CEE-6EEEC0595126}"/>
              </a:ext>
            </a:extLst>
          </p:cNvPr>
          <p:cNvSpPr/>
          <p:nvPr/>
        </p:nvSpPr>
        <p:spPr>
          <a:xfrm rot="2727356">
            <a:off x="11166119" y="1563842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9" name="Arrow: Quad 178">
            <a:extLst>
              <a:ext uri="{FF2B5EF4-FFF2-40B4-BE49-F238E27FC236}">
                <a16:creationId xmlns:a16="http://schemas.microsoft.com/office/drawing/2014/main" id="{02D53101-48FC-A118-53C7-4A640C5E6CA1}"/>
              </a:ext>
            </a:extLst>
          </p:cNvPr>
          <p:cNvSpPr/>
          <p:nvPr/>
        </p:nvSpPr>
        <p:spPr>
          <a:xfrm rot="2727356">
            <a:off x="10520389" y="1567513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0" name="Arrow: Quad 179">
            <a:extLst>
              <a:ext uri="{FF2B5EF4-FFF2-40B4-BE49-F238E27FC236}">
                <a16:creationId xmlns:a16="http://schemas.microsoft.com/office/drawing/2014/main" id="{9D8C78C5-8BEB-6481-B412-707D40B7C47C}"/>
              </a:ext>
            </a:extLst>
          </p:cNvPr>
          <p:cNvSpPr/>
          <p:nvPr/>
        </p:nvSpPr>
        <p:spPr>
          <a:xfrm rot="2727356">
            <a:off x="11169727" y="2859850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1" name="Arrow: Quad 180">
            <a:extLst>
              <a:ext uri="{FF2B5EF4-FFF2-40B4-BE49-F238E27FC236}">
                <a16:creationId xmlns:a16="http://schemas.microsoft.com/office/drawing/2014/main" id="{CDB07E37-9D85-F304-35E4-8E917F82404D}"/>
              </a:ext>
            </a:extLst>
          </p:cNvPr>
          <p:cNvSpPr/>
          <p:nvPr/>
        </p:nvSpPr>
        <p:spPr>
          <a:xfrm rot="2727356">
            <a:off x="10527604" y="4071417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2" name="Arrow: Quad 181">
            <a:extLst>
              <a:ext uri="{FF2B5EF4-FFF2-40B4-BE49-F238E27FC236}">
                <a16:creationId xmlns:a16="http://schemas.microsoft.com/office/drawing/2014/main" id="{6A891804-3EB9-24F8-BD5B-BE13078604DE}"/>
              </a:ext>
            </a:extLst>
          </p:cNvPr>
          <p:cNvSpPr/>
          <p:nvPr/>
        </p:nvSpPr>
        <p:spPr>
          <a:xfrm rot="2727356">
            <a:off x="11198586" y="4056731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3" name="Arrow: Quad 182">
            <a:extLst>
              <a:ext uri="{FF2B5EF4-FFF2-40B4-BE49-F238E27FC236}">
                <a16:creationId xmlns:a16="http://schemas.microsoft.com/office/drawing/2014/main" id="{F4C05845-C89B-9497-6983-9E5B24372908}"/>
              </a:ext>
            </a:extLst>
          </p:cNvPr>
          <p:cNvSpPr/>
          <p:nvPr/>
        </p:nvSpPr>
        <p:spPr>
          <a:xfrm rot="2727356">
            <a:off x="10542034" y="5268298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4" name="Arrow: Quad 183">
            <a:extLst>
              <a:ext uri="{FF2B5EF4-FFF2-40B4-BE49-F238E27FC236}">
                <a16:creationId xmlns:a16="http://schemas.microsoft.com/office/drawing/2014/main" id="{1C20B8EC-EF11-4A8C-0126-7A7428C47261}"/>
              </a:ext>
            </a:extLst>
          </p:cNvPr>
          <p:cNvSpPr/>
          <p:nvPr/>
        </p:nvSpPr>
        <p:spPr>
          <a:xfrm rot="2727356">
            <a:off x="11187764" y="5264626"/>
            <a:ext cx="212942" cy="202016"/>
          </a:xfrm>
          <a:prstGeom prst="quadArrow">
            <a:avLst>
              <a:gd name="adj1" fmla="val 0"/>
              <a:gd name="adj2" fmla="val 3074"/>
              <a:gd name="adj3" fmla="val 46926"/>
            </a:avLst>
          </a:prstGeom>
          <a:solidFill>
            <a:srgbClr val="4472C4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5" name="Text Box 2">
            <a:extLst>
              <a:ext uri="{FF2B5EF4-FFF2-40B4-BE49-F238E27FC236}">
                <a16:creationId xmlns:a16="http://schemas.microsoft.com/office/drawing/2014/main" id="{0DA348FE-C0D4-4980-1704-3A94BF697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7638" y="997121"/>
            <a:ext cx="642122" cy="528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Dead Spots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4BE7F-B533-789E-6963-4A25B6B2BB88}"/>
              </a:ext>
            </a:extLst>
          </p:cNvPr>
          <p:cNvSpPr txBox="1"/>
          <p:nvPr/>
        </p:nvSpPr>
        <p:spPr>
          <a:xfrm>
            <a:off x="297585" y="1332878"/>
            <a:ext cx="509489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Several </a:t>
            </a:r>
            <a:r>
              <a:rPr lang="en-US" sz="2800" b="1" dirty="0"/>
              <a:t>dead spots and hotter regions </a:t>
            </a:r>
            <a:r>
              <a:rPr lang="en-US" sz="2800" dirty="0"/>
              <a:t>with lower airflow were observed on the sewing floor, particularly affecting workers in </a:t>
            </a:r>
            <a:r>
              <a:rPr lang="en-US" sz="2800" b="1" dirty="0"/>
              <a:t>packaging and product handling areas.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Workers reported frequent </a:t>
            </a:r>
            <a:r>
              <a:rPr lang="en-US" sz="2800" b="1" dirty="0"/>
              <a:t>discomfort</a:t>
            </a:r>
            <a:r>
              <a:rPr lang="en-US" sz="2800" dirty="0"/>
              <a:t> and the </a:t>
            </a:r>
            <a:r>
              <a:rPr lang="en-US" sz="2800" b="1" dirty="0"/>
              <a:t>need to pause </a:t>
            </a:r>
            <a:r>
              <a:rPr lang="en-US" sz="2800" dirty="0"/>
              <a:t>and move to relieve heat-related stress.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0B726-0D53-E34C-3279-ED74A7637113}"/>
              </a:ext>
            </a:extLst>
          </p:cNvPr>
          <p:cNvSpPr txBox="1"/>
          <p:nvPr/>
        </p:nvSpPr>
        <p:spPr>
          <a:xfrm>
            <a:off x="6205714" y="6365642"/>
            <a:ext cx="540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Figure: An Approximate Layout of the Sewing Floor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9C3E76B-A5B3-1E18-01E3-25B173E35CE6}"/>
              </a:ext>
            </a:extLst>
          </p:cNvPr>
          <p:cNvSpPr txBox="1">
            <a:spLocks/>
          </p:cNvSpPr>
          <p:nvPr/>
        </p:nvSpPr>
        <p:spPr>
          <a:xfrm>
            <a:off x="9386931" y="648744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9A01C0A-2BB6-49E7-91A3-DCB9F9F59583}" type="slidenum">
              <a:rPr lang="en-US" sz="1200" smtClean="0"/>
              <a:pPr algn="r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0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A2C14F5-21DC-430D-A7A2-B135D416C9CA}"/>
              </a:ext>
            </a:extLst>
          </p:cNvPr>
          <p:cNvGrpSpPr/>
          <p:nvPr/>
        </p:nvGrpSpPr>
        <p:grpSpPr>
          <a:xfrm>
            <a:off x="5266419" y="47394"/>
            <a:ext cx="6940550" cy="6398895"/>
            <a:chOff x="0" y="0"/>
            <a:chExt cx="6985216" cy="6377940"/>
          </a:xfrm>
        </p:grpSpPr>
        <p:sp>
          <p:nvSpPr>
            <p:cNvPr id="3" name="Arrow: Quad 2">
              <a:extLst>
                <a:ext uri="{FF2B5EF4-FFF2-40B4-BE49-F238E27FC236}">
                  <a16:creationId xmlns:a16="http://schemas.microsoft.com/office/drawing/2014/main" id="{A0504297-F3A2-8BB4-F36B-8138FEBBE8B2}"/>
                </a:ext>
              </a:extLst>
            </p:cNvPr>
            <p:cNvSpPr/>
            <p:nvPr/>
          </p:nvSpPr>
          <p:spPr>
            <a:xfrm>
              <a:off x="5974080" y="5017770"/>
              <a:ext cx="220980" cy="213360"/>
            </a:xfrm>
            <a:prstGeom prst="quadArrow">
              <a:avLst>
                <a:gd name="adj1" fmla="val 6148"/>
                <a:gd name="adj2" fmla="val 3074"/>
                <a:gd name="adj3" fmla="val 46926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D98E780-99BC-561E-0AA6-4711701D08A5}"/>
                </a:ext>
              </a:extLst>
            </p:cNvPr>
            <p:cNvGrpSpPr/>
            <p:nvPr/>
          </p:nvGrpSpPr>
          <p:grpSpPr>
            <a:xfrm>
              <a:off x="0" y="0"/>
              <a:ext cx="6985216" cy="6377940"/>
              <a:chOff x="0" y="0"/>
              <a:chExt cx="6985216" cy="637794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9E608EB-55F2-1432-4CA6-8C7091C44ECA}"/>
                  </a:ext>
                </a:extLst>
              </p:cNvPr>
              <p:cNvGrpSpPr/>
              <p:nvPr/>
            </p:nvGrpSpPr>
            <p:grpSpPr>
              <a:xfrm>
                <a:off x="0" y="0"/>
                <a:ext cx="6985216" cy="6377940"/>
                <a:chOff x="0" y="87630"/>
                <a:chExt cx="6985216" cy="6377940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DA13303-6122-DAAC-00C9-3BE9B20B4B81}"/>
                    </a:ext>
                  </a:extLst>
                </p:cNvPr>
                <p:cNvGrpSpPr/>
                <p:nvPr/>
              </p:nvGrpSpPr>
              <p:grpSpPr>
                <a:xfrm>
                  <a:off x="0" y="87630"/>
                  <a:ext cx="6985216" cy="6377940"/>
                  <a:chOff x="0" y="87630"/>
                  <a:chExt cx="6985216" cy="6377940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9F7BF559-9E20-CE3A-DE1F-3EFFB500A32B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87630"/>
                    <a:ext cx="6985216" cy="6377940"/>
                    <a:chOff x="0" y="87630"/>
                    <a:chExt cx="6985216" cy="6377940"/>
                  </a:xfrm>
                </p:grpSpPr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1C570E79-99D0-536B-B386-1C88183492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87630"/>
                      <a:ext cx="6985216" cy="6377940"/>
                      <a:chOff x="0" y="0"/>
                      <a:chExt cx="6985216" cy="6377940"/>
                    </a:xfrm>
                  </p:grpSpPr>
                  <p:sp>
                    <p:nvSpPr>
                      <p:cNvPr id="22" name="Arrow: U-Turn 21">
                        <a:extLst>
                          <a:ext uri="{FF2B5EF4-FFF2-40B4-BE49-F238E27FC236}">
                            <a16:creationId xmlns:a16="http://schemas.microsoft.com/office/drawing/2014/main" id="{D48B37E9-8FEA-783B-4F4D-2B4393A0E2F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 flipH="1">
                        <a:off x="4606290" y="1272540"/>
                        <a:ext cx="578278" cy="401320"/>
                      </a:xfrm>
                      <a:prstGeom prst="uturnArrow">
                        <a:avLst>
                          <a:gd name="adj1" fmla="val 5766"/>
                          <a:gd name="adj2" fmla="val 11107"/>
                          <a:gd name="adj3" fmla="val 18054"/>
                          <a:gd name="adj4" fmla="val 43750"/>
                          <a:gd name="adj5" fmla="val 100000"/>
                        </a:avLst>
                      </a:prstGeom>
                      <a:solidFill>
                        <a:sysClr val="windowText" lastClr="000000"/>
                      </a:solidFill>
                      <a:ln w="12700" cap="flat" cmpd="sng" algn="ctr">
                        <a:solidFill>
                          <a:srgbClr val="4472C4">
                            <a:shade val="15000"/>
                          </a:srgbClr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ECC32DBC-824A-115E-110D-B600D7E0909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0"/>
                        <a:ext cx="6985216" cy="6377940"/>
                        <a:chOff x="0" y="0"/>
                        <a:chExt cx="6985216" cy="6377940"/>
                      </a:xfrm>
                    </p:grpSpPr>
                    <p:sp>
                      <p:nvSpPr>
                        <p:cNvPr id="24" name="Arrow: Up 23">
                          <a:extLst>
                            <a:ext uri="{FF2B5EF4-FFF2-40B4-BE49-F238E27FC236}">
                              <a16:creationId xmlns:a16="http://schemas.microsoft.com/office/drawing/2014/main" id="{70C7E86A-0A18-D10F-4798-FEDD7F76FC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V="1">
                          <a:off x="5589270" y="590550"/>
                          <a:ext cx="225425" cy="487680"/>
                        </a:xfrm>
                        <a:prstGeom prst="upArrow">
                          <a:avLst>
                            <a:gd name="adj1" fmla="val 21691"/>
                            <a:gd name="adj2" fmla="val 73062"/>
                          </a:avLst>
                        </a:prstGeom>
                        <a:solidFill>
                          <a:srgbClr val="70AD47"/>
                        </a:solidFill>
                        <a:ln w="12700" cap="flat" cmpd="sng" algn="ctr">
                          <a:solidFill>
                            <a:srgbClr val="4472C4">
                              <a:shade val="15000"/>
                            </a:srgbClr>
                          </a:solidFill>
                          <a:prstDash val="solid"/>
                          <a:miter lim="800000"/>
                        </a:ln>
                        <a:effectLst/>
                      </p:spPr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25" name="Group 24">
                          <a:extLst>
                            <a:ext uri="{FF2B5EF4-FFF2-40B4-BE49-F238E27FC236}">
                              <a16:creationId xmlns:a16="http://schemas.microsoft.com/office/drawing/2014/main" id="{438E2F83-622A-2C57-035E-999705EFFA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0"/>
                          <a:ext cx="6985216" cy="6377940"/>
                          <a:chOff x="0" y="0"/>
                          <a:chExt cx="6985216" cy="6377940"/>
                        </a:xfrm>
                      </p:grpSpPr>
                      <p:sp>
                        <p:nvSpPr>
                          <p:cNvPr id="26" name="Arrow: Pentagon 25">
                            <a:extLst>
                              <a:ext uri="{FF2B5EF4-FFF2-40B4-BE49-F238E27FC236}">
                                <a16:creationId xmlns:a16="http://schemas.microsoft.com/office/drawing/2014/main" id="{4CB31865-5743-E8C0-836B-A7236BB05C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flipH="1">
                            <a:off x="5768340" y="3299460"/>
                            <a:ext cx="910590" cy="365760"/>
                          </a:xfrm>
                          <a:prstGeom prst="homePlate">
                            <a:avLst>
                              <a:gd name="adj" fmla="val 26409"/>
                            </a:avLst>
                          </a:prstGeom>
                          <a:noFill/>
                          <a:ln w="28575" cap="flat" cmpd="sng" algn="ctr">
                            <a:solidFill>
                              <a:srgbClr val="4472C4">
                                <a:shade val="15000"/>
                              </a:srgbClr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ot="0" spcFirstLastPara="0" vert="horz" wrap="square" lIns="91440" tIns="45720" rIns="91440" bIns="45720" numCol="1" spcCol="0" rtlCol="0" fromWordArt="0" anchor="ctr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27" name="Group 26">
                            <a:extLst>
                              <a:ext uri="{FF2B5EF4-FFF2-40B4-BE49-F238E27FC236}">
                                <a16:creationId xmlns:a16="http://schemas.microsoft.com/office/drawing/2014/main" id="{53ED7DD1-DCF9-5D97-A6B9-1A3A7203E15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0" y="0"/>
                            <a:ext cx="6985216" cy="6377940"/>
                            <a:chOff x="0" y="0"/>
                            <a:chExt cx="6985216" cy="6377940"/>
                          </a:xfrm>
                        </p:grpSpPr>
                        <p:grpSp>
                          <p:nvGrpSpPr>
                            <p:cNvPr id="28" name="Group 27">
                              <a:extLst>
                                <a:ext uri="{FF2B5EF4-FFF2-40B4-BE49-F238E27FC236}">
                                  <a16:creationId xmlns:a16="http://schemas.microsoft.com/office/drawing/2014/main" id="{7AA86EB7-5F9D-3A74-DEB0-B047B15A98A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0" y="0"/>
                              <a:ext cx="6985216" cy="6377940"/>
                              <a:chOff x="0" y="0"/>
                              <a:chExt cx="6985216" cy="6377940"/>
                            </a:xfrm>
                          </p:grpSpPr>
                          <p:sp>
                            <p:nvSpPr>
                              <p:cNvPr id="31" name="Text Box 2">
                                <a:extLst>
                                  <a:ext uri="{FF2B5EF4-FFF2-40B4-BE49-F238E27FC236}">
                                    <a16:creationId xmlns:a16="http://schemas.microsoft.com/office/drawing/2014/main" id="{4210FABE-0CF0-73BA-EB92-DE1479FD4970}"/>
                                  </a:ext>
                                </a:extLst>
                              </p:cNvPr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120148" y="161925"/>
                                <a:ext cx="1143000" cy="784860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t" anchorCtr="0">
                                <a:noAutofit/>
                              </a:bodyPr>
                              <a:lstStyle/>
                              <a:p>
                                <a:pPr marL="0" marR="0" algn="ctr">
                                  <a:lnSpc>
                                    <a:spcPct val="107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800"/>
                                  </a:spcAft>
                                </a:pPr>
                                <a:r>
                                  <a:rPr lang="en-US" sz="1200" dirty="0">
                                    <a:effectLst/>
                                    <a:latin typeface="Times New Roman" panose="020206030504050203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a:t>Packaging Area </a:t>
                                </a:r>
                              </a:p>
                            </p:txBody>
                          </p:sp>
                          <p:sp>
                            <p:nvSpPr>
                              <p:cNvPr id="32" name="Text Box 2">
                                <a:extLst>
                                  <a:ext uri="{FF2B5EF4-FFF2-40B4-BE49-F238E27FC236}">
                                    <a16:creationId xmlns:a16="http://schemas.microsoft.com/office/drawing/2014/main" id="{00BC71A3-EE33-761B-C6A3-2A61EC3478D5}"/>
                                  </a:ext>
                                </a:extLst>
                              </p:cNvPr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4674870"/>
                                <a:ext cx="731519" cy="581024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t" anchorCtr="0">
                                <a:spAutoFit/>
                              </a:bodyPr>
                              <a:lstStyle/>
                              <a:p>
                                <a:pPr marL="0" marR="0" algn="ctr">
                                  <a:lnSpc>
                                    <a:spcPct val="107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800"/>
                                  </a:spcAft>
                                </a:pPr>
                                <a:r>
                                  <a:rPr lang="en-US" sz="1200">
                                    <a:effectLst/>
                                    <a:latin typeface="Times New Roman" panose="020206030504050203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a:t>Exhaust Fans</a:t>
                                </a:r>
                              </a:p>
                            </p:txBody>
                          </p:sp>
                          <p:grpSp>
                            <p:nvGrpSpPr>
                              <p:cNvPr id="33" name="Group 32">
                                <a:extLst>
                                  <a:ext uri="{FF2B5EF4-FFF2-40B4-BE49-F238E27FC236}">
                                    <a16:creationId xmlns:a16="http://schemas.microsoft.com/office/drawing/2014/main" id="{0F73F0D2-A3BE-68D3-96A5-3E295AE5537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97230" y="0"/>
                                <a:ext cx="6287986" cy="6377940"/>
                                <a:chOff x="0" y="0"/>
                                <a:chExt cx="6287986" cy="6377940"/>
                              </a:xfrm>
                            </p:grpSpPr>
                            <p:sp>
                              <p:nvSpPr>
                                <p:cNvPr id="35" name="Rectangle 34">
                                  <a:extLst>
                                    <a:ext uri="{FF2B5EF4-FFF2-40B4-BE49-F238E27FC236}">
                                      <a16:creationId xmlns:a16="http://schemas.microsoft.com/office/drawing/2014/main" id="{2D8C23F3-B2CD-7E6B-DD3D-1F8117DB6B2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213360" y="0"/>
                                  <a:ext cx="5798820" cy="637794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28575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grpSp>
                              <p:nvGrpSpPr>
                                <p:cNvPr id="36" name="Group 35">
                                  <a:extLst>
                                    <a:ext uri="{FF2B5EF4-FFF2-40B4-BE49-F238E27FC236}">
                                      <a16:creationId xmlns:a16="http://schemas.microsoft.com/office/drawing/2014/main" id="{76869325-4222-B7EB-BF2E-0EA3F61B2E9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66800" y="5524500"/>
                                  <a:ext cx="3223260" cy="358140"/>
                                  <a:chOff x="0" y="0"/>
                                  <a:chExt cx="3223260" cy="358140"/>
                                </a:xfrm>
                              </p:grpSpPr>
                              <p:cxnSp>
                                <p:nvCxnSpPr>
                                  <p:cNvPr id="81" name="Straight Connector 80">
                                    <a:extLst>
                                      <a:ext uri="{FF2B5EF4-FFF2-40B4-BE49-F238E27FC236}">
                                        <a16:creationId xmlns:a16="http://schemas.microsoft.com/office/drawing/2014/main" id="{AE1CBB12-6F01-2B8F-47C5-F91916790AE0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82" name="Straight Connector 81">
                                    <a:extLst>
                                      <a:ext uri="{FF2B5EF4-FFF2-40B4-BE49-F238E27FC236}">
                                        <a16:creationId xmlns:a16="http://schemas.microsoft.com/office/drawing/2014/main" id="{B3AFEF03-B6A5-68D5-EB39-D6FD3DB03AE2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 flipV="1">
                                    <a:off x="3215640" y="7620"/>
                                    <a:ext cx="7620" cy="3505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83" name="Straight Connector 82">
                                    <a:extLst>
                                      <a:ext uri="{FF2B5EF4-FFF2-40B4-BE49-F238E27FC236}">
                                        <a16:creationId xmlns:a16="http://schemas.microsoft.com/office/drawing/2014/main" id="{D9EA6200-273D-AD15-EBFF-F7DDBD7984CC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35052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</p:grpSp>
                            <p:grpSp>
                              <p:nvGrpSpPr>
                                <p:cNvPr id="37" name="Group 36">
                                  <a:extLst>
                                    <a:ext uri="{FF2B5EF4-FFF2-40B4-BE49-F238E27FC236}">
                                      <a16:creationId xmlns:a16="http://schemas.microsoft.com/office/drawing/2014/main" id="{37584050-7D3C-5210-B504-C9715C366B59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74420" y="4655820"/>
                                  <a:ext cx="3223260" cy="358140"/>
                                  <a:chOff x="0" y="0"/>
                                  <a:chExt cx="3223260" cy="358140"/>
                                </a:xfrm>
                              </p:grpSpPr>
                              <p:cxnSp>
                                <p:nvCxnSpPr>
                                  <p:cNvPr id="78" name="Straight Connector 77">
                                    <a:extLst>
                                      <a:ext uri="{FF2B5EF4-FFF2-40B4-BE49-F238E27FC236}">
                                        <a16:creationId xmlns:a16="http://schemas.microsoft.com/office/drawing/2014/main" id="{DF50F3F2-471F-205A-BBF7-BCBD0306F0A7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79" name="Straight Connector 78">
                                    <a:extLst>
                                      <a:ext uri="{FF2B5EF4-FFF2-40B4-BE49-F238E27FC236}">
                                        <a16:creationId xmlns:a16="http://schemas.microsoft.com/office/drawing/2014/main" id="{F1797587-3448-202D-4259-404741287D68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 flipV="1">
                                    <a:off x="3215640" y="7620"/>
                                    <a:ext cx="7620" cy="3505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80" name="Straight Connector 79">
                                    <a:extLst>
                                      <a:ext uri="{FF2B5EF4-FFF2-40B4-BE49-F238E27FC236}">
                                        <a16:creationId xmlns:a16="http://schemas.microsoft.com/office/drawing/2014/main" id="{3CCA7545-DBD9-4D15-9B27-ADB43AC0E8DF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35052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</p:grpSp>
                            <p:grpSp>
                              <p:nvGrpSpPr>
                                <p:cNvPr id="38" name="Group 37">
                                  <a:extLst>
                                    <a:ext uri="{FF2B5EF4-FFF2-40B4-BE49-F238E27FC236}">
                                      <a16:creationId xmlns:a16="http://schemas.microsoft.com/office/drawing/2014/main" id="{F6701BF0-2372-7472-B1C5-49F61B1FD31A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89660" y="3794760"/>
                                  <a:ext cx="3223260" cy="358140"/>
                                  <a:chOff x="0" y="0"/>
                                  <a:chExt cx="3223260" cy="358140"/>
                                </a:xfrm>
                              </p:grpSpPr>
                              <p:cxnSp>
                                <p:nvCxnSpPr>
                                  <p:cNvPr id="75" name="Straight Connector 74">
                                    <a:extLst>
                                      <a:ext uri="{FF2B5EF4-FFF2-40B4-BE49-F238E27FC236}">
                                        <a16:creationId xmlns:a16="http://schemas.microsoft.com/office/drawing/2014/main" id="{641A2F6B-4A09-522E-7952-103B96B39F56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76" name="Straight Connector 75">
                                    <a:extLst>
                                      <a:ext uri="{FF2B5EF4-FFF2-40B4-BE49-F238E27FC236}">
                                        <a16:creationId xmlns:a16="http://schemas.microsoft.com/office/drawing/2014/main" id="{77C74B58-FCA8-8F99-2F2E-FC6BE922BFDA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 flipV="1">
                                    <a:off x="3215640" y="7620"/>
                                    <a:ext cx="7620" cy="3505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77" name="Straight Connector 76">
                                    <a:extLst>
                                      <a:ext uri="{FF2B5EF4-FFF2-40B4-BE49-F238E27FC236}">
                                        <a16:creationId xmlns:a16="http://schemas.microsoft.com/office/drawing/2014/main" id="{CE6C97D9-FFBD-0DA3-B85D-ED829A94BC4E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35052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</p:grpSp>
                            <p:grpSp>
                              <p:nvGrpSpPr>
                                <p:cNvPr id="39" name="Group 38">
                                  <a:extLst>
                                    <a:ext uri="{FF2B5EF4-FFF2-40B4-BE49-F238E27FC236}">
                                      <a16:creationId xmlns:a16="http://schemas.microsoft.com/office/drawing/2014/main" id="{D6B5878D-925A-5AB1-6BB6-0AA7838871DF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74420" y="1303020"/>
                                  <a:ext cx="3223260" cy="358140"/>
                                  <a:chOff x="0" y="0"/>
                                  <a:chExt cx="3223260" cy="358140"/>
                                </a:xfrm>
                              </p:grpSpPr>
                              <p:cxnSp>
                                <p:nvCxnSpPr>
                                  <p:cNvPr id="72" name="Straight Connector 71">
                                    <a:extLst>
                                      <a:ext uri="{FF2B5EF4-FFF2-40B4-BE49-F238E27FC236}">
                                        <a16:creationId xmlns:a16="http://schemas.microsoft.com/office/drawing/2014/main" id="{50392E5B-2130-E5AE-7D48-15D8D5D8DCE0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73" name="Straight Connector 72">
                                    <a:extLst>
                                      <a:ext uri="{FF2B5EF4-FFF2-40B4-BE49-F238E27FC236}">
                                        <a16:creationId xmlns:a16="http://schemas.microsoft.com/office/drawing/2014/main" id="{DA4F3BEF-8FCB-53B4-DAC4-DC674EB34AFC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 flipV="1">
                                    <a:off x="3215640" y="7620"/>
                                    <a:ext cx="7620" cy="3505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74" name="Straight Connector 73">
                                    <a:extLst>
                                      <a:ext uri="{FF2B5EF4-FFF2-40B4-BE49-F238E27FC236}">
                                        <a16:creationId xmlns:a16="http://schemas.microsoft.com/office/drawing/2014/main" id="{3C85E7EA-7F6A-3AA7-1BB1-1BF6CB737426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35052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</p:grpSp>
                            <p:grpSp>
                              <p:nvGrpSpPr>
                                <p:cNvPr id="40" name="Group 39">
                                  <a:extLst>
                                    <a:ext uri="{FF2B5EF4-FFF2-40B4-BE49-F238E27FC236}">
                                      <a16:creationId xmlns:a16="http://schemas.microsoft.com/office/drawing/2014/main" id="{6B2D8D53-879B-C02E-304F-A5E782AAA7E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74420" y="2118360"/>
                                  <a:ext cx="3223260" cy="358140"/>
                                  <a:chOff x="0" y="0"/>
                                  <a:chExt cx="3223260" cy="358140"/>
                                </a:xfrm>
                              </p:grpSpPr>
                              <p:cxnSp>
                                <p:nvCxnSpPr>
                                  <p:cNvPr id="69" name="Straight Connector 68">
                                    <a:extLst>
                                      <a:ext uri="{FF2B5EF4-FFF2-40B4-BE49-F238E27FC236}">
                                        <a16:creationId xmlns:a16="http://schemas.microsoft.com/office/drawing/2014/main" id="{42A79DF9-BCB3-9DE7-04B6-919F1A9C9C0A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70" name="Straight Connector 69">
                                    <a:extLst>
                                      <a:ext uri="{FF2B5EF4-FFF2-40B4-BE49-F238E27FC236}">
                                        <a16:creationId xmlns:a16="http://schemas.microsoft.com/office/drawing/2014/main" id="{94A7CA38-F287-FC52-0247-7F819B57F345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 flipV="1">
                                    <a:off x="3215640" y="7620"/>
                                    <a:ext cx="7620" cy="3505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71" name="Straight Connector 70">
                                    <a:extLst>
                                      <a:ext uri="{FF2B5EF4-FFF2-40B4-BE49-F238E27FC236}">
                                        <a16:creationId xmlns:a16="http://schemas.microsoft.com/office/drawing/2014/main" id="{A1E1D176-C553-5EC1-A606-B3331F0CB0B2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35052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</p:grpSp>
                            <p:grpSp>
                              <p:nvGrpSpPr>
                                <p:cNvPr id="41" name="Group 40">
                                  <a:extLst>
                                    <a:ext uri="{FF2B5EF4-FFF2-40B4-BE49-F238E27FC236}">
                                      <a16:creationId xmlns:a16="http://schemas.microsoft.com/office/drawing/2014/main" id="{B39D6D71-D3AF-9B62-62F3-D07A19A5600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074420" y="2979420"/>
                                  <a:ext cx="3223260" cy="358140"/>
                                  <a:chOff x="0" y="0"/>
                                  <a:chExt cx="3223260" cy="358140"/>
                                </a:xfrm>
                              </p:grpSpPr>
                              <p:cxnSp>
                                <p:nvCxnSpPr>
                                  <p:cNvPr id="66" name="Straight Connector 65">
                                    <a:extLst>
                                      <a:ext uri="{FF2B5EF4-FFF2-40B4-BE49-F238E27FC236}">
                                        <a16:creationId xmlns:a16="http://schemas.microsoft.com/office/drawing/2014/main" id="{21775E86-1A89-B3C8-DF94-94D41AB2DC4B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67" name="Straight Connector 66">
                                    <a:extLst>
                                      <a:ext uri="{FF2B5EF4-FFF2-40B4-BE49-F238E27FC236}">
                                        <a16:creationId xmlns:a16="http://schemas.microsoft.com/office/drawing/2014/main" id="{A9508A21-CE2D-6AAE-68FC-02E3F2EED16E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 flipV="1">
                                    <a:off x="3215640" y="7620"/>
                                    <a:ext cx="7620" cy="3505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  <p:cxnSp>
                                <p:nvCxnSpPr>
                                  <p:cNvPr id="68" name="Straight Connector 67">
                                    <a:extLst>
                                      <a:ext uri="{FF2B5EF4-FFF2-40B4-BE49-F238E27FC236}">
                                        <a16:creationId xmlns:a16="http://schemas.microsoft.com/office/drawing/2014/main" id="{FAE6E1DA-3AA6-6F83-AA25-F0B9D7B6345F}"/>
                                      </a:ext>
                                    </a:extLst>
                                  </p:cNvPr>
                                  <p:cNvCxnSpPr/>
                                  <p:nvPr/>
                                </p:nvCxnSpPr>
                                <p:spPr>
                                  <a:xfrm>
                                    <a:off x="0" y="350520"/>
                                    <a:ext cx="3223260" cy="7620"/>
                                  </a:xfrm>
                                  <a:prstGeom prst="line">
                                    <a:avLst/>
                                  </a:prstGeom>
                                  <a:noFill/>
                                  <a:ln w="28575" cap="flat" cmpd="sng" algn="ctr">
                                    <a:solidFill>
                                      <a:sysClr val="windowText" lastClr="000000"/>
                                    </a:solidFill>
                                    <a:prstDash val="solid"/>
                                    <a:miter lim="800000"/>
                                  </a:ln>
                                  <a:effectLst/>
                                </p:spPr>
                              </p:cxnSp>
                            </p:grpSp>
                            <p:sp>
                              <p:nvSpPr>
                                <p:cNvPr id="42" name="&quot;Not Allowed&quot; Symbol 41">
                                  <a:extLst>
                                    <a:ext uri="{FF2B5EF4-FFF2-40B4-BE49-F238E27FC236}">
                                      <a16:creationId xmlns:a16="http://schemas.microsoft.com/office/drawing/2014/main" id="{B3BF6C60-517B-50D3-DBBA-0650E5945C6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19050" y="1283970"/>
                                  <a:ext cx="403860" cy="411480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43" name="&quot;Not Allowed&quot; Symbol 42">
                                  <a:extLst>
                                    <a:ext uri="{FF2B5EF4-FFF2-40B4-BE49-F238E27FC236}">
                                      <a16:creationId xmlns:a16="http://schemas.microsoft.com/office/drawing/2014/main" id="{4E71A375-4DA4-4EA6-2C65-39BD6026F12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3810" y="4773930"/>
                                  <a:ext cx="403860" cy="411480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44" name="&quot;Not Allowed&quot; Symbol 43">
                                  <a:extLst>
                                    <a:ext uri="{FF2B5EF4-FFF2-40B4-BE49-F238E27FC236}">
                                      <a16:creationId xmlns:a16="http://schemas.microsoft.com/office/drawing/2014/main" id="{1309DA60-4351-0E51-20AF-FCD681199B5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7620" y="3627120"/>
                                  <a:ext cx="403860" cy="411480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45" name="&quot;Not Allowed&quot; Symbol 44">
                                  <a:extLst>
                                    <a:ext uri="{FF2B5EF4-FFF2-40B4-BE49-F238E27FC236}">
                                      <a16:creationId xmlns:a16="http://schemas.microsoft.com/office/drawing/2014/main" id="{E7DCDC1A-B87E-3A89-ACA9-904F265D978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19050" y="2457450"/>
                                  <a:ext cx="403860" cy="411480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46" name="&quot;Not Allowed&quot; Symbol 45">
                                  <a:extLst>
                                    <a:ext uri="{FF2B5EF4-FFF2-40B4-BE49-F238E27FC236}">
                                      <a16:creationId xmlns:a16="http://schemas.microsoft.com/office/drawing/2014/main" id="{893224CE-DC9A-1AEF-B5A1-0EB50960194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5742193" y="1194451"/>
                                  <a:ext cx="550620" cy="535699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47" name="&quot;Not Allowed&quot; Symbol 46">
                                  <a:extLst>
                                    <a:ext uri="{FF2B5EF4-FFF2-40B4-BE49-F238E27FC236}">
                                      <a16:creationId xmlns:a16="http://schemas.microsoft.com/office/drawing/2014/main" id="{1A677265-C1B7-E4DD-390F-62748258C2F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5721059" y="5103967"/>
                                  <a:ext cx="567367" cy="556797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48" name="&quot;Not Allowed&quot; Symbol 47">
                                  <a:extLst>
                                    <a:ext uri="{FF2B5EF4-FFF2-40B4-BE49-F238E27FC236}">
                                      <a16:creationId xmlns:a16="http://schemas.microsoft.com/office/drawing/2014/main" id="{0FFA5A0C-8879-78C9-DF90-209D6592070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5727412" y="3818902"/>
                                  <a:ext cx="558471" cy="543134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49" name="&quot;Not Allowed&quot; Symbol 48">
                                  <a:extLst>
                                    <a:ext uri="{FF2B5EF4-FFF2-40B4-BE49-F238E27FC236}">
                                      <a16:creationId xmlns:a16="http://schemas.microsoft.com/office/drawing/2014/main" id="{D019E8E7-AF4A-B681-B4C2-CA5DD0A7192D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805138">
                                  <a:off x="5725605" y="2532822"/>
                                  <a:ext cx="556895" cy="567866"/>
                                </a:xfrm>
                                <a:prstGeom prst="noSmoking">
                                  <a:avLst>
                                    <a:gd name="adj" fmla="val 8881"/>
                                  </a:avLst>
                                </a:prstGeom>
                                <a:solidFill>
                                  <a:sysClr val="windowText" lastClr="000000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0" name="Rectangle: Rounded Corners 49">
                                  <a:extLst>
                                    <a:ext uri="{FF2B5EF4-FFF2-40B4-BE49-F238E27FC236}">
                                      <a16:creationId xmlns:a16="http://schemas.microsoft.com/office/drawing/2014/main" id="{70B12201-4E89-EAD1-EE5A-13A318D5B0C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15840" y="1165860"/>
                                  <a:ext cx="396240" cy="712470"/>
                                </a:xfrm>
                                <a:prstGeom prst="roundRect">
                                  <a:avLst>
                                    <a:gd name="adj" fmla="val 33975"/>
                                  </a:avLst>
                                </a:prstGeom>
                                <a:solidFill>
                                  <a:sysClr val="window" lastClr="FFFFFF"/>
                                </a:solidFill>
                                <a:ln w="38100" cap="flat" cmpd="sng" algn="ctr">
                                  <a:solidFill>
                                    <a:sysClr val="windowText" lastClr="000000"/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1" name="Rectangle: Rounded Corners 50">
                                  <a:extLst>
                                    <a:ext uri="{FF2B5EF4-FFF2-40B4-BE49-F238E27FC236}">
                                      <a16:creationId xmlns:a16="http://schemas.microsoft.com/office/drawing/2014/main" id="{2A46D96B-D9DD-19AB-A18A-71BAC0F7FDE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23460" y="4991100"/>
                                  <a:ext cx="396240" cy="712470"/>
                                </a:xfrm>
                                <a:prstGeom prst="roundRect">
                                  <a:avLst>
                                    <a:gd name="adj" fmla="val 33975"/>
                                  </a:avLst>
                                </a:prstGeom>
                                <a:solidFill>
                                  <a:sysClr val="window" lastClr="FFFFFF"/>
                                </a:solidFill>
                                <a:ln w="38100" cap="flat" cmpd="sng" algn="ctr">
                                  <a:solidFill>
                                    <a:sysClr val="windowText" lastClr="000000"/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2" name="Rectangle: Rounded Corners 51">
                                  <a:extLst>
                                    <a:ext uri="{FF2B5EF4-FFF2-40B4-BE49-F238E27FC236}">
                                      <a16:creationId xmlns:a16="http://schemas.microsoft.com/office/drawing/2014/main" id="{A9B5C47A-D135-A5B2-9B5A-A86D5D2AB81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15840" y="3756660"/>
                                  <a:ext cx="396240" cy="712470"/>
                                </a:xfrm>
                                <a:prstGeom prst="roundRect">
                                  <a:avLst>
                                    <a:gd name="adj" fmla="val 33975"/>
                                  </a:avLst>
                                </a:prstGeom>
                                <a:solidFill>
                                  <a:sysClr val="window" lastClr="FFFFFF"/>
                                </a:solidFill>
                                <a:ln w="38100" cap="flat" cmpd="sng" algn="ctr">
                                  <a:solidFill>
                                    <a:sysClr val="windowText" lastClr="000000"/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3" name="Rectangle: Rounded Corners 52">
                                  <a:extLst>
                                    <a:ext uri="{FF2B5EF4-FFF2-40B4-BE49-F238E27FC236}">
                                      <a16:creationId xmlns:a16="http://schemas.microsoft.com/office/drawing/2014/main" id="{A9CDC348-7623-5629-0374-352803951AD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15840" y="2484120"/>
                                  <a:ext cx="396240" cy="712470"/>
                                </a:xfrm>
                                <a:prstGeom prst="roundRect">
                                  <a:avLst>
                                    <a:gd name="adj" fmla="val 33975"/>
                                  </a:avLst>
                                </a:prstGeom>
                                <a:solidFill>
                                  <a:sysClr val="window" lastClr="FFFFFF"/>
                                </a:solidFill>
                                <a:ln w="38100" cap="flat" cmpd="sng" algn="ctr">
                                  <a:solidFill>
                                    <a:sysClr val="windowText" lastClr="000000"/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" name="Arrow: Pentagon 53">
                                  <a:extLst>
                                    <a:ext uri="{FF2B5EF4-FFF2-40B4-BE49-F238E27FC236}">
                                      <a16:creationId xmlns:a16="http://schemas.microsoft.com/office/drawing/2014/main" id="{F0C70CBA-699A-119D-1566-35DAA15C2E4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flipH="1">
                                  <a:off x="5071110" y="4556760"/>
                                  <a:ext cx="910590" cy="365760"/>
                                </a:xfrm>
                                <a:prstGeom prst="homePlate">
                                  <a:avLst>
                                    <a:gd name="adj" fmla="val 26409"/>
                                  </a:avLst>
                                </a:prstGeom>
                                <a:noFill/>
                                <a:ln w="28575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5" name="Arrow: Pentagon 54">
                                  <a:extLst>
                                    <a:ext uri="{FF2B5EF4-FFF2-40B4-BE49-F238E27FC236}">
                                      <a16:creationId xmlns:a16="http://schemas.microsoft.com/office/drawing/2014/main" id="{ABA6F630-E52F-0D51-A67B-6B324A508C8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flipH="1">
                                  <a:off x="5078730" y="2004060"/>
                                  <a:ext cx="910590" cy="365760"/>
                                </a:xfrm>
                                <a:prstGeom prst="homePlate">
                                  <a:avLst>
                                    <a:gd name="adj" fmla="val 26409"/>
                                  </a:avLst>
                                </a:prstGeom>
                                <a:noFill/>
                                <a:ln w="28575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6" name="Arrow: Quad 55">
                                  <a:extLst>
                                    <a:ext uri="{FF2B5EF4-FFF2-40B4-BE49-F238E27FC236}">
                                      <a16:creationId xmlns:a16="http://schemas.microsoft.com/office/drawing/2014/main" id="{2B60B686-4870-BD5C-68C8-B0BD624C9FC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169670" y="4735830"/>
                                  <a:ext cx="220980" cy="213360"/>
                                </a:xfrm>
                                <a:prstGeom prst="quadArrow">
                                  <a:avLst>
                                    <a:gd name="adj1" fmla="val 0"/>
                                    <a:gd name="adj2" fmla="val 3074"/>
                                    <a:gd name="adj3" fmla="val 46926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7" name="Arrow: Quad 56">
                                  <a:extLst>
                                    <a:ext uri="{FF2B5EF4-FFF2-40B4-BE49-F238E27FC236}">
                                      <a16:creationId xmlns:a16="http://schemas.microsoft.com/office/drawing/2014/main" id="{23762563-DEA9-28EF-7FAC-911692A76BF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718310" y="4728210"/>
                                  <a:ext cx="220980" cy="213360"/>
                                </a:xfrm>
                                <a:prstGeom prst="quadArrow">
                                  <a:avLst>
                                    <a:gd name="adj1" fmla="val 0"/>
                                    <a:gd name="adj2" fmla="val 3074"/>
                                    <a:gd name="adj3" fmla="val 46926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8" name="Arrow: Quad 57">
                                  <a:extLst>
                                    <a:ext uri="{FF2B5EF4-FFF2-40B4-BE49-F238E27FC236}">
                                      <a16:creationId xmlns:a16="http://schemas.microsoft.com/office/drawing/2014/main" id="{3012153E-D0F7-F5FE-6E41-13866968028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2320290" y="4728210"/>
                                  <a:ext cx="220980" cy="213360"/>
                                </a:xfrm>
                                <a:prstGeom prst="quadArrow">
                                  <a:avLst>
                                    <a:gd name="adj1" fmla="val 0"/>
                                    <a:gd name="adj2" fmla="val 3074"/>
                                    <a:gd name="adj3" fmla="val 46926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9" name="Arrow: Quad 58">
                                  <a:extLst>
                                    <a:ext uri="{FF2B5EF4-FFF2-40B4-BE49-F238E27FC236}">
                                      <a16:creationId xmlns:a16="http://schemas.microsoft.com/office/drawing/2014/main" id="{606DCDE2-10D4-3515-9B74-ACD990207D7E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2861310" y="4728210"/>
                                  <a:ext cx="220980" cy="213360"/>
                                </a:xfrm>
                                <a:prstGeom prst="quadArrow">
                                  <a:avLst>
                                    <a:gd name="adj1" fmla="val 0"/>
                                    <a:gd name="adj2" fmla="val 3074"/>
                                    <a:gd name="adj3" fmla="val 46926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60" name="Arrow: Quad 59">
                                  <a:extLst>
                                    <a:ext uri="{FF2B5EF4-FFF2-40B4-BE49-F238E27FC236}">
                                      <a16:creationId xmlns:a16="http://schemas.microsoft.com/office/drawing/2014/main" id="{9306C65D-48F5-34F1-FD37-D8E358934E7E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3379470" y="4728210"/>
                                  <a:ext cx="220980" cy="213360"/>
                                </a:xfrm>
                                <a:prstGeom prst="quadArrow">
                                  <a:avLst>
                                    <a:gd name="adj1" fmla="val 0"/>
                                    <a:gd name="adj2" fmla="val 3074"/>
                                    <a:gd name="adj3" fmla="val 46926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61" name="Arrow: Quad 60">
                                  <a:extLst>
                                    <a:ext uri="{FF2B5EF4-FFF2-40B4-BE49-F238E27FC236}">
                                      <a16:creationId xmlns:a16="http://schemas.microsoft.com/office/drawing/2014/main" id="{FAE1CD6D-722C-1D61-C81E-002B01CC06F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3890010" y="4728210"/>
                                  <a:ext cx="220980" cy="213360"/>
                                </a:xfrm>
                                <a:prstGeom prst="quadArrow">
                                  <a:avLst>
                                    <a:gd name="adj1" fmla="val 0"/>
                                    <a:gd name="adj2" fmla="val 3074"/>
                                    <a:gd name="adj3" fmla="val 46926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62" name="Arrow: Left-Up 61">
                                  <a:extLst>
                                    <a:ext uri="{FF2B5EF4-FFF2-40B4-BE49-F238E27FC236}">
                                      <a16:creationId xmlns:a16="http://schemas.microsoft.com/office/drawing/2014/main" id="{C1FB9165-D6CA-1730-0B24-15BD5C83F2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786150">
                                  <a:off x="4751388" y="2065337"/>
                                  <a:ext cx="263395" cy="264506"/>
                                </a:xfrm>
                                <a:prstGeom prst="leftUpArrow">
                                  <a:avLst>
                                    <a:gd name="adj1" fmla="val 5562"/>
                                    <a:gd name="adj2" fmla="val 10230"/>
                                    <a:gd name="adj3" fmla="val 29157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63" name="Arrow: Left-Up 62">
                                  <a:extLst>
                                    <a:ext uri="{FF2B5EF4-FFF2-40B4-BE49-F238E27FC236}">
                                      <a16:creationId xmlns:a16="http://schemas.microsoft.com/office/drawing/2014/main" id="{CB4CDD4F-03B3-966B-F124-E946F94CC94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786150">
                                  <a:off x="4751388" y="4618037"/>
                                  <a:ext cx="263395" cy="264506"/>
                                </a:xfrm>
                                <a:prstGeom prst="leftUpArrow">
                                  <a:avLst>
                                    <a:gd name="adj1" fmla="val 5562"/>
                                    <a:gd name="adj2" fmla="val 10230"/>
                                    <a:gd name="adj3" fmla="val 29157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64" name="Arrow: Left-Up 63">
                                  <a:extLst>
                                    <a:ext uri="{FF2B5EF4-FFF2-40B4-BE49-F238E27FC236}">
                                      <a16:creationId xmlns:a16="http://schemas.microsoft.com/office/drawing/2014/main" id="{40B5F788-F415-D07D-48D6-76E7512DAFD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18786150">
                                  <a:off x="4743550" y="3361352"/>
                                  <a:ext cx="263395" cy="264506"/>
                                </a:xfrm>
                                <a:prstGeom prst="leftUpArrow">
                                  <a:avLst>
                                    <a:gd name="adj1" fmla="val 5562"/>
                                    <a:gd name="adj2" fmla="val 10230"/>
                                    <a:gd name="adj3" fmla="val 29157"/>
                                  </a:avLst>
                                </a:prstGeom>
                                <a:solidFill>
                                  <a:srgbClr val="4472C4"/>
                                </a:solidFill>
                                <a:ln w="12700" cap="flat" cmpd="sng" algn="ctr">
                                  <a:solidFill>
                                    <a:srgbClr val="4472C4">
                                      <a:shade val="15000"/>
                                    </a:srgbClr>
                                  </a:solidFill>
                                  <a:prstDash val="solid"/>
                                  <a:miter lim="800000"/>
                                </a:ln>
                                <a:effectLst/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65" name="Text Box 2">
                                  <a:extLst>
                                    <a:ext uri="{FF2B5EF4-FFF2-40B4-BE49-F238E27FC236}">
                                      <a16:creationId xmlns:a16="http://schemas.microsoft.com/office/drawing/2014/main" id="{76332371-6416-54A9-9DA7-437530F86A06}"/>
                                    </a:ext>
                                  </a:extLst>
                                </p:cNvPr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5253990" y="3230880"/>
                                  <a:ext cx="632460" cy="52578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rot="0" vert="horz" wrap="square" lIns="91440" tIns="45720" rIns="91440" bIns="45720" anchor="t" anchorCtr="0">
                                  <a:noAutofit/>
                                </a:bodyPr>
                                <a:lstStyle/>
                                <a:p>
                                  <a:pPr marL="0" marR="0" algn="ctr">
                                    <a:lnSpc>
                                      <a:spcPct val="107000"/>
                                    </a:lnSpc>
                                    <a:spcBef>
                                      <a:spcPts val="0"/>
                                    </a:spcBef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en-US" sz="1200">
                                      <a:effectLst/>
                                      <a:latin typeface="Times New Roman" panose="020206030504050203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a:t>Air Cooler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34" name="Text Box 2">
                                <a:extLst>
                                  <a:ext uri="{FF2B5EF4-FFF2-40B4-BE49-F238E27FC236}">
                                    <a16:creationId xmlns:a16="http://schemas.microsoft.com/office/drawing/2014/main" id="{8C71251F-4C96-8309-64BE-AE7267600C0A}"/>
                                  </a:ext>
                                </a:extLst>
                              </p:cNvPr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417320" y="1352550"/>
                                <a:ext cx="2042160" cy="381000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t" anchorCtr="0">
                                <a:noAutofit/>
                              </a:bodyPr>
                              <a:lstStyle/>
                              <a:p>
                                <a:pPr marL="0" marR="0" algn="just">
                                  <a:lnSpc>
                                    <a:spcPct val="107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800"/>
                                  </a:spcAft>
                                </a:pPr>
                                <a:r>
                                  <a:rPr lang="en-US" sz="1200">
                                    <a:effectLst/>
                                    <a:latin typeface="Times New Roman" panose="020206030504050203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a:t>U-shaped Sewing Line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29" name="Text Box 2">
                              <a:extLst>
                                <a:ext uri="{FF2B5EF4-FFF2-40B4-BE49-F238E27FC236}">
                                  <a16:creationId xmlns:a16="http://schemas.microsoft.com/office/drawing/2014/main" id="{2DFB8583-2A0B-187B-FA60-A796AB4CF2F2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554384" y="4972050"/>
                              <a:ext cx="853439" cy="58102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 rot="0" vert="horz" wrap="square" lIns="91440" tIns="45720" rIns="91440" bIns="45720" anchor="t" anchorCtr="0">
                              <a:spAutoFit/>
                            </a:bodyPr>
                            <a:lstStyle/>
                            <a:p>
                              <a:pPr marL="0" marR="0" algn="ctr">
                                <a:lnSpc>
                                  <a:spcPct val="107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800"/>
                                </a:spcAft>
                              </a:pPr>
                              <a:r>
                                <a:rPr lang="en-US" sz="1200">
                                  <a:effectLst/>
                                  <a:latin typeface="Times New Roman" panose="020206030504050203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a:t>Ceiling Fans</a:t>
                              </a:r>
                            </a:p>
                          </p:txBody>
                        </p:sp>
                        <p:cxnSp>
                          <p:nvCxnSpPr>
                            <p:cNvPr id="30" name="Straight Connector 29">
                              <a:extLst>
                                <a:ext uri="{FF2B5EF4-FFF2-40B4-BE49-F238E27FC236}">
                                  <a16:creationId xmlns:a16="http://schemas.microsoft.com/office/drawing/2014/main" id="{614A26F6-F4C2-230D-4643-01389325A42D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V="1">
                              <a:off x="2240280" y="4857750"/>
                              <a:ext cx="266700" cy="304800"/>
                            </a:xfrm>
                            <a:prstGeom prst="line">
                              <a:avLst/>
                            </a:prstGeom>
                            <a:noFill/>
                            <a:ln w="12700" cap="flat" cmpd="sng" algn="ctr">
                              <a:solidFill>
                                <a:sysClr val="windowText" lastClr="000000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</p:cxnSp>
                      </p:grpSp>
                    </p:grpSp>
                  </p:grpSp>
                </p:grpSp>
                <p:sp>
                  <p:nvSpPr>
                    <p:cNvPr id="19" name="Arrow: Up 18">
                      <a:extLst>
                        <a:ext uri="{FF2B5EF4-FFF2-40B4-BE49-F238E27FC236}">
                          <a16:creationId xmlns:a16="http://schemas.microsoft.com/office/drawing/2014/main" id="{3B33CB7F-114B-4A79-FEAC-86BE502AC21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3973830" y="685800"/>
                      <a:ext cx="225425" cy="487680"/>
                    </a:xfrm>
                    <a:prstGeom prst="upArrow">
                      <a:avLst>
                        <a:gd name="adj1" fmla="val 21691"/>
                        <a:gd name="adj2" fmla="val 73062"/>
                      </a:avLst>
                    </a:prstGeom>
                    <a:solidFill>
                      <a:srgbClr val="70AD47"/>
                    </a:solidFill>
                    <a:ln w="12700" cap="flat" cmpd="sng" algn="ctr">
                      <a:solidFill>
                        <a:srgbClr val="4472C4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" name="Arrow: Up 19">
                      <a:extLst>
                        <a:ext uri="{FF2B5EF4-FFF2-40B4-BE49-F238E27FC236}">
                          <a16:creationId xmlns:a16="http://schemas.microsoft.com/office/drawing/2014/main" id="{7420CC57-5A7B-5DB3-DA3F-B1638A03941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175510" y="678180"/>
                      <a:ext cx="225425" cy="487680"/>
                    </a:xfrm>
                    <a:prstGeom prst="upArrow">
                      <a:avLst>
                        <a:gd name="adj1" fmla="val 21691"/>
                        <a:gd name="adj2" fmla="val 73062"/>
                      </a:avLst>
                    </a:prstGeom>
                    <a:solidFill>
                      <a:srgbClr val="70AD47"/>
                    </a:solidFill>
                    <a:ln w="12700" cap="flat" cmpd="sng" algn="ctr">
                      <a:solidFill>
                        <a:srgbClr val="4472C4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" name="Text Box 2">
                      <a:extLst>
                        <a:ext uri="{FF2B5EF4-FFF2-40B4-BE49-F238E27FC236}">
                          <a16:creationId xmlns:a16="http://schemas.microsoft.com/office/drawing/2014/main" id="{3A775650-69D8-F661-D429-6F466DF9C76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56326" y="152400"/>
                      <a:ext cx="2133599" cy="76961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Production (Sewing) Line Area (Usually well-ventilated and Controlled Temperature)</a:t>
                      </a:r>
                    </a:p>
                  </p:txBody>
                </p:sp>
              </p:grpSp>
              <p:sp>
                <p:nvSpPr>
                  <p:cNvPr id="15" name="Arrow: Quad 14">
                    <a:extLst>
                      <a:ext uri="{FF2B5EF4-FFF2-40B4-BE49-F238E27FC236}">
                        <a16:creationId xmlns:a16="http://schemas.microsoft.com/office/drawing/2014/main" id="{A599D752-287B-4E79-80EE-BAD9CD61E8FA}"/>
                      </a:ext>
                    </a:extLst>
                  </p:cNvPr>
                  <p:cNvSpPr/>
                  <p:nvPr/>
                </p:nvSpPr>
                <p:spPr>
                  <a:xfrm>
                    <a:off x="5974080" y="1249680"/>
                    <a:ext cx="220980" cy="213360"/>
                  </a:xfrm>
                  <a:prstGeom prst="quadArrow">
                    <a:avLst>
                      <a:gd name="adj1" fmla="val 0"/>
                      <a:gd name="adj2" fmla="val 3074"/>
                      <a:gd name="adj3" fmla="val 46926"/>
                    </a:avLst>
                  </a:prstGeom>
                  <a:solidFill>
                    <a:srgbClr val="4472C4"/>
                  </a:solidFill>
                  <a:ln w="12700" cap="flat" cmpd="sng" algn="ctr">
                    <a:solidFill>
                      <a:srgbClr val="4472C4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" name="Arrow: Quad 15">
                    <a:extLst>
                      <a:ext uri="{FF2B5EF4-FFF2-40B4-BE49-F238E27FC236}">
                        <a16:creationId xmlns:a16="http://schemas.microsoft.com/office/drawing/2014/main" id="{8B9E9D5C-72E6-810C-69B5-5308CED94163}"/>
                      </a:ext>
                    </a:extLst>
                  </p:cNvPr>
                  <p:cNvSpPr/>
                  <p:nvPr/>
                </p:nvSpPr>
                <p:spPr>
                  <a:xfrm>
                    <a:off x="5963979" y="3863340"/>
                    <a:ext cx="220980" cy="213360"/>
                  </a:xfrm>
                  <a:prstGeom prst="quadArrow">
                    <a:avLst>
                      <a:gd name="adj1" fmla="val 0"/>
                      <a:gd name="adj2" fmla="val 3074"/>
                      <a:gd name="adj3" fmla="val 46926"/>
                    </a:avLst>
                  </a:prstGeom>
                  <a:solidFill>
                    <a:srgbClr val="4472C4"/>
                  </a:solidFill>
                  <a:ln w="12700" cap="flat" cmpd="sng" algn="ctr">
                    <a:solidFill>
                      <a:srgbClr val="4472C4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Arrow: Quad 16">
                    <a:extLst>
                      <a:ext uri="{FF2B5EF4-FFF2-40B4-BE49-F238E27FC236}">
                        <a16:creationId xmlns:a16="http://schemas.microsoft.com/office/drawing/2014/main" id="{929B7FC1-0AC2-234E-C760-C5B001EB1D45}"/>
                      </a:ext>
                    </a:extLst>
                  </p:cNvPr>
                  <p:cNvSpPr/>
                  <p:nvPr/>
                </p:nvSpPr>
                <p:spPr>
                  <a:xfrm>
                    <a:off x="5970270" y="2590800"/>
                    <a:ext cx="220980" cy="213360"/>
                  </a:xfrm>
                  <a:prstGeom prst="quadArrow">
                    <a:avLst>
                      <a:gd name="adj1" fmla="val 0"/>
                      <a:gd name="adj2" fmla="val 3074"/>
                      <a:gd name="adj3" fmla="val 46926"/>
                    </a:avLst>
                  </a:prstGeom>
                  <a:solidFill>
                    <a:srgbClr val="4472C4"/>
                  </a:solidFill>
                  <a:ln w="12700" cap="flat" cmpd="sng" algn="ctr">
                    <a:solidFill>
                      <a:srgbClr val="4472C4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Text Box 2">
                  <a:extLst>
                    <a:ext uri="{FF2B5EF4-FFF2-40B4-BE49-F238E27FC236}">
                      <a16:creationId xmlns:a16="http://schemas.microsoft.com/office/drawing/2014/main" id="{8FD86468-644C-83BB-C8F5-932B45A7CF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80334" y="5798820"/>
                  <a:ext cx="853439" cy="5810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2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Packaging Platforms</a:t>
                  </a:r>
                </a:p>
              </p:txBody>
            </p:sp>
          </p:grpSp>
          <p:sp>
            <p:nvSpPr>
              <p:cNvPr id="8" name="Arrow: Quad 7">
                <a:extLst>
                  <a:ext uri="{FF2B5EF4-FFF2-40B4-BE49-F238E27FC236}">
                    <a16:creationId xmlns:a16="http://schemas.microsoft.com/office/drawing/2014/main" id="{8208B213-CFE8-5A5D-EE0E-64429D75762F}"/>
                  </a:ext>
                </a:extLst>
              </p:cNvPr>
              <p:cNvSpPr/>
              <p:nvPr/>
            </p:nvSpPr>
            <p:spPr>
              <a:xfrm>
                <a:off x="5974080" y="5474970"/>
                <a:ext cx="220980" cy="213360"/>
              </a:xfrm>
              <a:prstGeom prst="quadArrow">
                <a:avLst>
                  <a:gd name="adj1" fmla="val 6148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" name="Arrow: Quad 8">
                <a:extLst>
                  <a:ext uri="{FF2B5EF4-FFF2-40B4-BE49-F238E27FC236}">
                    <a16:creationId xmlns:a16="http://schemas.microsoft.com/office/drawing/2014/main" id="{868FDC33-D192-7E79-1D91-259CB40C74C3}"/>
                  </a:ext>
                </a:extLst>
              </p:cNvPr>
              <p:cNvSpPr/>
              <p:nvPr/>
            </p:nvSpPr>
            <p:spPr>
              <a:xfrm>
                <a:off x="5966460" y="4217670"/>
                <a:ext cx="220980" cy="213360"/>
              </a:xfrm>
              <a:prstGeom prst="quadArrow">
                <a:avLst>
                  <a:gd name="adj1" fmla="val 6148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" name="Arrow: Quad 9">
                <a:extLst>
                  <a:ext uri="{FF2B5EF4-FFF2-40B4-BE49-F238E27FC236}">
                    <a16:creationId xmlns:a16="http://schemas.microsoft.com/office/drawing/2014/main" id="{0D884711-260A-C7E7-9DC4-B5AB60F7ED90}"/>
                  </a:ext>
                </a:extLst>
              </p:cNvPr>
              <p:cNvSpPr/>
              <p:nvPr/>
            </p:nvSpPr>
            <p:spPr>
              <a:xfrm>
                <a:off x="5981700" y="1634490"/>
                <a:ext cx="220980" cy="213360"/>
              </a:xfrm>
              <a:prstGeom prst="quadArrow">
                <a:avLst>
                  <a:gd name="adj1" fmla="val 6148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1" name="Arrow: Quad 10">
                <a:extLst>
                  <a:ext uri="{FF2B5EF4-FFF2-40B4-BE49-F238E27FC236}">
                    <a16:creationId xmlns:a16="http://schemas.microsoft.com/office/drawing/2014/main" id="{E4DEB1B4-3215-A782-C087-673BD1D4501D}"/>
                  </a:ext>
                </a:extLst>
              </p:cNvPr>
              <p:cNvSpPr/>
              <p:nvPr/>
            </p:nvSpPr>
            <p:spPr>
              <a:xfrm>
                <a:off x="5966460" y="2952750"/>
                <a:ext cx="220980" cy="213360"/>
              </a:xfrm>
              <a:prstGeom prst="quadArrow">
                <a:avLst>
                  <a:gd name="adj1" fmla="val 0"/>
                  <a:gd name="adj2" fmla="val 3074"/>
                  <a:gd name="adj3" fmla="val 46926"/>
                </a:avLst>
              </a:prstGeom>
              <a:solidFill>
                <a:srgbClr val="4472C4"/>
              </a:solidFill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A36E66E8-F198-9BA4-1871-878E8F56A61B}"/>
              </a:ext>
            </a:extLst>
          </p:cNvPr>
          <p:cNvSpPr txBox="1"/>
          <p:nvPr/>
        </p:nvSpPr>
        <p:spPr>
          <a:xfrm>
            <a:off x="0" y="120568"/>
            <a:ext cx="5602804" cy="14244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4000" b="1" cap="all" spc="600" dirty="0">
                <a:latin typeface="+mj-lt"/>
                <a:ea typeface="+mj-ea"/>
              </a:rPr>
              <a:t>P</a:t>
            </a:r>
            <a:r>
              <a:rPr lang="en-IN" sz="2800" b="1" cap="all" spc="600" dirty="0">
                <a:latin typeface="+mj-lt"/>
                <a:ea typeface="+mj-ea"/>
              </a:rPr>
              <a:t>otential changes to deal with dead spot issues</a:t>
            </a:r>
            <a:endParaRPr lang="en-IN" b="1" cap="all" spc="600" dirty="0">
              <a:latin typeface="+mj-lt"/>
              <a:ea typeface="+mj-ea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7480F9-60C0-8BC6-4A24-32BC15550332}"/>
              </a:ext>
            </a:extLst>
          </p:cNvPr>
          <p:cNvGrpSpPr/>
          <p:nvPr/>
        </p:nvGrpSpPr>
        <p:grpSpPr>
          <a:xfrm>
            <a:off x="510320" y="2065940"/>
            <a:ext cx="4695196" cy="3795105"/>
            <a:chOff x="739536" y="2194136"/>
            <a:chExt cx="4695196" cy="3795105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919AF9D-22D6-65D6-DC6A-14E5204C62EC}"/>
                </a:ext>
              </a:extLst>
            </p:cNvPr>
            <p:cNvSpPr txBox="1"/>
            <p:nvPr/>
          </p:nvSpPr>
          <p:spPr>
            <a:xfrm>
              <a:off x="774355" y="2194136"/>
              <a:ext cx="40639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800" b="1" dirty="0"/>
                <a:t>Additional Ventilation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E534589-F37E-8462-6809-C04AFE6393A1}"/>
                </a:ext>
              </a:extLst>
            </p:cNvPr>
            <p:cNvSpPr txBox="1"/>
            <p:nvPr/>
          </p:nvSpPr>
          <p:spPr>
            <a:xfrm>
              <a:off x="779145" y="2999455"/>
              <a:ext cx="34502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800" b="1" dirty="0"/>
                <a:t>Fan Repositioning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12BC7B8-B73A-4671-8C59-F93CFE3C15E2}"/>
                </a:ext>
              </a:extLst>
            </p:cNvPr>
            <p:cNvSpPr txBox="1"/>
            <p:nvPr/>
          </p:nvSpPr>
          <p:spPr>
            <a:xfrm>
              <a:off x="750130" y="3804774"/>
              <a:ext cx="44855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800" b="1" dirty="0"/>
                <a:t>Air Cooler Repositioning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D948316-1BC2-4BC1-5D0D-2691C8863DF7}"/>
                </a:ext>
              </a:extLst>
            </p:cNvPr>
            <p:cNvSpPr txBox="1"/>
            <p:nvPr/>
          </p:nvSpPr>
          <p:spPr>
            <a:xfrm>
              <a:off x="739536" y="4591468"/>
              <a:ext cx="46951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800" b="1" dirty="0"/>
                <a:t>Exhaust Fan Optimization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1645A2B-50C3-4033-F7E2-69DE7D8AA69E}"/>
                </a:ext>
              </a:extLst>
            </p:cNvPr>
            <p:cNvSpPr txBox="1"/>
            <p:nvPr/>
          </p:nvSpPr>
          <p:spPr>
            <a:xfrm>
              <a:off x="750130" y="5466021"/>
              <a:ext cx="40012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v"/>
              </a:pPr>
              <a:r>
                <a:rPr lang="en-US" sz="2800" b="1" dirty="0"/>
                <a:t>Regular Maintenance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7CF8F2B-4461-A8DE-E042-8D4F1A752E69}"/>
              </a:ext>
            </a:extLst>
          </p:cNvPr>
          <p:cNvSpPr txBox="1"/>
          <p:nvPr/>
        </p:nvSpPr>
        <p:spPr>
          <a:xfrm>
            <a:off x="7196314" y="6441842"/>
            <a:ext cx="378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Figure: A Potential Updated Layout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D645870-D3B7-C93A-792B-F8C615BD52E1}"/>
              </a:ext>
            </a:extLst>
          </p:cNvPr>
          <p:cNvSpPr txBox="1">
            <a:spLocks/>
          </p:cNvSpPr>
          <p:nvPr/>
        </p:nvSpPr>
        <p:spPr>
          <a:xfrm>
            <a:off x="9386931" y="648744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9A01C0A-2BB6-49E7-91A3-DCB9F9F59583}" type="slidenum">
              <a:rPr lang="en-US" sz="1200" smtClean="0"/>
              <a:pPr algn="r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566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AC71F-02BA-4AD9-ADCA-3A7F9A421E4B}"/>
              </a:ext>
            </a:extLst>
          </p:cNvPr>
          <p:cNvSpPr txBox="1"/>
          <p:nvPr/>
        </p:nvSpPr>
        <p:spPr>
          <a:xfrm>
            <a:off x="96051" y="1128138"/>
            <a:ext cx="6800049" cy="3174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cap="all" spc="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Layout Challenges in Washing &amp; Dyeing Section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151413-AAF6-41AF-FCBC-BDD088091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9" r="16329"/>
          <a:stretch/>
        </p:blipFill>
        <p:spPr>
          <a:xfrm>
            <a:off x="7179279" y="-208725"/>
            <a:ext cx="6532639" cy="7275449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1489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76464-ADCD-D21C-31BF-CDB949242B08}"/>
              </a:ext>
            </a:extLst>
          </p:cNvPr>
          <p:cNvSpPr txBox="1"/>
          <p:nvPr/>
        </p:nvSpPr>
        <p:spPr>
          <a:xfrm>
            <a:off x="438911" y="2807208"/>
            <a:ext cx="4800601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marR="0" indent="-45720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</a:rPr>
              <a:t>14 </a:t>
            </a:r>
            <a:r>
              <a:rPr lang="en-US" sz="2800" dirty="0"/>
              <a:t>W</a:t>
            </a:r>
            <a:r>
              <a:rPr lang="en-US" sz="2800" dirty="0">
                <a:effectLst/>
              </a:rPr>
              <a:t>ashing Machines</a:t>
            </a:r>
          </a:p>
          <a:p>
            <a:pPr marL="228600" marR="0" indent="-45720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dirty="0"/>
              <a:t>5 Deep D</a:t>
            </a:r>
            <a:r>
              <a:rPr lang="en-US" sz="2800" dirty="0">
                <a:effectLst/>
              </a:rPr>
              <a:t>yeing </a:t>
            </a:r>
            <a:r>
              <a:rPr lang="en-US" sz="2800" dirty="0"/>
              <a:t>M</a:t>
            </a:r>
            <a:r>
              <a:rPr lang="en-US" sz="2800" dirty="0">
                <a:effectLst/>
              </a:rPr>
              <a:t>achines</a:t>
            </a:r>
          </a:p>
          <a:p>
            <a:pPr marL="228600" marR="0" indent="-45720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</a:rPr>
              <a:t>14 Drying machines</a:t>
            </a:r>
          </a:p>
        </p:txBody>
      </p:sp>
      <p:pic>
        <p:nvPicPr>
          <p:cNvPr id="3" name="Picture 2" descr="A diagram of a laundry room&#10;&#10;Description automatically generated">
            <a:extLst>
              <a:ext uri="{FF2B5EF4-FFF2-40B4-BE49-F238E27FC236}">
                <a16:creationId xmlns:a16="http://schemas.microsoft.com/office/drawing/2014/main" id="{87094BA0-79AA-4739-6CE3-679A02CB90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" r="5111" b="2"/>
          <a:stretch/>
        </p:blipFill>
        <p:spPr bwMode="auto">
          <a:xfrm>
            <a:off x="5160339" y="640080"/>
            <a:ext cx="5891634" cy="557784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C186664-8858-4FDF-F810-D5C2785AF324}"/>
              </a:ext>
            </a:extLst>
          </p:cNvPr>
          <p:cNvSpPr txBox="1">
            <a:spLocks/>
          </p:cNvSpPr>
          <p:nvPr/>
        </p:nvSpPr>
        <p:spPr>
          <a:xfrm>
            <a:off x="783336" y="7919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Current Layout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0D4DC-AD67-FFCE-32E6-E951BD0E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47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7D46A6-1263-2BC3-C239-B957F88260F7}"/>
              </a:ext>
            </a:extLst>
          </p:cNvPr>
          <p:cNvSpPr txBox="1">
            <a:spLocks/>
          </p:cNvSpPr>
          <p:nvPr/>
        </p:nvSpPr>
        <p:spPr>
          <a:xfrm>
            <a:off x="706195" y="661916"/>
            <a:ext cx="3739341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 dirty="0"/>
              <a:t>Current Layout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67EC94-54E9-5D84-BD9D-A00E79829501}"/>
              </a:ext>
            </a:extLst>
          </p:cNvPr>
          <p:cNvSpPr txBox="1"/>
          <p:nvPr/>
        </p:nvSpPr>
        <p:spPr>
          <a:xfrm>
            <a:off x="576073" y="2311239"/>
            <a:ext cx="5102352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Space Congestion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Material Handling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Deep Dyeing Machine Proximity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Heat Transfer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Water Pollution</a:t>
            </a:r>
          </a:p>
        </p:txBody>
      </p:sp>
      <p:pic>
        <p:nvPicPr>
          <p:cNvPr id="2" name="Picture 1" descr="A diagram of a laundry room&#10;&#10;Description automatically generated">
            <a:extLst>
              <a:ext uri="{FF2B5EF4-FFF2-40B4-BE49-F238E27FC236}">
                <a16:creationId xmlns:a16="http://schemas.microsoft.com/office/drawing/2014/main" id="{AFF61FF3-7243-7460-B05E-1F19769F8F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" r="5111" b="2"/>
          <a:stretch/>
        </p:blipFill>
        <p:spPr bwMode="auto">
          <a:xfrm>
            <a:off x="5587736" y="661916"/>
            <a:ext cx="5870582" cy="5557909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C622D-12B7-5F8D-8F90-72E3552D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14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122C-9E22-7B9A-55F6-6C10ACD1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A809D-DC74-2D44-3A49-78B70B5E8B06}"/>
              </a:ext>
            </a:extLst>
          </p:cNvPr>
          <p:cNvSpPr txBox="1"/>
          <p:nvPr/>
        </p:nvSpPr>
        <p:spPr>
          <a:xfrm>
            <a:off x="310896" y="2807208"/>
            <a:ext cx="4849443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marR="0" indent="-45720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</a:rPr>
              <a:t>Average distance between Deep Dyeing and Washing: </a:t>
            </a:r>
            <a:r>
              <a:rPr lang="en-US" sz="2800" b="1" dirty="0">
                <a:effectLst/>
              </a:rPr>
              <a:t>36.42 to 41.94 meters</a:t>
            </a:r>
          </a:p>
          <a:p>
            <a:pPr marL="228600" marR="0" indent="-45720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</a:rPr>
              <a:t>Average distance between Washing and Drying: </a:t>
            </a:r>
            <a:r>
              <a:rPr lang="en-US" sz="2800" b="1" dirty="0">
                <a:effectLst/>
              </a:rPr>
              <a:t>61.24 to 51.29 meters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A3BF6-35E4-879A-1A3F-A2E0A3FDE3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" r="5111" b="2"/>
          <a:stretch/>
        </p:blipFill>
        <p:spPr bwMode="auto">
          <a:xfrm>
            <a:off x="5160339" y="640080"/>
            <a:ext cx="5891634" cy="557784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D0C04-8C3C-82EC-D376-4DC1E8C8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39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9636-785B-7BAE-A521-16205159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Layout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5BD7B2-B6CA-15C9-6DED-2B3B3EC5448D}"/>
              </a:ext>
            </a:extLst>
          </p:cNvPr>
          <p:cNvSpPr txBox="1"/>
          <p:nvPr/>
        </p:nvSpPr>
        <p:spPr>
          <a:xfrm>
            <a:off x="612648" y="2379502"/>
            <a:ext cx="5303520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Lower Material Handling Cost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Improved Spacing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Line/Process Layout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Flow Efficiency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6B9BC-2A40-9520-887E-F1D614A197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" r="5111" b="2"/>
          <a:stretch/>
        </p:blipFill>
        <p:spPr bwMode="auto">
          <a:xfrm>
            <a:off x="5587736" y="661916"/>
            <a:ext cx="5870582" cy="5557909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34CA8-F6C5-A766-12C4-F4728FB5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71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F1491-1F2E-42CB-11A4-D55FF6651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7E24C5-9FA0-AA42-4F42-5AB7CBFD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0D329076-5DA0-4D87-9559-3ED4409193AA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 defTabSz="914400">
                <a:spcAft>
                  <a:spcPts val="600"/>
                </a:spcAft>
              </a:pPr>
              <a:t>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6A0D3290-CEA6-B2E7-6DB0-DB5BC62C5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161779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3535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76339-CA74-0EA9-DF69-CACFD409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3A878-962A-80EC-1DF2-437C756E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83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3AC71F-02BA-4AD9-ADCA-3A7F9A421E4B}"/>
              </a:ext>
            </a:extLst>
          </p:cNvPr>
          <p:cNvSpPr txBox="1"/>
          <p:nvPr/>
        </p:nvSpPr>
        <p:spPr>
          <a:xfrm>
            <a:off x="578651" y="1122363"/>
            <a:ext cx="11034695" cy="3174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400" b="1" kern="1200" cap="all" spc="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270410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122C-9E22-7B9A-55F6-6C10ACD1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160454"/>
            <a:ext cx="10888516" cy="493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A: Questionnaire for survey and the response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D0C04-8C3C-82EC-D376-4DC1E8C8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28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D62076-405A-40F1-8B5A-A820878D1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78" y="961642"/>
            <a:ext cx="4963218" cy="16956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DA83794-3B6B-8633-2254-D49CEFE4A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78" y="2964976"/>
            <a:ext cx="4953691" cy="17718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03E60A-BCEC-EB50-88A1-28D3EB29E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57" y="4933681"/>
            <a:ext cx="4934639" cy="19243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1089F9D-F5E7-8A77-7290-486AFB611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306" y="961642"/>
            <a:ext cx="4896533" cy="19338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421D6F-13AC-9D42-EB39-C4B949D71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0963" y="2964976"/>
            <a:ext cx="4963218" cy="187668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905BACD-DCDE-E286-F107-E05740F24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306" y="4832851"/>
            <a:ext cx="4944165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28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122C-9E22-7B9A-55F6-6C10ACD1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160454"/>
            <a:ext cx="10888516" cy="493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A: Questionnaire for survey and the response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5BE02-7951-1610-8F7C-631BFC85C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03" y="1053833"/>
            <a:ext cx="4915586" cy="184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AB4C7-EDF9-B9B7-F7F5-BD02151A5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03" y="3626193"/>
            <a:ext cx="5058481" cy="1991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51985-F2FF-32B2-EAAF-2B8743FC4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313" y="1053833"/>
            <a:ext cx="5268060" cy="232442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177E5-BE55-C890-2FE9-15201AC3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41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122C-9E22-7B9A-55F6-6C10ACD1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160454"/>
            <a:ext cx="10888516" cy="493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B: Sample calculation of time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EDE30-23D5-1CD7-1526-A733CF1A525B}"/>
              </a:ext>
            </a:extLst>
          </p:cNvPr>
          <p:cNvSpPr txBox="1"/>
          <p:nvPr/>
        </p:nvSpPr>
        <p:spPr>
          <a:xfrm>
            <a:off x="377098" y="1074509"/>
            <a:ext cx="1104296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the 4th process which is side pocket zipper join-</a:t>
            </a:r>
          </a:p>
          <a:p>
            <a:r>
              <a:rPr lang="en-US" sz="2000" dirty="0"/>
              <a:t>Machine – Lock stich</a:t>
            </a:r>
          </a:p>
          <a:p>
            <a:r>
              <a:rPr lang="en-US" sz="2000" dirty="0"/>
              <a:t>Quantity processed = 7 pcs </a:t>
            </a:r>
          </a:p>
          <a:p>
            <a:r>
              <a:rPr lang="en-US" sz="2000" dirty="0"/>
              <a:t>Total time required = 196 sec</a:t>
            </a:r>
          </a:p>
          <a:p>
            <a:r>
              <a:rPr lang="en-US" sz="2000" dirty="0"/>
              <a:t>Average time =(Total time required)/(Quantity processed) =196/7 =28.0 sec</a:t>
            </a:r>
          </a:p>
          <a:p>
            <a:r>
              <a:rPr lang="en-US" sz="2000" dirty="0"/>
              <a:t>Worker rating = 100%</a:t>
            </a:r>
          </a:p>
          <a:p>
            <a:r>
              <a:rPr lang="en-US" sz="2000" dirty="0"/>
              <a:t>Normal time =Avg. time × worker rating =28.0×100% =28.0 sec</a:t>
            </a:r>
          </a:p>
          <a:p>
            <a:r>
              <a:rPr lang="en-US" sz="2000" dirty="0"/>
              <a:t>Allowance = 15%</a:t>
            </a:r>
          </a:p>
          <a:p>
            <a:r>
              <a:rPr lang="en-US" sz="2000" dirty="0"/>
              <a:t>Standard second value (SSV) =Normal time + Normal time ×Allowance (</a:t>
            </a:r>
            <a:r>
              <a:rPr lang="en-US" sz="2000" dirty="0" err="1"/>
              <a:t>Niebel</a:t>
            </a:r>
            <a:r>
              <a:rPr lang="en-US" sz="2000" dirty="0"/>
              <a:t>, 2009)</a:t>
            </a:r>
          </a:p>
          <a:p>
            <a:r>
              <a:rPr lang="en-US" sz="2000" dirty="0"/>
              <a:t>				=28.0+28.0×15%</a:t>
            </a:r>
          </a:p>
          <a:p>
            <a:r>
              <a:rPr lang="en-US" sz="2000" dirty="0"/>
              <a:t>				=32.20 sec</a:t>
            </a:r>
          </a:p>
          <a:p>
            <a:r>
              <a:rPr lang="en-US" sz="2000" dirty="0"/>
              <a:t>Standard minute value (SMV) =SSV/60 =32.20/60 =0.54 min</a:t>
            </a:r>
          </a:p>
          <a:p>
            <a:r>
              <a:rPr lang="en-US" sz="2000" dirty="0"/>
              <a:t>Capacity =3600/SSV =3600/0.54 =112 pcs/</a:t>
            </a:r>
            <a:r>
              <a:rPr lang="en-US" sz="2000" dirty="0" err="1"/>
              <a:t>hr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B3256-5F25-CCC4-93F2-1ADA5CC9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03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122C-9E22-7B9A-55F6-6C10ACD1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160454"/>
            <a:ext cx="10888516" cy="493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C:</a:t>
            </a:r>
            <a:r>
              <a:rPr lang="en-US" sz="2800" dirty="0"/>
              <a:t> </a:t>
            </a:r>
            <a:r>
              <a:rPr lang="en-US" sz="2800" dirty="0" err="1"/>
              <a:t>Matlab</a:t>
            </a:r>
            <a:r>
              <a:rPr lang="en-US" sz="2800" dirty="0"/>
              <a:t> code 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3B07C0-14AE-473B-5DC3-8BD54B3E4324}"/>
              </a:ext>
            </a:extLst>
          </p:cNvPr>
          <p:cNvGrpSpPr/>
          <p:nvPr/>
        </p:nvGrpSpPr>
        <p:grpSpPr>
          <a:xfrm>
            <a:off x="1357364" y="1024813"/>
            <a:ext cx="9477273" cy="5604587"/>
            <a:chOff x="1570383" y="1024813"/>
            <a:chExt cx="9477273" cy="560458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5D466C-40AE-3BC7-A0E1-925708A0E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0383" y="1424923"/>
              <a:ext cx="3776869" cy="506489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6EA059-DCA4-77AE-C75B-33ED8CBE7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2802" y="1424923"/>
              <a:ext cx="3884854" cy="506489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BA1D62-0E80-B5FD-8B70-438BB84E5770}"/>
                </a:ext>
              </a:extLst>
            </p:cNvPr>
            <p:cNvSpPr txBox="1"/>
            <p:nvPr/>
          </p:nvSpPr>
          <p:spPr>
            <a:xfrm>
              <a:off x="2295352" y="1024813"/>
              <a:ext cx="21275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For current layout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1DFE47-A05C-C66C-06D1-4723BE517FE5}"/>
                </a:ext>
              </a:extLst>
            </p:cNvPr>
            <p:cNvSpPr txBox="1"/>
            <p:nvPr/>
          </p:nvSpPr>
          <p:spPr>
            <a:xfrm>
              <a:off x="7892362" y="1024813"/>
              <a:ext cx="25801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For proposed layout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0B9AADB-EC7A-65AB-4944-CCAC9E30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221896" y="1224868"/>
              <a:ext cx="0" cy="5404532"/>
            </a:xfrm>
            <a:prstGeom prst="line">
              <a:avLst/>
            </a:prstGeom>
            <a:ln w="28575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E735B-B87D-BE58-979F-870764F97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9076-5DA0-4D87-9559-3ED4409193A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16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14F4E4A486F84A972649A7C9E2F9D6" ma:contentTypeVersion="4" ma:contentTypeDescription="Create a new document." ma:contentTypeScope="" ma:versionID="c96009d4ffb7583887904f063ebfd51f">
  <xsd:schema xmlns:xsd="http://www.w3.org/2001/XMLSchema" xmlns:xs="http://www.w3.org/2001/XMLSchema" xmlns:p="http://schemas.microsoft.com/office/2006/metadata/properties" xmlns:ns2="5cafa227-04a9-4423-88e3-5b95fe6e18da" targetNamespace="http://schemas.microsoft.com/office/2006/metadata/properties" ma:root="true" ma:fieldsID="fda3a5c0a784857852b93295fce23b65" ns2:_="">
    <xsd:import namespace="5cafa227-04a9-4423-88e3-5b95fe6e1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fa227-04a9-4423-88e3-5b95fe6e1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7364FA-99D5-4651-A47E-398BCE2564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fa227-04a9-4423-88e3-5b95fe6e18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E1CE9E-2A13-4F67-A751-44958BC0881B}">
  <ds:schemaRefs>
    <ds:schemaRef ds:uri="http://purl.org/dc/dcmitype/"/>
    <ds:schemaRef ds:uri="5cafa227-04a9-4423-88e3-5b95fe6e18d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7E0F953-4370-472E-B2C5-BD9CFFBAAA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1355</TotalTime>
  <Words>1115</Words>
  <Application>Microsoft Office PowerPoint</Application>
  <PresentationFormat>Widescreen</PresentationFormat>
  <Paragraphs>239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Departmental Overview: Knit Asia Ltd.</vt:lpstr>
      <vt:lpstr>Departmental Overview: Knit Asia Ltd.</vt:lpstr>
      <vt:lpstr>Departmental Overview: Knit Asia Ltd.</vt:lpstr>
      <vt:lpstr>Production Process Flowchart: Knit Asia Ltd.</vt:lpstr>
      <vt:lpstr>PowerPoint Presentation</vt:lpstr>
      <vt:lpstr>Positive &amp; Negative Aspects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Layout</vt:lpstr>
      <vt:lpstr>Proposed Layout Features</vt:lpstr>
      <vt:lpstr>Conclusion</vt:lpstr>
      <vt:lpstr>Thank you</vt:lpstr>
      <vt:lpstr>PowerPoint Presentation</vt:lpstr>
      <vt:lpstr>Appendix A: Questionnaire for survey and the response</vt:lpstr>
      <vt:lpstr>Appendix A: Questionnaire for survey and the response</vt:lpstr>
      <vt:lpstr>Appendix B: Sample calculation of time study</vt:lpstr>
      <vt:lpstr>Appendix C: Matlab code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1908047 - An-Nur Taiweb Rahman</dc:creator>
  <cp:lastModifiedBy>1908047 - An-Nur Taiweb Rahman</cp:lastModifiedBy>
  <cp:revision>50</cp:revision>
  <dcterms:created xsi:type="dcterms:W3CDTF">2024-09-17T14:49:21Z</dcterms:created>
  <dcterms:modified xsi:type="dcterms:W3CDTF">2024-09-20T18:41:31Z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0x0101004914F4E4A486F84A972649A7C9E2F9D6</vt:lpwstr>
  </property>
</Properties>
</file>